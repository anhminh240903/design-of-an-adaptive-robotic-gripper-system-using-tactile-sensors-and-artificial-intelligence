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57" r:id="rId2"/>
    <p:sldId id="355" r:id="rId3"/>
    <p:sldId id="356" r:id="rId4"/>
    <p:sldId id="357" r:id="rId5"/>
    <p:sldId id="358" r:id="rId6"/>
    <p:sldId id="359" r:id="rId7"/>
    <p:sldId id="360" r:id="rId8"/>
    <p:sldId id="361" r:id="rId9"/>
    <p:sldId id="362" r:id="rId10"/>
    <p:sldId id="364" r:id="rId11"/>
    <p:sldId id="366" r:id="rId12"/>
    <p:sldId id="367" r:id="rId13"/>
    <p:sldId id="368" r:id="rId14"/>
    <p:sldId id="369" r:id="rId15"/>
    <p:sldId id="370" r:id="rId16"/>
    <p:sldId id="371" r:id="rId17"/>
    <p:sldId id="372" r:id="rId18"/>
    <p:sldId id="374" r:id="rId19"/>
    <p:sldId id="375" r:id="rId20"/>
    <p:sldId id="376" r:id="rId21"/>
    <p:sldId id="377" r:id="rId22"/>
    <p:sldId id="378" r:id="rId23"/>
    <p:sldId id="379" r:id="rId24"/>
    <p:sldId id="380" r:id="rId25"/>
    <p:sldId id="381" r:id="rId26"/>
    <p:sldId id="382" r:id="rId27"/>
    <p:sldId id="383" r:id="rId28"/>
    <p:sldId id="384" r:id="rId29"/>
    <p:sldId id="385" r:id="rId30"/>
    <p:sldId id="386" r:id="rId31"/>
    <p:sldId id="387" r:id="rId32"/>
    <p:sldId id="388" r:id="rId33"/>
    <p:sldId id="389" r:id="rId34"/>
    <p:sldId id="390" r:id="rId35"/>
    <p:sldId id="391" r:id="rId36"/>
    <p:sldId id="392" r:id="rId37"/>
    <p:sldId id="393" r:id="rId38"/>
    <p:sldId id="394" r:id="rId39"/>
    <p:sldId id="395" r:id="rId40"/>
    <p:sldId id="396" r:id="rId41"/>
    <p:sldId id="398" r:id="rId42"/>
    <p:sldId id="397" r:id="rId43"/>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A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4" autoAdjust="0"/>
    <p:restoredTop sz="77752" autoAdjust="0"/>
  </p:normalViewPr>
  <p:slideViewPr>
    <p:cSldViewPr snapToGrid="0">
      <p:cViewPr varScale="1">
        <p:scale>
          <a:sx n="91" d="100"/>
          <a:sy n="91" d="100"/>
        </p:scale>
        <p:origin x="100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Minh" userId="a45bb729e284cdbc" providerId="LiveId" clId="{C43D4653-156E-4745-9A9E-2B6B8E0CD63F}"/>
    <pc:docChg chg="undo redo custSel delSld modSld sldOrd">
      <pc:chgData name="Nguyen Minh" userId="a45bb729e284cdbc" providerId="LiveId" clId="{C43D4653-156E-4745-9A9E-2B6B8E0CD63F}" dt="2026-07-06T02:52:48.143" v="691" actId="1076"/>
      <pc:docMkLst>
        <pc:docMk/>
      </pc:docMkLst>
      <pc:sldChg chg="modSp mod">
        <pc:chgData name="Nguyen Minh" userId="a45bb729e284cdbc" providerId="LiveId" clId="{C43D4653-156E-4745-9A9E-2B6B8E0CD63F}" dt="2026-07-04T09:30:44.577" v="651" actId="20577"/>
        <pc:sldMkLst>
          <pc:docMk/>
          <pc:sldMk cId="0" sldId="257"/>
        </pc:sldMkLst>
        <pc:spChg chg="mod">
          <ac:chgData name="Nguyen Minh" userId="a45bb729e284cdbc" providerId="LiveId" clId="{C43D4653-156E-4745-9A9E-2B6B8E0CD63F}" dt="2026-07-04T09:30:44.577" v="651" actId="20577"/>
          <ac:spMkLst>
            <pc:docMk/>
            <pc:sldMk cId="0" sldId="257"/>
            <ac:spMk id="15" creationId="{666C763B-1F80-493D-32E3-4861110E70DC}"/>
          </ac:spMkLst>
        </pc:spChg>
      </pc:sldChg>
      <pc:sldChg chg="delSp mod">
        <pc:chgData name="Nguyen Minh" userId="a45bb729e284cdbc" providerId="LiveId" clId="{C43D4653-156E-4745-9A9E-2B6B8E0CD63F}" dt="2026-07-03T08:06:27.682" v="144" actId="478"/>
        <pc:sldMkLst>
          <pc:docMk/>
          <pc:sldMk cId="1563775420" sldId="355"/>
        </pc:sldMkLst>
      </pc:sldChg>
      <pc:sldChg chg="addSp delSp mod modShow">
        <pc:chgData name="Nguyen Minh" userId="a45bb729e284cdbc" providerId="LiveId" clId="{C43D4653-156E-4745-9A9E-2B6B8E0CD63F}" dt="2026-07-04T07:39:16.297" v="569" actId="34476"/>
        <pc:sldMkLst>
          <pc:docMk/>
          <pc:sldMk cId="3009790506" sldId="357"/>
        </pc:sldMkLst>
      </pc:sldChg>
      <pc:sldChg chg="modSp mod">
        <pc:chgData name="Nguyen Minh" userId="a45bb729e284cdbc" providerId="LiveId" clId="{C43D4653-156E-4745-9A9E-2B6B8E0CD63F}" dt="2026-07-06T02:52:48.143" v="691" actId="1076"/>
        <pc:sldMkLst>
          <pc:docMk/>
          <pc:sldMk cId="746563608" sldId="361"/>
        </pc:sldMkLst>
        <pc:spChg chg="mod">
          <ac:chgData name="Nguyen Minh" userId="a45bb729e284cdbc" providerId="LiveId" clId="{C43D4653-156E-4745-9A9E-2B6B8E0CD63F}" dt="2026-07-06T02:52:48.143" v="691" actId="1076"/>
          <ac:spMkLst>
            <pc:docMk/>
            <pc:sldMk cId="746563608" sldId="361"/>
            <ac:spMk id="13" creationId="{87A7BB15-BF60-3A45-7D0F-19B724296E25}"/>
          </ac:spMkLst>
        </pc:spChg>
      </pc:sldChg>
      <pc:sldChg chg="modSp mod modNotesTx">
        <pc:chgData name="Nguyen Minh" userId="a45bb729e284cdbc" providerId="LiveId" clId="{C43D4653-156E-4745-9A9E-2B6B8E0CD63F}" dt="2026-07-03T09:25:11.192" v="234" actId="20577"/>
        <pc:sldMkLst>
          <pc:docMk/>
          <pc:sldMk cId="1414849052" sldId="364"/>
        </pc:sldMkLst>
        <pc:spChg chg="mod">
          <ac:chgData name="Nguyen Minh" userId="a45bb729e284cdbc" providerId="LiveId" clId="{C43D4653-156E-4745-9A9E-2B6B8E0CD63F}" dt="2026-07-03T08:09:34.423" v="160" actId="1076"/>
          <ac:spMkLst>
            <pc:docMk/>
            <pc:sldMk cId="1414849052" sldId="364"/>
            <ac:spMk id="8" creationId="{2B22F111-2A0C-B406-C590-647377590A4A}"/>
          </ac:spMkLst>
        </pc:spChg>
        <pc:spChg chg="mod">
          <ac:chgData name="Nguyen Minh" userId="a45bb729e284cdbc" providerId="LiveId" clId="{C43D4653-156E-4745-9A9E-2B6B8E0CD63F}" dt="2026-07-03T08:09:21.248" v="157" actId="1076"/>
          <ac:spMkLst>
            <pc:docMk/>
            <pc:sldMk cId="1414849052" sldId="364"/>
            <ac:spMk id="10" creationId="{83DFC2D7-7F53-0F78-96E6-9AE05DC1D375}"/>
          </ac:spMkLst>
        </pc:spChg>
        <pc:spChg chg="mod">
          <ac:chgData name="Nguyen Minh" userId="a45bb729e284cdbc" providerId="LiveId" clId="{C43D4653-156E-4745-9A9E-2B6B8E0CD63F}" dt="2026-07-03T08:09:49.371" v="163" actId="20577"/>
          <ac:spMkLst>
            <pc:docMk/>
            <pc:sldMk cId="1414849052" sldId="364"/>
            <ac:spMk id="24" creationId="{CAE93C36-0BCB-F5DC-F539-5B1439FAC1AF}"/>
          </ac:spMkLst>
        </pc:spChg>
        <pc:spChg chg="mod">
          <ac:chgData name="Nguyen Minh" userId="a45bb729e284cdbc" providerId="LiveId" clId="{C43D4653-156E-4745-9A9E-2B6B8E0CD63F}" dt="2026-07-03T08:09:14.833" v="156" actId="1076"/>
          <ac:spMkLst>
            <pc:docMk/>
            <pc:sldMk cId="1414849052" sldId="364"/>
            <ac:spMk id="26" creationId="{DE046DED-F466-9C48-D1FD-8F8181E0A01A}"/>
          </ac:spMkLst>
        </pc:spChg>
        <pc:picChg chg="mod">
          <ac:chgData name="Nguyen Minh" userId="a45bb729e284cdbc" providerId="LiveId" clId="{C43D4653-156E-4745-9A9E-2B6B8E0CD63F}" dt="2026-07-03T08:08:56.380" v="152" actId="14100"/>
          <ac:picMkLst>
            <pc:docMk/>
            <pc:sldMk cId="1414849052" sldId="364"/>
            <ac:picMk id="3" creationId="{25041FA0-E92A-A1F7-3D00-2AA1F4E7905A}"/>
          </ac:picMkLst>
        </pc:picChg>
        <pc:picChg chg="mod">
          <ac:chgData name="Nguyen Minh" userId="a45bb729e284cdbc" providerId="LiveId" clId="{C43D4653-156E-4745-9A9E-2B6B8E0CD63F}" dt="2026-07-03T08:09:25.359" v="159" actId="1076"/>
          <ac:picMkLst>
            <pc:docMk/>
            <pc:sldMk cId="1414849052" sldId="364"/>
            <ac:picMk id="5" creationId="{EC5C97DB-0ED7-4F05-773D-09C64B31446D}"/>
          </ac:picMkLst>
        </pc:picChg>
      </pc:sldChg>
      <pc:sldChg chg="modSp mod">
        <pc:chgData name="Nguyen Minh" userId="a45bb729e284cdbc" providerId="LiveId" clId="{C43D4653-156E-4745-9A9E-2B6B8E0CD63F}" dt="2026-07-03T14:02:55.177" v="372" actId="20577"/>
        <pc:sldMkLst>
          <pc:docMk/>
          <pc:sldMk cId="1708432211" sldId="366"/>
        </pc:sldMkLst>
        <pc:spChg chg="mod">
          <ac:chgData name="Nguyen Minh" userId="a45bb729e284cdbc" providerId="LiveId" clId="{C43D4653-156E-4745-9A9E-2B6B8E0CD63F}" dt="2026-07-03T14:02:55.177" v="372" actId="20577"/>
          <ac:spMkLst>
            <pc:docMk/>
            <pc:sldMk cId="1708432211" sldId="366"/>
            <ac:spMk id="11" creationId="{2978E63F-5734-AD24-E11B-1091A3C0FD7E}"/>
          </ac:spMkLst>
        </pc:spChg>
        <pc:spChg chg="mod">
          <ac:chgData name="Nguyen Minh" userId="a45bb729e284cdbc" providerId="LiveId" clId="{C43D4653-156E-4745-9A9E-2B6B8E0CD63F}" dt="2026-07-03T12:59:38.554" v="260" actId="20577"/>
          <ac:spMkLst>
            <pc:docMk/>
            <pc:sldMk cId="1708432211" sldId="366"/>
            <ac:spMk id="24" creationId="{69E8E83C-729D-57D1-DF14-F03281D93E3D}"/>
          </ac:spMkLst>
        </pc:spChg>
        <pc:spChg chg="mod">
          <ac:chgData name="Nguyen Minh" userId="a45bb729e284cdbc" providerId="LiveId" clId="{C43D4653-156E-4745-9A9E-2B6B8E0CD63F}" dt="2026-07-03T14:01:28.068" v="369" actId="1076"/>
          <ac:spMkLst>
            <pc:docMk/>
            <pc:sldMk cId="1708432211" sldId="366"/>
            <ac:spMk id="26" creationId="{DAD89999-A272-695A-AD85-FE727CD773BB}"/>
          </ac:spMkLst>
        </pc:spChg>
      </pc:sldChg>
      <pc:sldChg chg="modSp mod">
        <pc:chgData name="Nguyen Minh" userId="a45bb729e284cdbc" providerId="LiveId" clId="{C43D4653-156E-4745-9A9E-2B6B8E0CD63F}" dt="2026-07-03T12:59:43.953" v="262" actId="20577"/>
        <pc:sldMkLst>
          <pc:docMk/>
          <pc:sldMk cId="3656676260" sldId="367"/>
        </pc:sldMkLst>
        <pc:spChg chg="mod">
          <ac:chgData name="Nguyen Minh" userId="a45bb729e284cdbc" providerId="LiveId" clId="{C43D4653-156E-4745-9A9E-2B6B8E0CD63F}" dt="2026-07-03T12:59:43.953" v="262" actId="20577"/>
          <ac:spMkLst>
            <pc:docMk/>
            <pc:sldMk cId="3656676260" sldId="367"/>
            <ac:spMk id="24" creationId="{FAD0BABC-0D73-2B8A-86E5-E82E84F1F11F}"/>
          </ac:spMkLst>
        </pc:spChg>
      </pc:sldChg>
      <pc:sldChg chg="modSp mod modNotesTx">
        <pc:chgData name="Nguyen Minh" userId="a45bb729e284cdbc" providerId="LiveId" clId="{C43D4653-156E-4745-9A9E-2B6B8E0CD63F}" dt="2026-07-03T16:18:49.879" v="515" actId="20577"/>
        <pc:sldMkLst>
          <pc:docMk/>
          <pc:sldMk cId="2393844569" sldId="368"/>
        </pc:sldMkLst>
        <pc:spChg chg="mod">
          <ac:chgData name="Nguyen Minh" userId="a45bb729e284cdbc" providerId="LiveId" clId="{C43D4653-156E-4745-9A9E-2B6B8E0CD63F}" dt="2026-07-03T12:59:47.418" v="264" actId="20577"/>
          <ac:spMkLst>
            <pc:docMk/>
            <pc:sldMk cId="2393844569" sldId="368"/>
            <ac:spMk id="24" creationId="{B8FA3743-9831-22B3-C3DE-93583BECAD7A}"/>
          </ac:spMkLst>
        </pc:spChg>
      </pc:sldChg>
      <pc:sldChg chg="modSp mod modNotesTx">
        <pc:chgData name="Nguyen Minh" userId="a45bb729e284cdbc" providerId="LiveId" clId="{C43D4653-156E-4745-9A9E-2B6B8E0CD63F}" dt="2026-07-03T12:59:50.498" v="266" actId="20577"/>
        <pc:sldMkLst>
          <pc:docMk/>
          <pc:sldMk cId="4226806816" sldId="369"/>
        </pc:sldMkLst>
        <pc:spChg chg="mod">
          <ac:chgData name="Nguyen Minh" userId="a45bb729e284cdbc" providerId="LiveId" clId="{C43D4653-156E-4745-9A9E-2B6B8E0CD63F}" dt="2026-07-03T12:59:50.498" v="266" actId="20577"/>
          <ac:spMkLst>
            <pc:docMk/>
            <pc:sldMk cId="4226806816" sldId="369"/>
            <ac:spMk id="24" creationId="{1165CBBB-0BA4-0250-7096-79B7B967007A}"/>
          </ac:spMkLst>
        </pc:spChg>
      </pc:sldChg>
      <pc:sldChg chg="addSp delSp modSp mod ord modNotesTx">
        <pc:chgData name="Nguyen Minh" userId="a45bb729e284cdbc" providerId="LiveId" clId="{C43D4653-156E-4745-9A9E-2B6B8E0CD63F}" dt="2026-07-04T10:52:23.658" v="656" actId="20577"/>
        <pc:sldMkLst>
          <pc:docMk/>
          <pc:sldMk cId="788559850" sldId="370"/>
        </pc:sldMkLst>
        <pc:spChg chg="add mod">
          <ac:chgData name="Nguyen Minh" userId="a45bb729e284cdbc" providerId="LiveId" clId="{C43D4653-156E-4745-9A9E-2B6B8E0CD63F}" dt="2026-07-03T14:23:13.441" v="453" actId="1076"/>
          <ac:spMkLst>
            <pc:docMk/>
            <pc:sldMk cId="788559850" sldId="370"/>
            <ac:spMk id="12" creationId="{8E75794C-167C-0CA4-7142-6E1339B55C41}"/>
          </ac:spMkLst>
        </pc:spChg>
        <pc:spChg chg="add mod">
          <ac:chgData name="Nguyen Minh" userId="a45bb729e284cdbc" providerId="LiveId" clId="{C43D4653-156E-4745-9A9E-2B6B8E0CD63F}" dt="2026-07-03T14:23:41.181" v="498" actId="20577"/>
          <ac:spMkLst>
            <pc:docMk/>
            <pc:sldMk cId="788559850" sldId="370"/>
            <ac:spMk id="15" creationId="{EC25B695-D00F-0C76-D2D6-1EB60079A3FF}"/>
          </ac:spMkLst>
        </pc:spChg>
        <pc:spChg chg="mod">
          <ac:chgData name="Nguyen Minh" userId="a45bb729e284cdbc" providerId="LiveId" clId="{C43D4653-156E-4745-9A9E-2B6B8E0CD63F}" dt="2026-07-03T12:59:54.313" v="268" actId="20577"/>
          <ac:spMkLst>
            <pc:docMk/>
            <pc:sldMk cId="788559850" sldId="370"/>
            <ac:spMk id="24" creationId="{CE1AAC21-16FC-2D28-AAA0-52AE286A26A2}"/>
          </ac:spMkLst>
        </pc:spChg>
        <pc:picChg chg="add mod modCrop">
          <ac:chgData name="Nguyen Minh" userId="a45bb729e284cdbc" providerId="LiveId" clId="{C43D4653-156E-4745-9A9E-2B6B8E0CD63F}" dt="2026-07-03T14:24:05.011" v="503" actId="1076"/>
          <ac:picMkLst>
            <pc:docMk/>
            <pc:sldMk cId="788559850" sldId="370"/>
            <ac:picMk id="3" creationId="{E4F7819B-9644-2A52-776E-498975785555}"/>
          </ac:picMkLst>
        </pc:picChg>
        <pc:picChg chg="mod modCrop">
          <ac:chgData name="Nguyen Minh" userId="a45bb729e284cdbc" providerId="LiveId" clId="{C43D4653-156E-4745-9A9E-2B6B8E0CD63F}" dt="2026-07-03T14:24:38.533" v="506" actId="1076"/>
          <ac:picMkLst>
            <pc:docMk/>
            <pc:sldMk cId="788559850" sldId="370"/>
            <ac:picMk id="9" creationId="{527EFC0E-E5BA-980D-1E60-7E46DC25D8B1}"/>
          </ac:picMkLst>
        </pc:picChg>
      </pc:sldChg>
      <pc:sldChg chg="modSp mod">
        <pc:chgData name="Nguyen Minh" userId="a45bb729e284cdbc" providerId="LiveId" clId="{C43D4653-156E-4745-9A9E-2B6B8E0CD63F}" dt="2026-07-03T12:59:58.058" v="270" actId="20577"/>
        <pc:sldMkLst>
          <pc:docMk/>
          <pc:sldMk cId="1406026386" sldId="371"/>
        </pc:sldMkLst>
        <pc:spChg chg="mod">
          <ac:chgData name="Nguyen Minh" userId="a45bb729e284cdbc" providerId="LiveId" clId="{C43D4653-156E-4745-9A9E-2B6B8E0CD63F}" dt="2026-07-03T12:59:58.058" v="270" actId="20577"/>
          <ac:spMkLst>
            <pc:docMk/>
            <pc:sldMk cId="1406026386" sldId="371"/>
            <ac:spMk id="24" creationId="{20F3632A-0146-D9E4-9B91-004409412D28}"/>
          </ac:spMkLst>
        </pc:spChg>
      </pc:sldChg>
      <pc:sldChg chg="modSp mod">
        <pc:chgData name="Nguyen Minh" userId="a45bb729e284cdbc" providerId="LiveId" clId="{C43D4653-156E-4745-9A9E-2B6B8E0CD63F}" dt="2026-07-03T13:00:05.826" v="272" actId="20577"/>
        <pc:sldMkLst>
          <pc:docMk/>
          <pc:sldMk cId="1740722122" sldId="372"/>
        </pc:sldMkLst>
        <pc:spChg chg="mod">
          <ac:chgData name="Nguyen Minh" userId="a45bb729e284cdbc" providerId="LiveId" clId="{C43D4653-156E-4745-9A9E-2B6B8E0CD63F}" dt="2026-07-03T13:00:05.826" v="272" actId="20577"/>
          <ac:spMkLst>
            <pc:docMk/>
            <pc:sldMk cId="1740722122" sldId="372"/>
            <ac:spMk id="24" creationId="{317C9393-7DB9-FDE7-4A39-92EC50AAC00C}"/>
          </ac:spMkLst>
        </pc:spChg>
      </pc:sldChg>
      <pc:sldChg chg="modSp mod">
        <pc:chgData name="Nguyen Minh" userId="a45bb729e284cdbc" providerId="LiveId" clId="{C43D4653-156E-4745-9A9E-2B6B8E0CD63F}" dt="2026-07-03T13:00:42.722" v="280" actId="20577"/>
        <pc:sldMkLst>
          <pc:docMk/>
          <pc:sldMk cId="654746864" sldId="374"/>
        </pc:sldMkLst>
        <pc:spChg chg="mod">
          <ac:chgData name="Nguyen Minh" userId="a45bb729e284cdbc" providerId="LiveId" clId="{C43D4653-156E-4745-9A9E-2B6B8E0CD63F}" dt="2026-07-03T13:00:42.722" v="280" actId="20577"/>
          <ac:spMkLst>
            <pc:docMk/>
            <pc:sldMk cId="654746864" sldId="374"/>
            <ac:spMk id="24" creationId="{DDC2D5CF-C397-4519-6D2C-6109241478DC}"/>
          </ac:spMkLst>
        </pc:spChg>
      </pc:sldChg>
      <pc:sldChg chg="modSp mod">
        <pc:chgData name="Nguyen Minh" userId="a45bb729e284cdbc" providerId="LiveId" clId="{C43D4653-156E-4745-9A9E-2B6B8E0CD63F}" dt="2026-07-03T13:00:46.442" v="282" actId="20577"/>
        <pc:sldMkLst>
          <pc:docMk/>
          <pc:sldMk cId="976479626" sldId="375"/>
        </pc:sldMkLst>
        <pc:spChg chg="mod">
          <ac:chgData name="Nguyen Minh" userId="a45bb729e284cdbc" providerId="LiveId" clId="{C43D4653-156E-4745-9A9E-2B6B8E0CD63F}" dt="2026-07-03T13:00:46.442" v="282" actId="20577"/>
          <ac:spMkLst>
            <pc:docMk/>
            <pc:sldMk cId="976479626" sldId="375"/>
            <ac:spMk id="24" creationId="{19802869-847C-5F9B-8644-20F6613CE321}"/>
          </ac:spMkLst>
        </pc:spChg>
      </pc:sldChg>
      <pc:sldChg chg="modSp mod modNotesTx">
        <pc:chgData name="Nguyen Minh" userId="a45bb729e284cdbc" providerId="LiveId" clId="{C43D4653-156E-4745-9A9E-2B6B8E0CD63F}" dt="2026-07-03T16:20:21.058" v="522" actId="20577"/>
        <pc:sldMkLst>
          <pc:docMk/>
          <pc:sldMk cId="3162239801" sldId="376"/>
        </pc:sldMkLst>
        <pc:spChg chg="mod">
          <ac:chgData name="Nguyen Minh" userId="a45bb729e284cdbc" providerId="LiveId" clId="{C43D4653-156E-4745-9A9E-2B6B8E0CD63F}" dt="2026-07-03T13:00:49.866" v="284" actId="20577"/>
          <ac:spMkLst>
            <pc:docMk/>
            <pc:sldMk cId="3162239801" sldId="376"/>
            <ac:spMk id="24" creationId="{FD3D121E-6CDF-ECD4-A936-8F13F3BD1F0C}"/>
          </ac:spMkLst>
        </pc:spChg>
      </pc:sldChg>
      <pc:sldChg chg="modSp mod modNotesTx">
        <pc:chgData name="Nguyen Minh" userId="a45bb729e284cdbc" providerId="LiveId" clId="{C43D4653-156E-4745-9A9E-2B6B8E0CD63F}" dt="2026-07-03T17:52:26.685" v="563" actId="20577"/>
        <pc:sldMkLst>
          <pc:docMk/>
          <pc:sldMk cId="1790218693" sldId="377"/>
        </pc:sldMkLst>
        <pc:spChg chg="mod">
          <ac:chgData name="Nguyen Minh" userId="a45bb729e284cdbc" providerId="LiveId" clId="{C43D4653-156E-4745-9A9E-2B6B8E0CD63F}" dt="2026-07-03T13:00:53.882" v="286" actId="20577"/>
          <ac:spMkLst>
            <pc:docMk/>
            <pc:sldMk cId="1790218693" sldId="377"/>
            <ac:spMk id="24" creationId="{6EF91F54-8287-0D45-2794-32DCA4911165}"/>
          </ac:spMkLst>
        </pc:spChg>
      </pc:sldChg>
      <pc:sldChg chg="modSp mod">
        <pc:chgData name="Nguyen Minh" userId="a45bb729e284cdbc" providerId="LiveId" clId="{C43D4653-156E-4745-9A9E-2B6B8E0CD63F}" dt="2026-07-03T13:00:57.810" v="288" actId="20577"/>
        <pc:sldMkLst>
          <pc:docMk/>
          <pc:sldMk cId="2711525325" sldId="378"/>
        </pc:sldMkLst>
        <pc:spChg chg="mod">
          <ac:chgData name="Nguyen Minh" userId="a45bb729e284cdbc" providerId="LiveId" clId="{C43D4653-156E-4745-9A9E-2B6B8E0CD63F}" dt="2026-07-03T13:00:57.810" v="288" actId="20577"/>
          <ac:spMkLst>
            <pc:docMk/>
            <pc:sldMk cId="2711525325" sldId="378"/>
            <ac:spMk id="24" creationId="{C710C312-A4FA-B8F0-8CBB-F73E69B5ACDD}"/>
          </ac:spMkLst>
        </pc:spChg>
      </pc:sldChg>
      <pc:sldChg chg="modSp mod modNotesTx">
        <pc:chgData name="Nguyen Minh" userId="a45bb729e284cdbc" providerId="LiveId" clId="{C43D4653-156E-4745-9A9E-2B6B8E0CD63F}" dt="2026-07-04T07:25:54.630" v="565" actId="20577"/>
        <pc:sldMkLst>
          <pc:docMk/>
          <pc:sldMk cId="1748434691" sldId="379"/>
        </pc:sldMkLst>
        <pc:spChg chg="mod">
          <ac:chgData name="Nguyen Minh" userId="a45bb729e284cdbc" providerId="LiveId" clId="{C43D4653-156E-4745-9A9E-2B6B8E0CD63F}" dt="2026-07-03T13:01:01.058" v="290" actId="20577"/>
          <ac:spMkLst>
            <pc:docMk/>
            <pc:sldMk cId="1748434691" sldId="379"/>
            <ac:spMk id="24" creationId="{C00F854E-7856-88D6-EA18-6F502EFA88AC}"/>
          </ac:spMkLst>
        </pc:spChg>
      </pc:sldChg>
      <pc:sldChg chg="modSp mod modNotesTx">
        <pc:chgData name="Nguyen Minh" userId="a45bb729e284cdbc" providerId="LiveId" clId="{C43D4653-156E-4745-9A9E-2B6B8E0CD63F}" dt="2026-07-03T13:01:04.330" v="292" actId="20577"/>
        <pc:sldMkLst>
          <pc:docMk/>
          <pc:sldMk cId="3952869128" sldId="380"/>
        </pc:sldMkLst>
        <pc:spChg chg="mod">
          <ac:chgData name="Nguyen Minh" userId="a45bb729e284cdbc" providerId="LiveId" clId="{C43D4653-156E-4745-9A9E-2B6B8E0CD63F}" dt="2026-07-03T13:01:04.330" v="292" actId="20577"/>
          <ac:spMkLst>
            <pc:docMk/>
            <pc:sldMk cId="3952869128" sldId="380"/>
            <ac:spMk id="24" creationId="{ACBAFADE-CC77-3891-A787-AB94DF20D030}"/>
          </ac:spMkLst>
        </pc:spChg>
      </pc:sldChg>
      <pc:sldChg chg="modSp mod modNotesTx">
        <pc:chgData name="Nguyen Minh" userId="a45bb729e284cdbc" providerId="LiveId" clId="{C43D4653-156E-4745-9A9E-2B6B8E0CD63F}" dt="2026-07-04T07:27:34.332" v="568" actId="20577"/>
        <pc:sldMkLst>
          <pc:docMk/>
          <pc:sldMk cId="3986024914" sldId="381"/>
        </pc:sldMkLst>
        <pc:spChg chg="mod">
          <ac:chgData name="Nguyen Minh" userId="a45bb729e284cdbc" providerId="LiveId" clId="{C43D4653-156E-4745-9A9E-2B6B8E0CD63F}" dt="2026-07-03T13:01:09.536" v="294" actId="20577"/>
          <ac:spMkLst>
            <pc:docMk/>
            <pc:sldMk cId="3986024914" sldId="381"/>
            <ac:spMk id="24" creationId="{4A60355F-DB65-6EA9-517C-BD51CC90D022}"/>
          </ac:spMkLst>
        </pc:spChg>
      </pc:sldChg>
      <pc:sldChg chg="modSp mod ord modNotesTx">
        <pc:chgData name="Nguyen Minh" userId="a45bb729e284cdbc" providerId="LiveId" clId="{C43D4653-156E-4745-9A9E-2B6B8E0CD63F}" dt="2026-07-03T16:56:04.563" v="526"/>
        <pc:sldMkLst>
          <pc:docMk/>
          <pc:sldMk cId="3276516884" sldId="382"/>
        </pc:sldMkLst>
        <pc:spChg chg="mod">
          <ac:chgData name="Nguyen Minh" userId="a45bb729e284cdbc" providerId="LiveId" clId="{C43D4653-156E-4745-9A9E-2B6B8E0CD63F}" dt="2026-07-03T13:01:13.089" v="296" actId="20577"/>
          <ac:spMkLst>
            <pc:docMk/>
            <pc:sldMk cId="3276516884" sldId="382"/>
            <ac:spMk id="24" creationId="{3019DF0C-2B06-B87E-C81E-A3852CFEFB5C}"/>
          </ac:spMkLst>
        </pc:spChg>
      </pc:sldChg>
      <pc:sldChg chg="modSp mod">
        <pc:chgData name="Nguyen Minh" userId="a45bb729e284cdbc" providerId="LiveId" clId="{C43D4653-156E-4745-9A9E-2B6B8E0CD63F}" dt="2026-07-03T13:01:17.498" v="298" actId="20577"/>
        <pc:sldMkLst>
          <pc:docMk/>
          <pc:sldMk cId="3898940015" sldId="383"/>
        </pc:sldMkLst>
        <pc:spChg chg="mod">
          <ac:chgData name="Nguyen Minh" userId="a45bb729e284cdbc" providerId="LiveId" clId="{C43D4653-156E-4745-9A9E-2B6B8E0CD63F}" dt="2026-07-03T13:01:17.498" v="298" actId="20577"/>
          <ac:spMkLst>
            <pc:docMk/>
            <pc:sldMk cId="3898940015" sldId="383"/>
            <ac:spMk id="24" creationId="{80564E1F-C839-29C6-09D2-5360A1E02B41}"/>
          </ac:spMkLst>
        </pc:spChg>
      </pc:sldChg>
      <pc:sldChg chg="modSp mod">
        <pc:chgData name="Nguyen Minh" userId="a45bb729e284cdbc" providerId="LiveId" clId="{C43D4653-156E-4745-9A9E-2B6B8E0CD63F}" dt="2026-07-03T13:01:21.033" v="300" actId="20577"/>
        <pc:sldMkLst>
          <pc:docMk/>
          <pc:sldMk cId="882609294" sldId="384"/>
        </pc:sldMkLst>
        <pc:spChg chg="mod">
          <ac:chgData name="Nguyen Minh" userId="a45bb729e284cdbc" providerId="LiveId" clId="{C43D4653-156E-4745-9A9E-2B6B8E0CD63F}" dt="2026-07-03T13:01:21.033" v="300" actId="20577"/>
          <ac:spMkLst>
            <pc:docMk/>
            <pc:sldMk cId="882609294" sldId="384"/>
            <ac:spMk id="24" creationId="{7C81D6F9-4789-3695-5430-959C44FBFA84}"/>
          </ac:spMkLst>
        </pc:spChg>
      </pc:sldChg>
      <pc:sldChg chg="modSp mod modShow">
        <pc:chgData name="Nguyen Minh" userId="a45bb729e284cdbc" providerId="LiveId" clId="{C43D4653-156E-4745-9A9E-2B6B8E0CD63F}" dt="2026-07-03T17:32:56.956" v="527" actId="729"/>
        <pc:sldMkLst>
          <pc:docMk/>
          <pc:sldMk cId="3098366676" sldId="385"/>
        </pc:sldMkLst>
        <pc:spChg chg="mod">
          <ac:chgData name="Nguyen Minh" userId="a45bb729e284cdbc" providerId="LiveId" clId="{C43D4653-156E-4745-9A9E-2B6B8E0CD63F}" dt="2026-07-03T13:01:30.361" v="302" actId="20577"/>
          <ac:spMkLst>
            <pc:docMk/>
            <pc:sldMk cId="3098366676" sldId="385"/>
            <ac:spMk id="24" creationId="{4AC1D8DA-4684-A929-CE85-5092A1C81881}"/>
          </ac:spMkLst>
        </pc:spChg>
      </pc:sldChg>
      <pc:sldChg chg="addSp delSp modSp mod">
        <pc:chgData name="Nguyen Minh" userId="a45bb729e284cdbc" providerId="LiveId" clId="{C43D4653-156E-4745-9A9E-2B6B8E0CD63F}" dt="2026-07-05T13:32:17.952" v="658" actId="20577"/>
        <pc:sldMkLst>
          <pc:docMk/>
          <pc:sldMk cId="1478923159" sldId="386"/>
        </pc:sldMkLst>
        <pc:spChg chg="mod">
          <ac:chgData name="Nguyen Minh" userId="a45bb729e284cdbc" providerId="LiveId" clId="{C43D4653-156E-4745-9A9E-2B6B8E0CD63F}" dt="2026-07-05T13:32:17.952" v="658" actId="20577"/>
          <ac:spMkLst>
            <pc:docMk/>
            <pc:sldMk cId="1478923159" sldId="386"/>
            <ac:spMk id="24" creationId="{67F31DFC-E403-BADB-067E-94BCBDE1BB5F}"/>
          </ac:spMkLst>
        </pc:spChg>
        <pc:picChg chg="add mod">
          <ac:chgData name="Nguyen Minh" userId="a45bb729e284cdbc" providerId="LiveId" clId="{C43D4653-156E-4745-9A9E-2B6B8E0CD63F}" dt="2026-07-03T03:39:45.121" v="85" actId="1076"/>
          <ac:picMkLst>
            <pc:docMk/>
            <pc:sldMk cId="1478923159" sldId="386"/>
            <ac:picMk id="4" creationId="{1759CD1C-9912-5A69-50FF-53166ED67A29}"/>
          </ac:picMkLst>
        </pc:picChg>
      </pc:sldChg>
      <pc:sldChg chg="modSp mod">
        <pc:chgData name="Nguyen Minh" userId="a45bb729e284cdbc" providerId="LiveId" clId="{C43D4653-156E-4745-9A9E-2B6B8E0CD63F}" dt="2026-07-05T13:33:27.175" v="668" actId="1076"/>
        <pc:sldMkLst>
          <pc:docMk/>
          <pc:sldMk cId="1476723630" sldId="387"/>
        </pc:sldMkLst>
        <pc:spChg chg="mod">
          <ac:chgData name="Nguyen Minh" userId="a45bb729e284cdbc" providerId="LiveId" clId="{C43D4653-156E-4745-9A9E-2B6B8E0CD63F}" dt="2026-07-05T13:33:27.175" v="668" actId="1076"/>
          <ac:spMkLst>
            <pc:docMk/>
            <pc:sldMk cId="1476723630" sldId="387"/>
            <ac:spMk id="15" creationId="{B4AF6491-F209-08E7-611C-881744E8E545}"/>
          </ac:spMkLst>
        </pc:spChg>
        <pc:spChg chg="mod">
          <ac:chgData name="Nguyen Minh" userId="a45bb729e284cdbc" providerId="LiveId" clId="{C43D4653-156E-4745-9A9E-2B6B8E0CD63F}" dt="2026-07-05T13:32:23.012" v="660" actId="20577"/>
          <ac:spMkLst>
            <pc:docMk/>
            <pc:sldMk cId="1476723630" sldId="387"/>
            <ac:spMk id="24" creationId="{347E4441-3FAD-9A7F-2DCF-A8F2AF97921B}"/>
          </ac:spMkLst>
        </pc:spChg>
        <pc:picChg chg="mod">
          <ac:chgData name="Nguyen Minh" userId="a45bb729e284cdbc" providerId="LiveId" clId="{C43D4653-156E-4745-9A9E-2B6B8E0CD63F}" dt="2026-07-05T13:33:22.638" v="667" actId="14100"/>
          <ac:picMkLst>
            <pc:docMk/>
            <pc:sldMk cId="1476723630" sldId="387"/>
            <ac:picMk id="4" creationId="{1755E1DD-88CF-C4C0-02F9-58974A4A0834}"/>
          </ac:picMkLst>
        </pc:picChg>
        <pc:picChg chg="mod">
          <ac:chgData name="Nguyen Minh" userId="a45bb729e284cdbc" providerId="LiveId" clId="{C43D4653-156E-4745-9A9E-2B6B8E0CD63F}" dt="2026-07-05T13:33:17.881" v="665" actId="1076"/>
          <ac:picMkLst>
            <pc:docMk/>
            <pc:sldMk cId="1476723630" sldId="387"/>
            <ac:picMk id="8" creationId="{9FA4BA6C-E2EC-9D39-7396-AD7407FBB780}"/>
          </ac:picMkLst>
        </pc:picChg>
      </pc:sldChg>
      <pc:sldChg chg="modSp mod modNotesTx">
        <pc:chgData name="Nguyen Minh" userId="a45bb729e284cdbc" providerId="LiveId" clId="{C43D4653-156E-4745-9A9E-2B6B8E0CD63F}" dt="2026-07-05T13:33:41.796" v="672" actId="20577"/>
        <pc:sldMkLst>
          <pc:docMk/>
          <pc:sldMk cId="1632935642" sldId="388"/>
        </pc:sldMkLst>
        <pc:spChg chg="mod">
          <ac:chgData name="Nguyen Minh" userId="a45bb729e284cdbc" providerId="LiveId" clId="{C43D4653-156E-4745-9A9E-2B6B8E0CD63F}" dt="2026-07-05T13:33:41.796" v="672" actId="20577"/>
          <ac:spMkLst>
            <pc:docMk/>
            <pc:sldMk cId="1632935642" sldId="388"/>
            <ac:spMk id="24" creationId="{CB7D7A4B-7E64-0B38-AFB7-DEE81DD540FA}"/>
          </ac:spMkLst>
        </pc:spChg>
        <pc:picChg chg="mod">
          <ac:chgData name="Nguyen Minh" userId="a45bb729e284cdbc" providerId="LiveId" clId="{C43D4653-156E-4745-9A9E-2B6B8E0CD63F}" dt="2026-07-03T09:18:51.036" v="231" actId="1076"/>
          <ac:picMkLst>
            <pc:docMk/>
            <pc:sldMk cId="1632935642" sldId="388"/>
            <ac:picMk id="6" creationId="{59B5096B-41DA-3B68-5646-FF0108811E03}"/>
          </ac:picMkLst>
        </pc:picChg>
      </pc:sldChg>
      <pc:sldChg chg="modSp mod">
        <pc:chgData name="Nguyen Minh" userId="a45bb729e284cdbc" providerId="LiveId" clId="{C43D4653-156E-4745-9A9E-2B6B8E0CD63F}" dt="2026-07-05T13:33:45.468" v="674" actId="20577"/>
        <pc:sldMkLst>
          <pc:docMk/>
          <pc:sldMk cId="402791207" sldId="389"/>
        </pc:sldMkLst>
        <pc:spChg chg="mod">
          <ac:chgData name="Nguyen Minh" userId="a45bb729e284cdbc" providerId="LiveId" clId="{C43D4653-156E-4745-9A9E-2B6B8E0CD63F}" dt="2026-07-03T04:07:54.216" v="106" actId="1076"/>
          <ac:spMkLst>
            <pc:docMk/>
            <pc:sldMk cId="402791207" sldId="389"/>
            <ac:spMk id="15" creationId="{23BF36F9-37AA-3BF2-75B6-16BB21CDDB24}"/>
          </ac:spMkLst>
        </pc:spChg>
        <pc:spChg chg="mod">
          <ac:chgData name="Nguyen Minh" userId="a45bb729e284cdbc" providerId="LiveId" clId="{C43D4653-156E-4745-9A9E-2B6B8E0CD63F}" dt="2026-07-05T13:33:45.468" v="674" actId="20577"/>
          <ac:spMkLst>
            <pc:docMk/>
            <pc:sldMk cId="402791207" sldId="389"/>
            <ac:spMk id="24" creationId="{68493A8C-F2EA-3F06-CAC4-F4F9C121E5C1}"/>
          </ac:spMkLst>
        </pc:spChg>
      </pc:sldChg>
      <pc:sldChg chg="modSp mod">
        <pc:chgData name="Nguyen Minh" userId="a45bb729e284cdbc" providerId="LiveId" clId="{C43D4653-156E-4745-9A9E-2B6B8E0CD63F}" dt="2026-07-05T13:33:49.956" v="676" actId="20577"/>
        <pc:sldMkLst>
          <pc:docMk/>
          <pc:sldMk cId="512852226" sldId="390"/>
        </pc:sldMkLst>
        <pc:spChg chg="mod">
          <ac:chgData name="Nguyen Minh" userId="a45bb729e284cdbc" providerId="LiveId" clId="{C43D4653-156E-4745-9A9E-2B6B8E0CD63F}" dt="2026-07-05T13:33:49.956" v="676" actId="20577"/>
          <ac:spMkLst>
            <pc:docMk/>
            <pc:sldMk cId="512852226" sldId="390"/>
            <ac:spMk id="24" creationId="{86C6BD47-0FC7-D299-A484-38250BE6EA12}"/>
          </ac:spMkLst>
        </pc:spChg>
      </pc:sldChg>
      <pc:sldChg chg="modSp mod">
        <pc:chgData name="Nguyen Minh" userId="a45bb729e284cdbc" providerId="LiveId" clId="{C43D4653-156E-4745-9A9E-2B6B8E0CD63F}" dt="2026-07-05T13:33:53.755" v="678" actId="20577"/>
        <pc:sldMkLst>
          <pc:docMk/>
          <pc:sldMk cId="2808839428" sldId="391"/>
        </pc:sldMkLst>
        <pc:spChg chg="mod">
          <ac:chgData name="Nguyen Minh" userId="a45bb729e284cdbc" providerId="LiveId" clId="{C43D4653-156E-4745-9A9E-2B6B8E0CD63F}" dt="2026-07-03T04:08:36.240" v="121" actId="1076"/>
          <ac:spMkLst>
            <pc:docMk/>
            <pc:sldMk cId="2808839428" sldId="391"/>
            <ac:spMk id="15" creationId="{81E297E8-6F17-F3EA-525D-3064CFF87E23}"/>
          </ac:spMkLst>
        </pc:spChg>
        <pc:spChg chg="mod">
          <ac:chgData name="Nguyen Minh" userId="a45bb729e284cdbc" providerId="LiveId" clId="{C43D4653-156E-4745-9A9E-2B6B8E0CD63F}" dt="2026-07-05T13:33:53.755" v="678" actId="20577"/>
          <ac:spMkLst>
            <pc:docMk/>
            <pc:sldMk cId="2808839428" sldId="391"/>
            <ac:spMk id="24" creationId="{A11FC6DD-3DB1-DDEE-F5F2-57E98239929B}"/>
          </ac:spMkLst>
        </pc:spChg>
      </pc:sldChg>
      <pc:sldChg chg="modSp mod">
        <pc:chgData name="Nguyen Minh" userId="a45bb729e284cdbc" providerId="LiveId" clId="{C43D4653-156E-4745-9A9E-2B6B8E0CD63F}" dt="2026-07-05T13:33:57.244" v="680" actId="20577"/>
        <pc:sldMkLst>
          <pc:docMk/>
          <pc:sldMk cId="477826234" sldId="392"/>
        </pc:sldMkLst>
        <pc:spChg chg="mod">
          <ac:chgData name="Nguyen Minh" userId="a45bb729e284cdbc" providerId="LiveId" clId="{C43D4653-156E-4745-9A9E-2B6B8E0CD63F}" dt="2026-07-05T13:33:57.244" v="680" actId="20577"/>
          <ac:spMkLst>
            <pc:docMk/>
            <pc:sldMk cId="477826234" sldId="392"/>
            <ac:spMk id="24" creationId="{A99FD69C-FAAD-63F5-2DB3-696D596CB129}"/>
          </ac:spMkLst>
        </pc:spChg>
      </pc:sldChg>
      <pc:sldChg chg="addSp modSp mod">
        <pc:chgData name="Nguyen Minh" userId="a45bb729e284cdbc" providerId="LiveId" clId="{C43D4653-156E-4745-9A9E-2B6B8E0CD63F}" dt="2026-07-05T13:34:00.324" v="682" actId="20577"/>
        <pc:sldMkLst>
          <pc:docMk/>
          <pc:sldMk cId="3280450390" sldId="393"/>
        </pc:sldMkLst>
        <pc:spChg chg="mod">
          <ac:chgData name="Nguyen Minh" userId="a45bb729e284cdbc" providerId="LiveId" clId="{C43D4653-156E-4745-9A9E-2B6B8E0CD63F}" dt="2026-07-03T04:09:28.573" v="142" actId="1076"/>
          <ac:spMkLst>
            <pc:docMk/>
            <pc:sldMk cId="3280450390" sldId="393"/>
            <ac:spMk id="15" creationId="{9F0ADD33-CC7E-293D-BE26-4CF96D7A53B4}"/>
          </ac:spMkLst>
        </pc:spChg>
        <pc:spChg chg="mod">
          <ac:chgData name="Nguyen Minh" userId="a45bb729e284cdbc" providerId="LiveId" clId="{C43D4653-156E-4745-9A9E-2B6B8E0CD63F}" dt="2026-07-05T13:34:00.324" v="682" actId="20577"/>
          <ac:spMkLst>
            <pc:docMk/>
            <pc:sldMk cId="3280450390" sldId="393"/>
            <ac:spMk id="24" creationId="{B23090F8-5D5F-5F3D-E514-56BB4BB14518}"/>
          </ac:spMkLst>
        </pc:spChg>
        <pc:picChg chg="add mod">
          <ac:chgData name="Nguyen Minh" userId="a45bb729e284cdbc" providerId="LiveId" clId="{C43D4653-156E-4745-9A9E-2B6B8E0CD63F}" dt="2026-07-03T03:14:11.704" v="4" actId="1076"/>
          <ac:picMkLst>
            <pc:docMk/>
            <pc:sldMk cId="3280450390" sldId="393"/>
            <ac:picMk id="3" creationId="{9FA3F6E9-1BCA-F5D2-8854-E8AA34E0D180}"/>
          </ac:picMkLst>
        </pc:picChg>
      </pc:sldChg>
      <pc:sldChg chg="modSp mod">
        <pc:chgData name="Nguyen Minh" userId="a45bb729e284cdbc" providerId="LiveId" clId="{C43D4653-156E-4745-9A9E-2B6B8E0CD63F}" dt="2026-07-05T13:34:06.892" v="684" actId="20577"/>
        <pc:sldMkLst>
          <pc:docMk/>
          <pc:sldMk cId="787311322" sldId="394"/>
        </pc:sldMkLst>
        <pc:spChg chg="mod">
          <ac:chgData name="Nguyen Minh" userId="a45bb729e284cdbc" providerId="LiveId" clId="{C43D4653-156E-4745-9A9E-2B6B8E0CD63F}" dt="2026-07-05T13:34:06.892" v="684" actId="20577"/>
          <ac:spMkLst>
            <pc:docMk/>
            <pc:sldMk cId="787311322" sldId="394"/>
            <ac:spMk id="24" creationId="{66557DA4-E62B-7814-4D84-D4FDBEAB709D}"/>
          </ac:spMkLst>
        </pc:spChg>
      </pc:sldChg>
      <pc:sldChg chg="modSp mod">
        <pc:chgData name="Nguyen Minh" userId="a45bb729e284cdbc" providerId="LiveId" clId="{C43D4653-156E-4745-9A9E-2B6B8E0CD63F}" dt="2026-07-05T13:34:10.220" v="686" actId="20577"/>
        <pc:sldMkLst>
          <pc:docMk/>
          <pc:sldMk cId="744598299" sldId="395"/>
        </pc:sldMkLst>
        <pc:spChg chg="mod">
          <ac:chgData name="Nguyen Minh" userId="a45bb729e284cdbc" providerId="LiveId" clId="{C43D4653-156E-4745-9A9E-2B6B8E0CD63F}" dt="2026-07-05T13:34:10.220" v="686" actId="20577"/>
          <ac:spMkLst>
            <pc:docMk/>
            <pc:sldMk cId="744598299" sldId="395"/>
            <ac:spMk id="24" creationId="{1A2CE853-8DEB-CC7D-B480-4FC2BD354419}"/>
          </ac:spMkLst>
        </pc:spChg>
        <pc:spChg chg="mod">
          <ac:chgData name="Nguyen Minh" userId="a45bb729e284cdbc" providerId="LiveId" clId="{C43D4653-156E-4745-9A9E-2B6B8E0CD63F}" dt="2026-07-03T03:14:58.478" v="52" actId="20577"/>
          <ac:spMkLst>
            <pc:docMk/>
            <pc:sldMk cId="744598299" sldId="395"/>
            <ac:spMk id="26" creationId="{D57A171F-6756-AF78-D4D8-6A609EB681EE}"/>
          </ac:spMkLst>
        </pc:spChg>
      </pc:sldChg>
      <pc:sldChg chg="modSp mod">
        <pc:chgData name="Nguyen Minh" userId="a45bb729e284cdbc" providerId="LiveId" clId="{C43D4653-156E-4745-9A9E-2B6B8E0CD63F}" dt="2026-07-05T13:34:13.940" v="688" actId="20577"/>
        <pc:sldMkLst>
          <pc:docMk/>
          <pc:sldMk cId="3211904258" sldId="396"/>
        </pc:sldMkLst>
        <pc:spChg chg="mod">
          <ac:chgData name="Nguyen Minh" userId="a45bb729e284cdbc" providerId="LiveId" clId="{C43D4653-156E-4745-9A9E-2B6B8E0CD63F}" dt="2026-07-05T13:34:13.940" v="688" actId="20577"/>
          <ac:spMkLst>
            <pc:docMk/>
            <pc:sldMk cId="3211904258" sldId="396"/>
            <ac:spMk id="24" creationId="{1F8C3935-E2C7-647F-2936-2B634C8A46E4}"/>
          </ac:spMkLst>
        </pc:spChg>
      </pc:sldChg>
      <pc:sldChg chg="modSp mod">
        <pc:chgData name="Nguyen Minh" userId="a45bb729e284cdbc" providerId="LiveId" clId="{C43D4653-156E-4745-9A9E-2B6B8E0CD63F}" dt="2026-07-05T13:34:17.300" v="690" actId="20577"/>
        <pc:sldMkLst>
          <pc:docMk/>
          <pc:sldMk cId="1747966156" sldId="398"/>
        </pc:sldMkLst>
        <pc:spChg chg="mod">
          <ac:chgData name="Nguyen Minh" userId="a45bb729e284cdbc" providerId="LiveId" clId="{C43D4653-156E-4745-9A9E-2B6B8E0CD63F}" dt="2026-07-03T03:15:59.158" v="78" actId="20577"/>
          <ac:spMkLst>
            <pc:docMk/>
            <pc:sldMk cId="1747966156" sldId="398"/>
            <ac:spMk id="4" creationId="{2E80F110-9142-5AB8-C8FE-E82D7B699D38}"/>
          </ac:spMkLst>
        </pc:spChg>
        <pc:spChg chg="mod">
          <ac:chgData name="Nguyen Minh" userId="a45bb729e284cdbc" providerId="LiveId" clId="{C43D4653-156E-4745-9A9E-2B6B8E0CD63F}" dt="2026-07-05T13:34:17.300" v="690" actId="20577"/>
          <ac:spMkLst>
            <pc:docMk/>
            <pc:sldMk cId="1747966156" sldId="398"/>
            <ac:spMk id="24" creationId="{CD2544FC-74C7-534B-CEFD-E6D9B733B58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EF3877-4F1C-4AA3-A7ED-8B8A7F0C6D5E}" type="datetimeFigureOut">
              <a:rPr lang="vi-VN" smtClean="0"/>
              <a:t>06/07/2026</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643608-CB1B-4C39-8D67-FE515B6225C8}" type="slidenum">
              <a:rPr lang="vi-VN" smtClean="0"/>
              <a:t>‹#›</a:t>
            </a:fld>
            <a:endParaRPr lang="vi-VN"/>
          </a:p>
        </p:txBody>
      </p:sp>
    </p:spTree>
    <p:extLst>
      <p:ext uri="{BB962C8B-B14F-4D97-AF65-F5344CB8AC3E}">
        <p14:creationId xmlns:p14="http://schemas.microsoft.com/office/powerpoint/2010/main" val="3157660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vi-V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4019201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vi-VN"/>
          </a:p>
        </p:txBody>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2887842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01879-C08A-77D1-3114-BC9C8CF3E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411C8D-4B12-1028-C374-5A202F1A7539}"/>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B71AEA21-990F-89B5-00D3-C223EF5263A6}"/>
              </a:ext>
            </a:extLst>
          </p:cNvPr>
          <p:cNvSpPr>
            <a:spLocks noGrp="1"/>
          </p:cNvSpPr>
          <p:nvPr>
            <p:ph type="body" idx="1"/>
          </p:nvPr>
        </p:nvSpPr>
        <p:spPr/>
        <p:txBody>
          <a:bodyPr/>
          <a:lstStyle/>
          <a:p>
            <a:r>
              <a:rPr lang="vi-VN" dirty="0"/>
              <a:t>Tuy nhiên, so với bàn tay con người, khả năng cầm nắm của robot vẫn còn hạn chế. Con người có thể cảm nhận vật đang trượt, vật cứng hay mềm, từ đó điều chỉnh lực cầm một cách tự nhiên. Trong khi đó, nhiều tay gắp robot thường chỉ đóng mở theo vị trí hoặc lực đặt trước. Điều này có thể làm vật bị rơi nếu gắp chưa đủ chặt, hoặc gây biến dạng vật nếu gắp quá mạnh.</a:t>
            </a:r>
          </a:p>
        </p:txBody>
      </p:sp>
      <p:sp>
        <p:nvSpPr>
          <p:cNvPr id="4" name="Slide Number Placeholder 3">
            <a:extLst>
              <a:ext uri="{FF2B5EF4-FFF2-40B4-BE49-F238E27FC236}">
                <a16:creationId xmlns:a16="http://schemas.microsoft.com/office/drawing/2014/main" id="{2523643B-A3D6-B784-A9D0-C2862F57EAFD}"/>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3003254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065E1-8BFB-C8B8-2D23-6BBC71D9B5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53B1D1-25B7-244D-DBF6-340B49835323}"/>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8768BBB0-2F99-6782-65D6-4B1198961DFC}"/>
              </a:ext>
            </a:extLst>
          </p:cNvPr>
          <p:cNvSpPr>
            <a:spLocks noGrp="1"/>
          </p:cNvSpPr>
          <p:nvPr>
            <p:ph type="body" idx="1"/>
          </p:nvPr>
        </p:nvSpPr>
        <p:spPr/>
        <p:txBody>
          <a:bodyPr/>
          <a:lstStyle/>
          <a:p>
            <a:r>
              <a:rPr lang="vi-VN" dirty="0"/>
              <a:t>Từ vấn đề trên, em chọn đề tài này nhằm xây dựng một mô hình tay gắp có khả năng cầm nắm vật chắc chắn hơn, không chỉ dựa vào lệnh đóng mở cố định.</a:t>
            </a:r>
          </a:p>
        </p:txBody>
      </p:sp>
      <p:sp>
        <p:nvSpPr>
          <p:cNvPr id="4" name="Slide Number Placeholder 3">
            <a:extLst>
              <a:ext uri="{FF2B5EF4-FFF2-40B4-BE49-F238E27FC236}">
                <a16:creationId xmlns:a16="http://schemas.microsoft.com/office/drawing/2014/main" id="{EE985AD5-881B-DF52-E9AE-E2D1BAF3E11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565977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0056A-8142-8688-531E-CBF82EEF11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88ADEC-AD48-A3AF-F8AF-1DB424EF31AA}"/>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43925713-AB20-5946-14E5-5708B51190C9}"/>
              </a:ext>
            </a:extLst>
          </p:cNvPr>
          <p:cNvSpPr>
            <a:spLocks noGrp="1"/>
          </p:cNvSpPr>
          <p:nvPr>
            <p:ph type="body" idx="1"/>
          </p:nvPr>
        </p:nvSpPr>
        <p:spPr/>
        <p:txBody>
          <a:bodyPr/>
          <a:lstStyle/>
          <a:p>
            <a:r>
              <a:rPr lang="vi-VN" dirty="0"/>
              <a:t>Cuối cùng là xây dựng giao diện người dùng để theo dõi camera, dữ liệu cảm biến, trạng thái mô hình và quá trình điều khiển</a:t>
            </a:r>
          </a:p>
        </p:txBody>
      </p:sp>
      <p:sp>
        <p:nvSpPr>
          <p:cNvPr id="4" name="Slide Number Placeholder 3">
            <a:extLst>
              <a:ext uri="{FF2B5EF4-FFF2-40B4-BE49-F238E27FC236}">
                <a16:creationId xmlns:a16="http://schemas.microsoft.com/office/drawing/2014/main" id="{10CB59B3-428D-1336-E43D-359F189469F4}"/>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2850617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E4C0-4DD8-6082-3E1D-3BA1E807E1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88FF7E-44FD-2B10-CA24-1F9DCBE214C8}"/>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BC8F4567-3057-B50C-B66F-F93219480DAC}"/>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91C16E40-70F0-909F-8AED-A5AA194C553D}"/>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25940257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3CCAF-5600-36E5-4177-B422C5DD28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08960-55F6-8DDB-193F-C58924A54AC7}"/>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2292CEA1-05AD-8B90-04F4-A112AF80DF07}"/>
              </a:ext>
            </a:extLst>
          </p:cNvPr>
          <p:cNvSpPr>
            <a:spLocks noGrp="1"/>
          </p:cNvSpPr>
          <p:nvPr>
            <p:ph type="body" idx="1"/>
          </p:nvPr>
        </p:nvSpPr>
        <p:spPr/>
        <p:txBody>
          <a:bodyPr/>
          <a:lstStyle/>
          <a:p>
            <a:r>
              <a:rPr lang="vi-VN" dirty="0"/>
              <a:t>Từ bài toán đó, giải pháp đề xuất của em gồm các thành phần chính: camera kết hợp YOLOv8 để nhận diện vật thể; Raspberry Pi 4 làm bộ xử lý trung tâm; hai mô hình học máy là MLPRegressor và MLPClassifier; cảm biến xúc giác chế tạo từ Velostat; tay gắp in 3D điều khiển bằng servo TD8120MG; và giao diện hiển thị, điều khiển cho người dùng.</a:t>
            </a:r>
          </a:p>
        </p:txBody>
      </p:sp>
      <p:sp>
        <p:nvSpPr>
          <p:cNvPr id="4" name="Slide Number Placeholder 3">
            <a:extLst>
              <a:ext uri="{FF2B5EF4-FFF2-40B4-BE49-F238E27FC236}">
                <a16:creationId xmlns:a16="http://schemas.microsoft.com/office/drawing/2014/main" id="{0332C68C-148F-B8E2-26B7-B42F3BFB6B6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1622058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3B069-229B-5F80-F60A-CB34D49EEA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557933-AC3B-87E2-99B3-629AA87B52EB}"/>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AD126F26-D2FD-6B2C-E0D4-1009917C8CE2}"/>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675876F7-4571-792C-6981-B62EB63F285A}"/>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3542158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DAAD4-314D-988A-390A-B8BB023BFC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1AEA1-3363-9E16-4B17-5A18961DF27D}"/>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E120804D-09E8-D8CB-2375-041E08CC7872}"/>
              </a:ext>
            </a:extLst>
          </p:cNvPr>
          <p:cNvSpPr>
            <a:spLocks noGrp="1"/>
          </p:cNvSpPr>
          <p:nvPr>
            <p:ph type="body" idx="1"/>
          </p:nvPr>
        </p:nvSpPr>
        <p:spPr/>
        <p:txBody>
          <a:bodyPr/>
          <a:lstStyle/>
          <a:p>
            <a:r>
              <a:rPr lang="vi-VN" dirty="0"/>
              <a:t>Trong đề tài, em chọn hướng cảm biến điện trở áp vì cấu tạo đơn giản, chi phí thấp và phù hợp để chế tạo cảm biến dạng ma trận.</a:t>
            </a:r>
          </a:p>
        </p:txBody>
      </p:sp>
      <p:sp>
        <p:nvSpPr>
          <p:cNvPr id="4" name="Slide Number Placeholder 3">
            <a:extLst>
              <a:ext uri="{FF2B5EF4-FFF2-40B4-BE49-F238E27FC236}">
                <a16:creationId xmlns:a16="http://schemas.microsoft.com/office/drawing/2014/main" id="{8245FAA0-B567-A4F6-3A84-3BE4586FBA1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102140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774A8-7447-2671-59D7-65CE98597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9D6302-5B00-650A-703F-830B8DFFE8FD}"/>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2C711306-C0A4-6747-8EDE-1A8B9122333E}"/>
              </a:ext>
            </a:extLst>
          </p:cNvPr>
          <p:cNvSpPr>
            <a:spLocks noGrp="1"/>
          </p:cNvSpPr>
          <p:nvPr>
            <p:ph type="body" idx="1"/>
          </p:nvPr>
        </p:nvSpPr>
        <p:spPr/>
        <p:txBody>
          <a:bodyPr/>
          <a:lstStyle/>
          <a:p>
            <a:r>
              <a:rPr lang="en-US" dirty="0"/>
              <a:t>Y</a:t>
            </a:r>
            <a:r>
              <a:rPr lang="vi-VN" dirty="0"/>
              <a:t>OLO có ưu điểm là phát hiện vật thể trong một lần suy luận qua mạng nơ-ron, đầu ra gồm nhãn lớp, vị trí hộp giới hạn và độ tin cậy. Đề tài sử dụng YOLOv8n vì đây là phiên bản nhỏ, tốc độ nhanh, phù hợp hơn với hệ thống có tài nguyên hạn chế như Raspberry Pi.</a:t>
            </a:r>
          </a:p>
        </p:txBody>
      </p:sp>
      <p:sp>
        <p:nvSpPr>
          <p:cNvPr id="4" name="Slide Number Placeholder 3">
            <a:extLst>
              <a:ext uri="{FF2B5EF4-FFF2-40B4-BE49-F238E27FC236}">
                <a16:creationId xmlns:a16="http://schemas.microsoft.com/office/drawing/2014/main" id="{1FCFE0C0-C8CB-40D0-D240-CE28939A863F}"/>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9322220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952E3-8838-75B7-2293-5578AC8881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CB05EF-BC10-EED3-4A59-3A75C63F273A}"/>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A3C3FD54-E6D3-EA7E-6870-990F99398298}"/>
              </a:ext>
            </a:extLst>
          </p:cNvPr>
          <p:cNvSpPr>
            <a:spLocks noGrp="1"/>
          </p:cNvSpPr>
          <p:nvPr>
            <p:ph type="body" idx="1"/>
          </p:nvPr>
        </p:nvSpPr>
        <p:spPr/>
        <p:txBody>
          <a:bodyPr/>
          <a:lstStyle/>
          <a:p>
            <a:r>
              <a:rPr lang="vi-VN" dirty="0"/>
              <a:t>MLPRegressor dùng cho bài toán hồi quy, tức đầu ra là một giá trị số liên tục; còn MLPClassifier dùng cho bài toán phân loại, tức đầu ra là một nhãn trạng thái.</a:t>
            </a:r>
          </a:p>
        </p:txBody>
      </p:sp>
      <p:sp>
        <p:nvSpPr>
          <p:cNvPr id="4" name="Slide Number Placeholder 3">
            <a:extLst>
              <a:ext uri="{FF2B5EF4-FFF2-40B4-BE49-F238E27FC236}">
                <a16:creationId xmlns:a16="http://schemas.microsoft.com/office/drawing/2014/main" id="{ED47E77F-8A79-BCE9-641B-BBD02EBFC75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33105954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411D4-4919-75D1-7D58-F5D1802D4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A5BA1-E298-6087-B579-F8A2FD33F44D}"/>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11826B43-C799-890A-15DA-B5E95CA19DF8}"/>
              </a:ext>
            </a:extLst>
          </p:cNvPr>
          <p:cNvSpPr>
            <a:spLocks noGrp="1"/>
          </p:cNvSpPr>
          <p:nvPr>
            <p:ph type="body" idx="1"/>
          </p:nvPr>
        </p:nvSpPr>
        <p:spPr/>
        <p:txBody>
          <a:bodyPr/>
          <a:lstStyle/>
          <a:p>
            <a:r>
              <a:rPr lang="vi-VN" dirty="0"/>
              <a:t>Camera thu nhận hình ảnh vật thể theo thời gian thực. Dữ liệu hình ảnh được đưa về board trung tâm để xử lý nhận diện. Song song đó, board data thu thập dữ liệu cảm biến xúc giác trong quá trình tay gắp tiếp xúc với vật. Board trung tâm xử lý dữ liệu, chạy mô hình AI và gửi lệnh điều khiển. Board giao diện giúp người dùng theo dõi trạng thái hệ thống. Cuối cùng, board device nhận lệnh để điều khiển cơ cấu tay gắp</a:t>
            </a:r>
          </a:p>
        </p:txBody>
      </p:sp>
      <p:sp>
        <p:nvSpPr>
          <p:cNvPr id="4" name="Slide Number Placeholder 3">
            <a:extLst>
              <a:ext uri="{FF2B5EF4-FFF2-40B4-BE49-F238E27FC236}">
                <a16:creationId xmlns:a16="http://schemas.microsoft.com/office/drawing/2014/main" id="{0C0C6E93-A260-8510-FBCE-9DA19012C59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13765214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05AD8-89CA-47E2-798A-97BA80923C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579D3-D326-9A86-26BF-6480074F8851}"/>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940FD4DE-6490-D838-E3B7-1517EC79F42C}"/>
              </a:ext>
            </a:extLst>
          </p:cNvPr>
          <p:cNvSpPr>
            <a:spLocks noGrp="1"/>
          </p:cNvSpPr>
          <p:nvPr>
            <p:ph type="body" idx="1"/>
          </p:nvPr>
        </p:nvSpPr>
        <p:spPr/>
        <p:txBody>
          <a:bodyPr/>
          <a:lstStyle/>
          <a:p>
            <a:r>
              <a:rPr lang="vi-VN" dirty="0"/>
              <a:t>Khối xử lý trung tâm chịu trách nhiệm nhận dữ liệu từ camera, cảm biến và mô hình dự đoán, sau đó xuất tín hiệu điều khiển đến khối động cơ.</a:t>
            </a:r>
          </a:p>
          <a:p>
            <a:r>
              <a:rPr lang="vi-VN" dirty="0"/>
              <a:t>Khối camera cung cấp hình ảnh đầu vào cho khối nhận diện. Khối nhận diện dùng YOLO để xác định vật thể. </a:t>
            </a:r>
            <a:endParaRPr lang="en-US" dirty="0"/>
          </a:p>
          <a:p>
            <a:r>
              <a:rPr lang="vi-VN" dirty="0"/>
              <a:t>Khối dự đoán dùng MLP để dự đoán tỉ lệ gắp ban đầu và đánh giá trạng thái gắp.</a:t>
            </a:r>
            <a:endParaRPr lang="en-US" dirty="0"/>
          </a:p>
          <a:p>
            <a:r>
              <a:rPr lang="vi-VN" dirty="0"/>
              <a:t>Khối cảm biến thu nhận tín hiệu tiếp xúc. </a:t>
            </a:r>
            <a:endParaRPr lang="en-US" dirty="0"/>
          </a:p>
          <a:p>
            <a:r>
              <a:rPr lang="vi-VN" dirty="0"/>
              <a:t>Khối động cơ điều khiển hai servo để đóng mở tay gắp. </a:t>
            </a:r>
            <a:endParaRPr lang="en-US" dirty="0"/>
          </a:p>
          <a:p>
            <a:r>
              <a:rPr lang="vi-VN" dirty="0"/>
              <a:t>Khối hiển thị giúp người dùng quan sát giao diện</a:t>
            </a:r>
          </a:p>
        </p:txBody>
      </p:sp>
      <p:sp>
        <p:nvSpPr>
          <p:cNvPr id="4" name="Slide Number Placeholder 3">
            <a:extLst>
              <a:ext uri="{FF2B5EF4-FFF2-40B4-BE49-F238E27FC236}">
                <a16:creationId xmlns:a16="http://schemas.microsoft.com/office/drawing/2014/main" id="{169F13C9-6081-A5F1-B07C-9DD0D0CE7F77}"/>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961065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E8A97-E23E-5E16-78D8-1D442E9BEC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1565B-E754-E4E2-8BA8-847360D9572A}"/>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7A82922C-5A42-C6D4-9E0C-5A16F9A1E8A3}"/>
              </a:ext>
            </a:extLst>
          </p:cNvPr>
          <p:cNvSpPr>
            <a:spLocks noGrp="1"/>
          </p:cNvSpPr>
          <p:nvPr>
            <p:ph type="body" idx="1"/>
          </p:nvPr>
        </p:nvSpPr>
        <p:spPr/>
        <p:txBody>
          <a:bodyPr/>
          <a:lstStyle/>
          <a:p>
            <a:r>
              <a:rPr lang="vi-VN" dirty="0"/>
              <a:t>Velostat là vật liệu có điện trở thay đổi khi chịu lực nén hoặc biến dạng. Khi lực tác động tăng, điện trở của Velostat giảm, làm điện áp đưa về ADC tăng.</a:t>
            </a:r>
            <a:endParaRPr lang="en-US" dirty="0"/>
          </a:p>
          <a:p>
            <a:endParaRPr lang="en-US" dirty="0"/>
          </a:p>
          <a:p>
            <a:r>
              <a:rPr lang="en-US" dirty="0"/>
              <a:t>A</a:t>
            </a:r>
            <a:r>
              <a:rPr lang="vi-VN" dirty="0"/>
              <a:t>DS1115 có độ phân giải 16 bit, giao tiếp I2C, phù hợp để đọc tín hiệu analog </a:t>
            </a:r>
          </a:p>
        </p:txBody>
      </p:sp>
      <p:sp>
        <p:nvSpPr>
          <p:cNvPr id="4" name="Slide Number Placeholder 3">
            <a:extLst>
              <a:ext uri="{FF2B5EF4-FFF2-40B4-BE49-F238E27FC236}">
                <a16:creationId xmlns:a16="http://schemas.microsoft.com/office/drawing/2014/main" id="{51107DE9-B7D1-410E-D59B-E71F6D409AE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40720244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65F28-B808-60C4-B82D-CF46715E89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D9597-F6F9-FA94-DC7B-01BA3F0D0FF2}"/>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7DB152BD-7331-118A-D4E7-F979B1A5E08D}"/>
              </a:ext>
            </a:extLst>
          </p:cNvPr>
          <p:cNvSpPr>
            <a:spLocks noGrp="1"/>
          </p:cNvSpPr>
          <p:nvPr>
            <p:ph type="body" idx="1"/>
          </p:nvPr>
        </p:nvSpPr>
        <p:spPr/>
        <p:txBody>
          <a:bodyPr/>
          <a:lstStyle/>
          <a:p>
            <a:r>
              <a:rPr lang="vi-VN" dirty="0"/>
              <a:t>Theo thiết kế mạch, các hàng cảm biến được dùng chung thành ba đường ROW1, ROW2vàROW3;</a:t>
            </a:r>
            <a:r>
              <a:rPr lang="en-US" dirty="0"/>
              <a:t> </a:t>
            </a:r>
            <a:r>
              <a:rPr lang="vi-VN" dirty="0"/>
              <a:t>các cột được tách thành mười đường COL1 đến COL10.</a:t>
            </a:r>
            <a:endParaRPr lang="en-US" dirty="0"/>
          </a:p>
          <a:p>
            <a:endParaRPr lang="en-US" dirty="0"/>
          </a:p>
          <a:p>
            <a:r>
              <a:rPr lang="vi-VN" dirty="0"/>
              <a:t>Tại mỗi thời điểm, khối xử lý trung tâm kích hoạt một cột và đọc tín hiệu phản hồi trên ba đường ROW1, ROW2 và ROW3 thông qua ADC</a:t>
            </a:r>
            <a:r>
              <a:rPr lang="en-US" dirty="0"/>
              <a:t> </a:t>
            </a:r>
            <a:r>
              <a:rPr lang="vi-VN" dirty="0"/>
              <a:t>ADS1115.</a:t>
            </a:r>
            <a:endParaRPr lang="en-US" dirty="0"/>
          </a:p>
          <a:p>
            <a:endParaRPr lang="en-US"/>
          </a:p>
          <a:p>
            <a:r>
              <a:rPr lang="vi-VN"/>
              <a:t> </a:t>
            </a:r>
            <a:r>
              <a:rPr lang="vi-VN" dirty="0"/>
              <a:t>Quá trình này được lặp lại cho đến khi quét hết toàn bộ các cột của ma trận</a:t>
            </a:r>
          </a:p>
        </p:txBody>
      </p:sp>
      <p:sp>
        <p:nvSpPr>
          <p:cNvPr id="4" name="Slide Number Placeholder 3">
            <a:extLst>
              <a:ext uri="{FF2B5EF4-FFF2-40B4-BE49-F238E27FC236}">
                <a16:creationId xmlns:a16="http://schemas.microsoft.com/office/drawing/2014/main" id="{C7DB2A72-FD5A-EC1E-9C94-02701507D76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27037190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E1F97-A1A8-6A45-91B4-0C538640D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6B9C36-1EF2-9474-6FE1-AA875BD2EB3A}"/>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66D2C439-A9DD-1650-1986-8D8DADC1E186}"/>
              </a:ext>
            </a:extLst>
          </p:cNvPr>
          <p:cNvSpPr>
            <a:spLocks noGrp="1"/>
          </p:cNvSpPr>
          <p:nvPr>
            <p:ph type="body" idx="1"/>
          </p:nvPr>
        </p:nvSpPr>
        <p:spPr/>
        <p:txBody>
          <a:bodyPr/>
          <a:lstStyle/>
          <a:p>
            <a:r>
              <a:rPr lang="vi-VN" dirty="0"/>
              <a:t>Em sử dụng hai servo TD8120MG để điều khiển hai phía của tay gắp. Servo được chọn vì dễ điều khiển bằng PWM, có khả năng giữ vị trí và mô-men xoắn đủ lớn cho mô hình tay gắp.</a:t>
            </a:r>
          </a:p>
        </p:txBody>
      </p:sp>
      <p:sp>
        <p:nvSpPr>
          <p:cNvPr id="4" name="Slide Number Placeholder 3">
            <a:extLst>
              <a:ext uri="{FF2B5EF4-FFF2-40B4-BE49-F238E27FC236}">
                <a16:creationId xmlns:a16="http://schemas.microsoft.com/office/drawing/2014/main" id="{99751E0A-7827-93C7-6509-794D03FF045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14397633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0EF5F-D7C1-A1BB-6896-75716CB2D9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4F30A-F3B3-7CF8-36B7-D89BB175C144}"/>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56300573-2198-243F-E7E0-CF23192778B0}"/>
              </a:ext>
            </a:extLst>
          </p:cNvPr>
          <p:cNvSpPr>
            <a:spLocks noGrp="1"/>
          </p:cNvSpPr>
          <p:nvPr>
            <p:ph type="body" idx="1"/>
          </p:nvPr>
        </p:nvSpPr>
        <p:spPr/>
        <p:txBody>
          <a:bodyPr/>
          <a:lstStyle/>
          <a:p>
            <a:r>
              <a:rPr lang="vi-VN" dirty="0"/>
              <a:t>Lý do chọn Raspberry Pi 4 là vì so với vi điều khiển thông thường, Raspberry Pi có khả năng xử lý tốt hơn, hỗ trợ hệ điều hành, USB camera, GPIO, I2C và có thể chạy trực tiếp chương trình xử lý ảnh, mô hình học máy cũng như giao diện người dùng.</a:t>
            </a:r>
          </a:p>
        </p:txBody>
      </p:sp>
      <p:sp>
        <p:nvSpPr>
          <p:cNvPr id="4" name="Slide Number Placeholder 3">
            <a:extLst>
              <a:ext uri="{FF2B5EF4-FFF2-40B4-BE49-F238E27FC236}">
                <a16:creationId xmlns:a16="http://schemas.microsoft.com/office/drawing/2014/main" id="{B85F32A9-5DDE-BF59-E366-5A8B03DF1723}"/>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3914661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4C9CA-314B-B071-9884-4502DE56EE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77EA7C-F90C-881C-6C83-E4A267EF9717}"/>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D0861E9C-3F3A-3DC3-71DF-BE8A6293901D}"/>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397923A8-A969-ADE5-04A2-0ABC48E8B644}"/>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21912833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446D9-B3A5-6401-3A1B-25B0482DD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019BA-1309-9F8F-6F32-088134C53CCD}"/>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504EF70F-2529-8AB4-D147-A8A6CFACA524}"/>
              </a:ext>
            </a:extLst>
          </p:cNvPr>
          <p:cNvSpPr>
            <a:spLocks noGrp="1"/>
          </p:cNvSpPr>
          <p:nvPr>
            <p:ph type="body" idx="1"/>
          </p:nvPr>
        </p:nvSpPr>
        <p:spPr/>
        <p:txBody>
          <a:bodyPr/>
          <a:lstStyle/>
          <a:p>
            <a:r>
              <a:rPr lang="vi-VN" dirty="0"/>
              <a:t>Việc tách nguồn cho Raspberry Pi và servo giúp hạn chế nhiễu và sụt áp khi servo hoạt động, từ đó giúp hệ thống ổn định hơn</a:t>
            </a:r>
          </a:p>
        </p:txBody>
      </p:sp>
      <p:sp>
        <p:nvSpPr>
          <p:cNvPr id="4" name="Slide Number Placeholder 3">
            <a:extLst>
              <a:ext uri="{FF2B5EF4-FFF2-40B4-BE49-F238E27FC236}">
                <a16:creationId xmlns:a16="http://schemas.microsoft.com/office/drawing/2014/main" id="{8FB7A4F8-9CE3-5A7B-EEB5-C9589FA38682}"/>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20263170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496E6-FFE5-DE1A-7284-337CABD93A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AAD94E-5274-7E49-9DFA-53E522649452}"/>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83C91A42-9FCC-86BD-E59F-624F3E977D1F}"/>
              </a:ext>
            </a:extLst>
          </p:cNvPr>
          <p:cNvSpPr>
            <a:spLocks noGrp="1"/>
          </p:cNvSpPr>
          <p:nvPr>
            <p:ph type="body" idx="1"/>
          </p:nvPr>
        </p:nvSpPr>
        <p:spPr/>
        <p:txBody>
          <a:bodyPr/>
          <a:lstStyle/>
          <a:p>
            <a:r>
              <a:rPr lang="vi-VN" dirty="0"/>
              <a:t>Khi bắt đầu, chương trình khởi tạo camera, cảm biến xúc giác, bộ điều khiển tay gắp và giao diện hiển thị. Sau đó, hệ thống nạp mô hình YOLO để nhận diện vật thể và các mô hình MLP để dự đoán, đánh giá trạng thái gắp</a:t>
            </a:r>
            <a:endParaRPr lang="en-US" dirty="0"/>
          </a:p>
          <a:p>
            <a:r>
              <a:rPr lang="en-US" dirty="0"/>
              <a:t>T</a:t>
            </a:r>
            <a:r>
              <a:rPr lang="vi-VN" dirty="0"/>
              <a:t>rong quá trình vận hành, hệ thống nhận dữ liệu từ camera và cảm biến xúc giác.</a:t>
            </a:r>
            <a:endParaRPr lang="en-US" dirty="0"/>
          </a:p>
          <a:p>
            <a:r>
              <a:rPr lang="vi-VN" dirty="0"/>
              <a:t>Dữ liệu hình ảnh dùng để nhận diện vật thể và dự đoán tỉ lệ gắp ban đầu, còn dữ liệu xúc giác dùng để đánh giá trạng thái tiếp xúc và điều chỉnh tay gắp. </a:t>
            </a:r>
            <a:endParaRPr lang="en-US" dirty="0"/>
          </a:p>
          <a:p>
            <a:r>
              <a:rPr lang="vi-VN" dirty="0"/>
              <a:t>Các thông tin quan trọng được cập nhật liên tục lên giao diện</a:t>
            </a:r>
          </a:p>
        </p:txBody>
      </p:sp>
      <p:sp>
        <p:nvSpPr>
          <p:cNvPr id="4" name="Slide Number Placeholder 3">
            <a:extLst>
              <a:ext uri="{FF2B5EF4-FFF2-40B4-BE49-F238E27FC236}">
                <a16:creationId xmlns:a16="http://schemas.microsoft.com/office/drawing/2014/main" id="{1AE3690C-E0B0-8AFE-D65D-D1312E34E762}"/>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3766103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EC457-DAF1-121A-3458-8D65B2D3FF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72C889-1482-2119-5957-C93B3D3DA715}"/>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A10AE92F-BF9D-E1E8-A2EC-096653868A41}"/>
              </a:ext>
            </a:extLst>
          </p:cNvPr>
          <p:cNvSpPr>
            <a:spLocks noGrp="1"/>
          </p:cNvSpPr>
          <p:nvPr>
            <p:ph type="body" idx="1"/>
          </p:nvPr>
        </p:nvSpPr>
        <p:spPr/>
        <p:txBody>
          <a:bodyPr/>
          <a:lstStyle/>
          <a:p>
            <a:r>
              <a:rPr lang="vi-VN" dirty="0"/>
              <a:t>Tổng số ảnh thu được là 1000 ảnh. Trong đó ball có 380 ảnh, can có 300 ảnh và bottle có 320 ảnh. Dữ liệu được chia theo tỉ lệ 80% train và 20% val, tức 800 ảnh train và 200 ảnh val.</a:t>
            </a:r>
            <a:endParaRPr lang="en-US"/>
          </a:p>
          <a:p>
            <a:endParaRPr lang="vi-VN" dirty="0"/>
          </a:p>
          <a:p>
            <a:r>
              <a:rPr lang="en-US" dirty="0"/>
              <a:t>3 </a:t>
            </a:r>
            <a:r>
              <a:rPr lang="en-US" dirty="0" err="1"/>
              <a:t>lớp</a:t>
            </a:r>
            <a:r>
              <a:rPr lang="en-US" dirty="0"/>
              <a:t> 9 </a:t>
            </a:r>
            <a:r>
              <a:rPr lang="en-US" dirty="0" err="1"/>
              <a:t>vật</a:t>
            </a:r>
            <a:r>
              <a:rPr lang="en-US" dirty="0"/>
              <a:t> </a:t>
            </a:r>
            <a:r>
              <a:rPr lang="en-US" dirty="0" err="1"/>
              <a:t>thể</a:t>
            </a:r>
            <a:endParaRPr lang="vi-VN" dirty="0"/>
          </a:p>
        </p:txBody>
      </p:sp>
      <p:sp>
        <p:nvSpPr>
          <p:cNvPr id="4" name="Slide Number Placeholder 3">
            <a:extLst>
              <a:ext uri="{FF2B5EF4-FFF2-40B4-BE49-F238E27FC236}">
                <a16:creationId xmlns:a16="http://schemas.microsoft.com/office/drawing/2014/main" id="{2C628C5E-CAEA-92EC-6AFB-B870D0E3968D}"/>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779255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10CA0-1806-6278-0894-F744FDAEC4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6597AD-8E63-165D-C8EB-7FF565B31B1A}"/>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C6662864-5254-C71D-6150-EDA67CF2D11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Quá trình huấn luyện YOLO được thực hiện trên Google Colab để tận dụng GPU, thay vì huấn luyện trực tiếp trên Raspberry Pi.</a:t>
            </a:r>
          </a:p>
          <a:p>
            <a:endParaRPr lang="vi-VN" dirty="0"/>
          </a:p>
        </p:txBody>
      </p:sp>
      <p:sp>
        <p:nvSpPr>
          <p:cNvPr id="4" name="Slide Number Placeholder 3">
            <a:extLst>
              <a:ext uri="{FF2B5EF4-FFF2-40B4-BE49-F238E27FC236}">
                <a16:creationId xmlns:a16="http://schemas.microsoft.com/office/drawing/2014/main" id="{0046E85E-3255-2BE1-BC4B-D95D17D2483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1687810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AABB5-5655-5260-EAC5-D59763A26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41504C-65D3-5A18-D373-3C9FE7E3994E}"/>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D2BD9008-0C16-78F1-4B72-05F59F5255FF}"/>
              </a:ext>
            </a:extLst>
          </p:cNvPr>
          <p:cNvSpPr>
            <a:spLocks noGrp="1"/>
          </p:cNvSpPr>
          <p:nvPr>
            <p:ph type="body" idx="1"/>
          </p:nvPr>
        </p:nvSpPr>
        <p:spPr/>
        <p:txBody>
          <a:bodyPr/>
          <a:lstStyle/>
          <a:p>
            <a:r>
              <a:rPr lang="vi-VN" dirty="0"/>
              <a:t>Dữ liệu MLP được thu thập từ quá trình gắp thử nghiệm thực tế. Đầu tiên YOLO nhận diện vật thể và trích xuất các đặc trưng hình ảnh như lớp vật thể, kích thước bounding box, diện tích khung bao, vị trí tâm và độ tin cậy. Sau đó người dùng nhập tỉ lệ gắp thử nghiệm, tay gắp đóng lại, cảm biến xúc giác ghi nhận dữ liệu tiếp xúc, và cuối cùng người dùng gán nhãn trạng thái cho lần gắp.</a:t>
            </a:r>
            <a:endParaRPr lang="en-US" dirty="0"/>
          </a:p>
          <a:p>
            <a:endParaRPr lang="en-US" dirty="0"/>
          </a:p>
          <a:p>
            <a:r>
              <a:rPr lang="vi-VN" dirty="0"/>
              <a:t>Tổng cộng tập dữ liệu MLP có 1090 mẫu gắp. </a:t>
            </a:r>
          </a:p>
        </p:txBody>
      </p:sp>
      <p:sp>
        <p:nvSpPr>
          <p:cNvPr id="4" name="Slide Number Placeholder 3">
            <a:extLst>
              <a:ext uri="{FF2B5EF4-FFF2-40B4-BE49-F238E27FC236}">
                <a16:creationId xmlns:a16="http://schemas.microsoft.com/office/drawing/2014/main" id="{29916C8B-79BF-7538-8BAB-877AD176C4D4}"/>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14975461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CE0E5-DB2A-AA1A-8862-55A2114A6D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650A0-BED9-2C1E-8EDD-A9DAFFBD260B}"/>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E5052E9A-E529-5A41-A7BB-F644AAF29132}"/>
              </a:ext>
            </a:extLst>
          </p:cNvPr>
          <p:cNvSpPr>
            <a:spLocks noGrp="1"/>
          </p:cNvSpPr>
          <p:nvPr>
            <p:ph type="body" idx="1"/>
          </p:nvPr>
        </p:nvSpPr>
        <p:spPr/>
        <p:txBody>
          <a:bodyPr/>
          <a:lstStyle/>
          <a:p>
            <a:r>
              <a:rPr lang="vi-VN" dirty="0"/>
              <a:t>MLPRegressor dùng các thông tin có trước khi tay gắp tiếp xúc vật thể để dự đoán tỉ lệ gắp ban đầu.</a:t>
            </a:r>
            <a:endParaRPr lang="en-US" dirty="0"/>
          </a:p>
          <a:p>
            <a:endParaRPr lang="en-US" dirty="0"/>
          </a:p>
          <a:p>
            <a:r>
              <a:rPr lang="vi-VN" dirty="0"/>
              <a:t>MLPClassifier sử dụng thêm tỉ lệ gắp hiện tại và đặc trưng cảm biến xúc giác để phân loại trạng thái gắp.</a:t>
            </a:r>
          </a:p>
          <a:p>
            <a:r>
              <a:rPr lang="vi-VN" dirty="0"/>
              <a:t>Về cấu hình, MLPRegressor dùng hidden layers là 64 và 32. MLPClassifier dùng hidden layers là 128, 64 và 32. Cả hai mô hình sử dụng hàm kích hoạt ReLU, bộ tối ưu Adam và số vòng lặp tối đa 2000.”</a:t>
            </a:r>
          </a:p>
          <a:p>
            <a:endParaRPr lang="vi-VN" dirty="0"/>
          </a:p>
        </p:txBody>
      </p:sp>
      <p:sp>
        <p:nvSpPr>
          <p:cNvPr id="4" name="Slide Number Placeholder 3">
            <a:extLst>
              <a:ext uri="{FF2B5EF4-FFF2-40B4-BE49-F238E27FC236}">
                <a16:creationId xmlns:a16="http://schemas.microsoft.com/office/drawing/2014/main" id="{70259E7C-CF47-DC51-D519-1EF97F570A77}"/>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31487180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DE6E5-0D32-F93E-C46D-AB8E409504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50AA26-DAF0-B349-CD0F-7B462A868182}"/>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97F30112-7FA1-B2F4-3086-3A739CB19F66}"/>
              </a:ext>
            </a:extLst>
          </p:cNvPr>
          <p:cNvSpPr>
            <a:spLocks noGrp="1"/>
          </p:cNvSpPr>
          <p:nvPr>
            <p:ph type="body" idx="1"/>
          </p:nvPr>
        </p:nvSpPr>
        <p:spPr/>
        <p:txBody>
          <a:bodyPr/>
          <a:lstStyle/>
          <a:p>
            <a:r>
              <a:rPr lang="vi-VN" dirty="0"/>
              <a:t>Ở bước này, camera thu hình vật thể trong vùng làm việc. YOLO xử lý ảnh và trả về lớp vật thể, bounding box và độ tin cậy. Khi vật thể nằm trong vùng kích hoạt, hệ thống tính các đặc trưng</a:t>
            </a:r>
            <a:endParaRPr lang="en-US" dirty="0"/>
          </a:p>
          <a:p>
            <a:endParaRPr lang="en-US" dirty="0"/>
          </a:p>
          <a:p>
            <a:r>
              <a:rPr lang="vi-VN" dirty="0"/>
              <a:t>Các đặc trưng này được đưa vào MLPRegressor để dự đoán tỉ lệ gắp ban đầu. </a:t>
            </a:r>
          </a:p>
        </p:txBody>
      </p:sp>
      <p:sp>
        <p:nvSpPr>
          <p:cNvPr id="4" name="Slide Number Placeholder 3">
            <a:extLst>
              <a:ext uri="{FF2B5EF4-FFF2-40B4-BE49-F238E27FC236}">
                <a16:creationId xmlns:a16="http://schemas.microsoft.com/office/drawing/2014/main" id="{1D6584E1-77DE-47E3-8CA1-F342DCEAD19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27586637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A68ED-C821-0B3C-E5FA-C55930462C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DC65D-51FA-29CC-2FC9-5C061909AC1E}"/>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B07643A3-921E-79E7-A571-D82071BCBDD9}"/>
              </a:ext>
            </a:extLst>
          </p:cNvPr>
          <p:cNvSpPr>
            <a:spLocks noGrp="1"/>
          </p:cNvSpPr>
          <p:nvPr>
            <p:ph type="body" idx="1"/>
          </p:nvPr>
        </p:nvSpPr>
        <p:spPr/>
        <p:txBody>
          <a:bodyPr/>
          <a:lstStyle/>
          <a:p>
            <a:r>
              <a:rPr lang="vi-VN" dirty="0"/>
              <a:t>Sau khi tay gắp đóng theo tỉ lệ ban đầu, hệ thống bắt đầu đọc cảm biến xúc giác liên tục theo thời gian thực. Dữ liệu cảm biến được xử lý thành các đặc trưng như lực trung bình, lực cực đại, vùng tiếp xúc và tổng lực trên các ma trận cảm biến.</a:t>
            </a:r>
            <a:r>
              <a:rPr lang="en-US" dirty="0"/>
              <a:t> </a:t>
            </a:r>
            <a:r>
              <a:rPr lang="vi-VN" dirty="0"/>
              <a:t>Các đặc trưng này được đưa vào MLPClassifier để phân loại trạng thái gắp.</a:t>
            </a:r>
            <a:endParaRPr lang="en-US" dirty="0"/>
          </a:p>
          <a:p>
            <a:endParaRPr lang="en-US" dirty="0"/>
          </a:p>
          <a:p>
            <a:r>
              <a:rPr lang="vi-VN" dirty="0"/>
              <a:t>Nhờ vậy, hệ thống không điều khiển theo một giá trị cố định mà có khả năng thích nghi dựa trên phản hồi xúc giác.</a:t>
            </a:r>
          </a:p>
        </p:txBody>
      </p:sp>
      <p:sp>
        <p:nvSpPr>
          <p:cNvPr id="4" name="Slide Number Placeholder 3">
            <a:extLst>
              <a:ext uri="{FF2B5EF4-FFF2-40B4-BE49-F238E27FC236}">
                <a16:creationId xmlns:a16="http://schemas.microsoft.com/office/drawing/2014/main" id="{17D44C00-81B7-A0FA-8311-6F662DF4EEA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37827504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FDADD-B9F1-1AE6-16C0-02226D98F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F7161-A496-A98F-0EC7-B83B8B40E79F}"/>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E229D464-B736-79D6-32CC-D959DFAB79DF}"/>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D84332C5-2265-DA9F-9AE7-3F7C27506744}"/>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20346217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74F77-B99D-2A8E-A30A-AE0E71ABCB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9D6C2-2974-7C84-7770-6C8C160228A3}"/>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7F07C2A0-B5BB-EB3F-37C6-8E60B3DC32C1}"/>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7EDB238D-558A-831F-DD84-92DA912045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39351377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689C0-061E-8024-9C4B-D9CC76B7B5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6279E-3262-6A93-C7C2-ED7D05D07D49}"/>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C13C1121-C93E-11D1-415B-B97C98BFE3C1}"/>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347ED2D5-A4AC-189A-0F04-5436995F4FE3}"/>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4282038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C2BCC-2359-BFCB-C63E-A339A1C49C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3D682-CD4C-1B16-E124-7A5841B71D16}"/>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DF9E451A-15F6-5C56-8EC8-167B210F52B0}"/>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9CBA4308-5768-37AC-3D0F-F066E44DAACA}"/>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28286640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30065-A1B9-9C75-1C27-F71858AC2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035F36-3A80-4E4C-E651-F0AC90E49FBB}"/>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BAF1EEFD-3A8B-C0C6-1DC9-EBD7B7879894}"/>
              </a:ext>
            </a:extLst>
          </p:cNvPr>
          <p:cNvSpPr>
            <a:spLocks noGrp="1"/>
          </p:cNvSpPr>
          <p:nvPr>
            <p:ph type="body" idx="1"/>
          </p:nvPr>
        </p:nvSpPr>
        <p:spPr/>
        <p:txBody>
          <a:bodyPr/>
          <a:lstStyle/>
          <a:p>
            <a:r>
              <a:rPr lang="vi-VN" dirty="0"/>
              <a:t>mô hình được huấn luyện trên ba lớp ball, can và bottle trong 100 epoch. Các giá trị loss trên tập train và val đều có xu hướng giảm, trong khi các chỉ số precision, recall và mAP tăng và ổn định dần.</a:t>
            </a:r>
          </a:p>
        </p:txBody>
      </p:sp>
      <p:sp>
        <p:nvSpPr>
          <p:cNvPr id="4" name="Slide Number Placeholder 3">
            <a:extLst>
              <a:ext uri="{FF2B5EF4-FFF2-40B4-BE49-F238E27FC236}">
                <a16:creationId xmlns:a16="http://schemas.microsoft.com/office/drawing/2014/main" id="{BD16912F-6C4F-9268-8F75-B60860F6625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30808538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D539C-2E4E-524E-F89D-C7F439392C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A8447-87D6-5D87-E2FA-D59ACACE7674}"/>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E348D962-655D-2515-8998-50826CEA5BCB}"/>
              </a:ext>
            </a:extLst>
          </p:cNvPr>
          <p:cNvSpPr>
            <a:spLocks noGrp="1"/>
          </p:cNvSpPr>
          <p:nvPr>
            <p:ph type="body" idx="1"/>
          </p:nvPr>
        </p:nvSpPr>
        <p:spPr/>
        <p:txBody>
          <a:bodyPr/>
          <a:lstStyle/>
          <a:p>
            <a:r>
              <a:rPr lang="vi-VN" dirty="0"/>
              <a:t>MLPRegressor</a:t>
            </a:r>
            <a:r>
              <a:rPr lang="en-US" dirty="0"/>
              <a:t> </a:t>
            </a:r>
            <a:r>
              <a:rPr lang="vi-VN" dirty="0"/>
              <a:t>Có thể hiểu là sai số trung bình khoảng 3% đến 5% tỉ lệ gắp</a:t>
            </a:r>
            <a:r>
              <a:rPr lang="en-US" dirty="0"/>
              <a:t> </a:t>
            </a:r>
            <a:r>
              <a:rPr lang="vi-VN" dirty="0"/>
              <a:t>Mô hình đã học được xu hướng chung của dữ liệu, tuy nhiên vẫn còn sai lệch giữa giá trị dự đoán và giá trị thực tế ở một số mẫu.</a:t>
            </a:r>
            <a:endParaRPr lang="en-US" dirty="0"/>
          </a:p>
          <a:p>
            <a:endParaRPr lang="en-US" dirty="0"/>
          </a:p>
          <a:p>
            <a:r>
              <a:rPr lang="vi-VN" dirty="0"/>
              <a:t>Đối với MLPClassifier,</a:t>
            </a:r>
            <a:r>
              <a:rPr lang="en-US" dirty="0"/>
              <a:t> </a:t>
            </a:r>
            <a:r>
              <a:rPr lang="vi-VN" dirty="0"/>
              <a:t>mô hình phân loại trạng thái gắp tương đối tốt trong phạm vi dữ liệu đã thu thập</a:t>
            </a:r>
          </a:p>
        </p:txBody>
      </p:sp>
      <p:sp>
        <p:nvSpPr>
          <p:cNvPr id="4" name="Slide Number Placeholder 3">
            <a:extLst>
              <a:ext uri="{FF2B5EF4-FFF2-40B4-BE49-F238E27FC236}">
                <a16:creationId xmlns:a16="http://schemas.microsoft.com/office/drawing/2014/main" id="{BF23AD0F-AA2E-1CC0-2E46-F564703BC377}"/>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3221656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79625-52B6-4A49-9352-32C4501472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1F27CC-EBA2-90BA-EE11-F61B5107004B}"/>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BAC59A11-B42A-905F-1DE5-3FF1649372B1}"/>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E3D11C1B-D089-81FE-B4CC-9398619C3E57}"/>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31404102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00DCA-CC91-0520-39C9-75D607DEB2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A26AFD-F755-34FB-1DA6-0971DF26B8CA}"/>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D7FE8E62-F8E4-4132-5161-FE1DF98216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Kết quả này cho thấy hệ thống có khả năng phát hiện trượt và tự điều chỉnh để giữ vật ổn định</a:t>
            </a:r>
          </a:p>
          <a:p>
            <a:endParaRPr lang="vi-VN" dirty="0"/>
          </a:p>
        </p:txBody>
      </p:sp>
      <p:sp>
        <p:nvSpPr>
          <p:cNvPr id="4" name="Slide Number Placeholder 3">
            <a:extLst>
              <a:ext uri="{FF2B5EF4-FFF2-40B4-BE49-F238E27FC236}">
                <a16:creationId xmlns:a16="http://schemas.microsoft.com/office/drawing/2014/main" id="{9C93077D-5EBC-39CE-7A68-AC684C6E8A30}"/>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9503315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3E770-892B-6697-55D2-8B831524EC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F24901-CB85-1F84-7DF4-C5065221FF9B}"/>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02CB3518-B7BD-10D7-59E3-CF243CD099F4}"/>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305405B5-E66D-D09C-D945-999E3083629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22369281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085F0-B6B2-6919-8270-59F8244067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C44B03-BFE0-869F-E7AC-CC3AB55F90DC}"/>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A365A4EF-B21A-6091-E7DE-0E8C558D6DF5}"/>
              </a:ext>
            </a:extLst>
          </p:cNvPr>
          <p:cNvSpPr>
            <a:spLocks noGrp="1"/>
          </p:cNvSpPr>
          <p:nvPr>
            <p:ph type="body" idx="1"/>
          </p:nvPr>
        </p:nvSpPr>
        <p:spPr/>
        <p:txBody>
          <a:bodyPr/>
          <a:lstStyle/>
          <a:p>
            <a:r>
              <a:rPr lang="vi-VN" dirty="0"/>
              <a:t>Với vật dạng trụ như bottle, kết quả này cho thấy hệ thống vẫn có thể thích nghi và giữ vật ổn định sau khi điều chỉnh</a:t>
            </a:r>
          </a:p>
        </p:txBody>
      </p:sp>
      <p:sp>
        <p:nvSpPr>
          <p:cNvPr id="4" name="Slide Number Placeholder 3">
            <a:extLst>
              <a:ext uri="{FF2B5EF4-FFF2-40B4-BE49-F238E27FC236}">
                <a16:creationId xmlns:a16="http://schemas.microsoft.com/office/drawing/2014/main" id="{3DD82718-D4B4-A07F-02AA-465F2604857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5504412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1A24E-E882-4810-DAA3-41F72510C7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EABA6-E811-4714-AE55-D2883C9333AA}"/>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43327FC6-A06B-B481-1800-C18D7603B9D8}"/>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1C7D1922-E364-C38B-5161-34198429E1F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10097339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DB773-C895-EBBB-B1A6-02F2A3F75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7321C0-1817-4D3D-B3C7-5016F8C835CE}"/>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BDDCAABD-43A9-7058-E9EC-D9F6444F8214}"/>
              </a:ext>
            </a:extLst>
          </p:cNvPr>
          <p:cNvSpPr>
            <a:spLocks noGrp="1"/>
          </p:cNvSpPr>
          <p:nvPr>
            <p:ph type="body" idx="1"/>
          </p:nvPr>
        </p:nvSpPr>
        <p:spPr/>
        <p:txBody>
          <a:bodyPr/>
          <a:lstStyle/>
          <a:p>
            <a:r>
              <a:rPr lang="vi-VN" dirty="0"/>
              <a:t>Kết quả này cho thấy hệ thống không chỉ tăng lực khi vật bị trượt, mà còn có thể giảm lực khi phát hiện quá lực, giúp hạn chế nguy cơ làm biến dạng vật thể</a:t>
            </a:r>
          </a:p>
        </p:txBody>
      </p:sp>
      <p:sp>
        <p:nvSpPr>
          <p:cNvPr id="4" name="Slide Number Placeholder 3">
            <a:extLst>
              <a:ext uri="{FF2B5EF4-FFF2-40B4-BE49-F238E27FC236}">
                <a16:creationId xmlns:a16="http://schemas.microsoft.com/office/drawing/2014/main" id="{76967C0C-E518-53E3-4B71-FF5203D43B2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10136604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C8AB5-4DB6-5A1C-68B6-5284D94C62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A3B561-0181-A168-3729-2DA7302D5584}"/>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FA378857-214F-43C4-748C-9571016D683F}"/>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DD3BA9F8-8FC2-C159-CBB1-2B26FB546CC7}"/>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9417036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45AEE-776F-A400-A4B7-3190462F7F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61FC5-ECB0-3848-D16D-097305456171}"/>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0B7F9588-BC5A-9BDC-7C5F-76E30DBB36E1}"/>
              </a:ext>
            </a:extLst>
          </p:cNvPr>
          <p:cNvSpPr>
            <a:spLocks noGrp="1"/>
          </p:cNvSpPr>
          <p:nvPr>
            <p:ph type="body" idx="1"/>
          </p:nvPr>
        </p:nvSpPr>
        <p:spPr/>
        <p:txBody>
          <a:bodyPr/>
          <a:lstStyle/>
          <a:p>
            <a:r>
              <a:rPr lang="vi-VN" dirty="0"/>
              <a:t>Điểm quan trọng là hệ thống không chỉ gắp theo giá trị cố định, mà có thể điều chỉnh dựa trên phản hồi thực tế từ cảm biến</a:t>
            </a:r>
          </a:p>
        </p:txBody>
      </p:sp>
      <p:sp>
        <p:nvSpPr>
          <p:cNvPr id="4" name="Slide Number Placeholder 3">
            <a:extLst>
              <a:ext uri="{FF2B5EF4-FFF2-40B4-BE49-F238E27FC236}">
                <a16:creationId xmlns:a16="http://schemas.microsoft.com/office/drawing/2014/main" id="{9CA34237-DD9A-C173-9D15-6D5ABD4472E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18680924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AC42F-9FD8-45D3-84E8-AEC32B377E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D8B904-43A4-4915-B882-3EA9A70ED8B2}"/>
              </a:ext>
            </a:extLst>
          </p:cNvPr>
          <p:cNvSpPr>
            <a:spLocks noGrp="1" noRot="1" noChangeAspect="1"/>
          </p:cNvSpPr>
          <p:nvPr>
            <p:ph type="sldImg"/>
          </p:nvPr>
        </p:nvSpPr>
        <p:spPr/>
        <p:txBody>
          <a:bodyPr/>
          <a:lstStyle/>
          <a:p>
            <a:endParaRPr lang="vi-VN"/>
          </a:p>
        </p:txBody>
      </p:sp>
      <p:sp>
        <p:nvSpPr>
          <p:cNvPr id="3" name="Notes Placeholder 2">
            <a:extLst>
              <a:ext uri="{FF2B5EF4-FFF2-40B4-BE49-F238E27FC236}">
                <a16:creationId xmlns:a16="http://schemas.microsoft.com/office/drawing/2014/main" id="{E3FCDFD9-240F-01A3-A0F0-ADC1DC9D68ED}"/>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86499606-60CA-4D18-CDAC-36015B5C8082}"/>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763CD2-8695-4F90-B9A3-3330CBF54B06}" type="slidenum">
              <a:rPr kumimoji="0" lang="en-US" sz="1300" b="0" i="0" u="none" strike="noStrike" kern="1200" cap="none" spc="0" normalizeH="0" baseline="0" noProof="0" smtClean="0">
                <a:ln>
                  <a:noFill/>
                </a:ln>
                <a:solidFill>
                  <a:srgbClr val="000000"/>
                </a:solidFill>
                <a:effectLst/>
                <a:uLnTx/>
                <a:uFillTx/>
                <a:latin typeface="Gill Sans" charset="0"/>
                <a:sym typeface="Gill Sans" charset="0"/>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sz="1300" b="0" i="0" u="none" strike="noStrike" kern="1200" cap="none" spc="0" normalizeH="0" baseline="0" noProof="0">
              <a:ln>
                <a:noFill/>
              </a:ln>
              <a:solidFill>
                <a:srgbClr val="000000"/>
              </a:solidFill>
              <a:effectLst/>
              <a:uLnTx/>
              <a:uFillTx/>
              <a:latin typeface="Gill Sans" charset="0"/>
              <a:sym typeface="Gill Sans" charset="0"/>
            </a:endParaRPr>
          </a:p>
        </p:txBody>
      </p:sp>
    </p:spTree>
    <p:extLst>
      <p:ext uri="{BB962C8B-B14F-4D97-AF65-F5344CB8AC3E}">
        <p14:creationId xmlns:p14="http://schemas.microsoft.com/office/powerpoint/2010/main" val="2781964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a:prstGeom prst="rect">
            <a:avLst/>
          </a:prstGeom>
        </p:spPr>
        <p:txBody>
          <a:bodyPr lIns="34290" tIns="17145" rIns="34290" bIns="17145"/>
          <a:lstStyle/>
          <a:p>
            <a:r>
              <a:rPr lang="en-US"/>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lIns="34290" tIns="17145" rIns="34290" bIns="17145"/>
          <a:lstStyle>
            <a:lvl1pPr marL="0" indent="0" algn="ctr">
              <a:buNone/>
              <a:defRPr/>
            </a:lvl1pPr>
            <a:lvl2pPr marL="228594" indent="0" algn="ctr">
              <a:buNone/>
              <a:defRPr/>
            </a:lvl2pPr>
            <a:lvl3pPr marL="457189" indent="0" algn="ctr">
              <a:buNone/>
              <a:defRPr/>
            </a:lvl3pPr>
            <a:lvl4pPr marL="685783" indent="0" algn="ctr">
              <a:buNone/>
              <a:defRPr/>
            </a:lvl4pPr>
            <a:lvl5pPr marL="914377" indent="0" algn="ctr">
              <a:buNone/>
              <a:defRPr/>
            </a:lvl5pPr>
            <a:lvl6pPr marL="1142971" indent="0" algn="ctr">
              <a:buNone/>
              <a:defRPr/>
            </a:lvl6pPr>
            <a:lvl7pPr marL="1371566" indent="0" algn="ctr">
              <a:buNone/>
              <a:defRPr/>
            </a:lvl7pPr>
            <a:lvl8pPr marL="1600160" indent="0" algn="ctr">
              <a:buNone/>
              <a:defRPr/>
            </a:lvl8pPr>
            <a:lvl9pPr marL="1828754" indent="0" algn="ctr">
              <a:buNone/>
              <a:defRPr/>
            </a:lvl9pPr>
          </a:lstStyle>
          <a:p>
            <a:r>
              <a:rPr lang="en-US"/>
              <a:t>Click to edit Master subtitle style</a:t>
            </a:r>
          </a:p>
        </p:txBody>
      </p:sp>
    </p:spTree>
    <p:extLst>
      <p:ext uri="{BB962C8B-B14F-4D97-AF65-F5344CB8AC3E}">
        <p14:creationId xmlns:p14="http://schemas.microsoft.com/office/powerpoint/2010/main" val="106049808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7"/>
            <a:ext cx="10972800" cy="1143000"/>
          </a:xfrm>
          <a:prstGeom prst="rect">
            <a:avLst/>
          </a:prstGeom>
        </p:spPr>
        <p:txBody>
          <a:bodyPr lIns="34290" tIns="17145" rIns="34290" bIns="17145"/>
          <a:lstStyle/>
          <a:p>
            <a:r>
              <a:rPr lang="en-US"/>
              <a:t>Click to edit Master title style</a:t>
            </a:r>
          </a:p>
        </p:txBody>
      </p:sp>
      <p:sp>
        <p:nvSpPr>
          <p:cNvPr id="3" name="Content Placeholder 2"/>
          <p:cNvSpPr>
            <a:spLocks noGrp="1"/>
          </p:cNvSpPr>
          <p:nvPr>
            <p:ph idx="1"/>
          </p:nvPr>
        </p:nvSpPr>
        <p:spPr>
          <a:xfrm>
            <a:off x="609600" y="1600201"/>
            <a:ext cx="10972800" cy="4525963"/>
          </a:xfrm>
          <a:prstGeom prst="rect">
            <a:avLst/>
          </a:prstGeom>
        </p:spPr>
        <p:txBody>
          <a:bodyPr lIns="34290" tIns="17145" rIns="34290" bIns="17145"/>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55691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19" y="4406901"/>
            <a:ext cx="10363200" cy="1362075"/>
          </a:xfrm>
          <a:prstGeom prst="rect">
            <a:avLst/>
          </a:prstGeom>
        </p:spPr>
        <p:txBody>
          <a:bodyPr lIns="34290" tIns="17145" rIns="34290" bIns="17145" anchor="t"/>
          <a:lstStyle>
            <a:lvl1pPr algn="l">
              <a:defRPr sz="2000" b="1" cap="all"/>
            </a:lvl1pPr>
          </a:lstStyle>
          <a:p>
            <a:r>
              <a:rPr lang="en-US"/>
              <a:t>Click to edit Master title style</a:t>
            </a:r>
          </a:p>
        </p:txBody>
      </p:sp>
      <p:sp>
        <p:nvSpPr>
          <p:cNvPr id="3" name="Text Placeholder 2"/>
          <p:cNvSpPr>
            <a:spLocks noGrp="1"/>
          </p:cNvSpPr>
          <p:nvPr>
            <p:ph type="body" idx="1"/>
          </p:nvPr>
        </p:nvSpPr>
        <p:spPr>
          <a:xfrm>
            <a:off x="962819" y="2906715"/>
            <a:ext cx="10363200" cy="1500188"/>
          </a:xfrm>
          <a:prstGeom prst="rect">
            <a:avLst/>
          </a:prstGeom>
        </p:spPr>
        <p:txBody>
          <a:bodyPr lIns="34290" tIns="17145" rIns="34290" bIns="17145" anchor="b"/>
          <a:lstStyle>
            <a:lvl1pPr marL="0" indent="0">
              <a:buNone/>
              <a:defRPr sz="1067"/>
            </a:lvl1pPr>
            <a:lvl2pPr marL="228594" indent="0">
              <a:buNone/>
              <a:defRPr sz="933"/>
            </a:lvl2pPr>
            <a:lvl3pPr marL="457189" indent="0">
              <a:buNone/>
              <a:defRPr sz="800"/>
            </a:lvl3pPr>
            <a:lvl4pPr marL="685783" indent="0">
              <a:buNone/>
              <a:defRPr sz="667"/>
            </a:lvl4pPr>
            <a:lvl5pPr marL="914377" indent="0">
              <a:buNone/>
              <a:defRPr sz="667"/>
            </a:lvl5pPr>
            <a:lvl6pPr marL="1142971" indent="0">
              <a:buNone/>
              <a:defRPr sz="667"/>
            </a:lvl6pPr>
            <a:lvl7pPr marL="1371566" indent="0">
              <a:buNone/>
              <a:defRPr sz="667"/>
            </a:lvl7pPr>
            <a:lvl8pPr marL="1600160" indent="0">
              <a:buNone/>
              <a:defRPr sz="667"/>
            </a:lvl8pPr>
            <a:lvl9pPr marL="1828754" indent="0">
              <a:buNone/>
              <a:defRPr sz="667"/>
            </a:lvl9pPr>
          </a:lstStyle>
          <a:p>
            <a:pPr lvl="0"/>
            <a:r>
              <a:rPr lang="en-US"/>
              <a:t>Click to edit Master text styles</a:t>
            </a:r>
          </a:p>
        </p:txBody>
      </p:sp>
    </p:spTree>
    <p:extLst>
      <p:ext uri="{BB962C8B-B14F-4D97-AF65-F5344CB8AC3E}">
        <p14:creationId xmlns:p14="http://schemas.microsoft.com/office/powerpoint/2010/main" val="3932080928"/>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7"/>
            <a:ext cx="10972800" cy="1143000"/>
          </a:xfrm>
          <a:prstGeom prst="rect">
            <a:avLst/>
          </a:prstGeom>
        </p:spPr>
        <p:txBody>
          <a:bodyPr lIns="34290" tIns="17145" rIns="34290" bIns="17145"/>
          <a:lstStyle/>
          <a:p>
            <a:r>
              <a:rPr lang="en-US"/>
              <a:t>Click to edit Master title style</a:t>
            </a:r>
          </a:p>
        </p:txBody>
      </p:sp>
      <p:sp>
        <p:nvSpPr>
          <p:cNvPr id="3" name="Content Placeholder 2"/>
          <p:cNvSpPr>
            <a:spLocks noGrp="1"/>
          </p:cNvSpPr>
          <p:nvPr>
            <p:ph sz="half" idx="1"/>
          </p:nvPr>
        </p:nvSpPr>
        <p:spPr>
          <a:xfrm>
            <a:off x="609609" y="1600201"/>
            <a:ext cx="5448300" cy="4525963"/>
          </a:xfrm>
          <a:prstGeom prst="rect">
            <a:avLst/>
          </a:prstGeom>
        </p:spPr>
        <p:txBody>
          <a:bodyPr lIns="34290" tIns="17145" rIns="34290" bIns="17145"/>
          <a:lstStyle>
            <a:lvl1pPr>
              <a:defRPr sz="1467"/>
            </a:lvl1pPr>
            <a:lvl2pPr>
              <a:defRPr sz="1200"/>
            </a:lvl2pPr>
            <a:lvl3pPr>
              <a:defRPr sz="1067"/>
            </a:lvl3pPr>
            <a:lvl4pPr>
              <a:defRPr sz="933"/>
            </a:lvl4pPr>
            <a:lvl5pPr>
              <a:defRPr sz="933"/>
            </a:lvl5pPr>
            <a:lvl6pPr>
              <a:defRPr sz="933"/>
            </a:lvl6pPr>
            <a:lvl7pPr>
              <a:defRPr sz="933"/>
            </a:lvl7pPr>
            <a:lvl8pPr>
              <a:defRPr sz="933"/>
            </a:lvl8pPr>
            <a:lvl9pPr>
              <a:defRPr sz="9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34109" y="1600201"/>
            <a:ext cx="5448300" cy="4525963"/>
          </a:xfrm>
          <a:prstGeom prst="rect">
            <a:avLst/>
          </a:prstGeom>
        </p:spPr>
        <p:txBody>
          <a:bodyPr lIns="34290" tIns="17145" rIns="34290" bIns="17145"/>
          <a:lstStyle>
            <a:lvl1pPr>
              <a:defRPr sz="1467"/>
            </a:lvl1pPr>
            <a:lvl2pPr>
              <a:defRPr sz="1200"/>
            </a:lvl2pPr>
            <a:lvl3pPr>
              <a:defRPr sz="1067"/>
            </a:lvl3pPr>
            <a:lvl4pPr>
              <a:defRPr sz="933"/>
            </a:lvl4pPr>
            <a:lvl5pPr>
              <a:defRPr sz="933"/>
            </a:lvl5pPr>
            <a:lvl6pPr>
              <a:defRPr sz="933"/>
            </a:lvl6pPr>
            <a:lvl7pPr>
              <a:defRPr sz="933"/>
            </a:lvl7pPr>
            <a:lvl8pPr>
              <a:defRPr sz="933"/>
            </a:lvl8pPr>
            <a:lvl9pPr>
              <a:defRPr sz="9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8080336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7"/>
            <a:ext cx="10972800" cy="1143000"/>
          </a:xfrm>
          <a:prstGeom prst="rect">
            <a:avLst/>
          </a:prstGeom>
        </p:spPr>
        <p:txBody>
          <a:bodyPr lIns="34290" tIns="17145" rIns="34290" bIns="17145"/>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7181" cy="639763"/>
          </a:xfrm>
          <a:prstGeom prst="rect">
            <a:avLst/>
          </a:prstGeom>
        </p:spPr>
        <p:txBody>
          <a:bodyPr lIns="34290" tIns="17145" rIns="34290" bIns="17145" anchor="b"/>
          <a:lstStyle>
            <a:lvl1pPr marL="0" indent="0">
              <a:buNone/>
              <a:defRPr sz="1200" b="1"/>
            </a:lvl1pPr>
            <a:lvl2pPr marL="228594" indent="0">
              <a:buNone/>
              <a:defRPr sz="1067" b="1"/>
            </a:lvl2pPr>
            <a:lvl3pPr marL="457189" indent="0">
              <a:buNone/>
              <a:defRPr sz="933" b="1"/>
            </a:lvl3pPr>
            <a:lvl4pPr marL="685783" indent="0">
              <a:buNone/>
              <a:defRPr sz="800" b="1"/>
            </a:lvl4pPr>
            <a:lvl5pPr marL="914377" indent="0">
              <a:buNone/>
              <a:defRPr sz="800" b="1"/>
            </a:lvl5pPr>
            <a:lvl6pPr marL="1142971" indent="0">
              <a:buNone/>
              <a:defRPr sz="800" b="1"/>
            </a:lvl6pPr>
            <a:lvl7pPr marL="1371566" indent="0">
              <a:buNone/>
              <a:defRPr sz="800" b="1"/>
            </a:lvl7pPr>
            <a:lvl8pPr marL="1600160" indent="0">
              <a:buNone/>
              <a:defRPr sz="800" b="1"/>
            </a:lvl8pPr>
            <a:lvl9pPr marL="1828754" indent="0">
              <a:buNone/>
              <a:defRPr sz="800" b="1"/>
            </a:lvl9pPr>
          </a:lstStyle>
          <a:p>
            <a:pPr lvl="0"/>
            <a:r>
              <a:rPr lang="en-US"/>
              <a:t>Click to edit Master text styles</a:t>
            </a:r>
          </a:p>
        </p:txBody>
      </p:sp>
      <p:sp>
        <p:nvSpPr>
          <p:cNvPr id="4" name="Content Placeholder 3"/>
          <p:cNvSpPr>
            <a:spLocks noGrp="1"/>
          </p:cNvSpPr>
          <p:nvPr>
            <p:ph sz="half" idx="2"/>
          </p:nvPr>
        </p:nvSpPr>
        <p:spPr>
          <a:xfrm>
            <a:off x="609600" y="2174875"/>
            <a:ext cx="5387181" cy="3951288"/>
          </a:xfrm>
          <a:prstGeom prst="rect">
            <a:avLst/>
          </a:prstGeom>
        </p:spPr>
        <p:txBody>
          <a:bodyPr lIns="34290" tIns="17145" rIns="34290" bIns="17145"/>
          <a:lstStyle>
            <a:lvl1pPr>
              <a:defRPr sz="1200"/>
            </a:lvl1pPr>
            <a:lvl2pPr>
              <a:defRPr sz="1067"/>
            </a:lvl2pPr>
            <a:lvl3pPr>
              <a:defRPr sz="933"/>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632" y="1535113"/>
            <a:ext cx="5388768" cy="639763"/>
          </a:xfrm>
          <a:prstGeom prst="rect">
            <a:avLst/>
          </a:prstGeom>
        </p:spPr>
        <p:txBody>
          <a:bodyPr lIns="34290" tIns="17145" rIns="34290" bIns="17145" anchor="b"/>
          <a:lstStyle>
            <a:lvl1pPr marL="0" indent="0">
              <a:buNone/>
              <a:defRPr sz="1200" b="1"/>
            </a:lvl1pPr>
            <a:lvl2pPr marL="228594" indent="0">
              <a:buNone/>
              <a:defRPr sz="1067" b="1"/>
            </a:lvl2pPr>
            <a:lvl3pPr marL="457189" indent="0">
              <a:buNone/>
              <a:defRPr sz="933" b="1"/>
            </a:lvl3pPr>
            <a:lvl4pPr marL="685783" indent="0">
              <a:buNone/>
              <a:defRPr sz="800" b="1"/>
            </a:lvl4pPr>
            <a:lvl5pPr marL="914377" indent="0">
              <a:buNone/>
              <a:defRPr sz="800" b="1"/>
            </a:lvl5pPr>
            <a:lvl6pPr marL="1142971" indent="0">
              <a:buNone/>
              <a:defRPr sz="800" b="1"/>
            </a:lvl6pPr>
            <a:lvl7pPr marL="1371566" indent="0">
              <a:buNone/>
              <a:defRPr sz="800" b="1"/>
            </a:lvl7pPr>
            <a:lvl8pPr marL="1600160" indent="0">
              <a:buNone/>
              <a:defRPr sz="800" b="1"/>
            </a:lvl8pPr>
            <a:lvl9pPr marL="1828754" indent="0">
              <a:buNone/>
              <a:defRPr sz="800" b="1"/>
            </a:lvl9pPr>
          </a:lstStyle>
          <a:p>
            <a:pPr lvl="0"/>
            <a:r>
              <a:rPr lang="en-US"/>
              <a:t>Click to edit Master text styles</a:t>
            </a:r>
          </a:p>
        </p:txBody>
      </p:sp>
      <p:sp>
        <p:nvSpPr>
          <p:cNvPr id="6" name="Content Placeholder 5"/>
          <p:cNvSpPr>
            <a:spLocks noGrp="1"/>
          </p:cNvSpPr>
          <p:nvPr>
            <p:ph sz="quarter" idx="4"/>
          </p:nvPr>
        </p:nvSpPr>
        <p:spPr>
          <a:xfrm>
            <a:off x="6193632" y="2174875"/>
            <a:ext cx="5388768" cy="3951288"/>
          </a:xfrm>
          <a:prstGeom prst="rect">
            <a:avLst/>
          </a:prstGeom>
        </p:spPr>
        <p:txBody>
          <a:bodyPr lIns="34290" tIns="17145" rIns="34290" bIns="17145"/>
          <a:lstStyle>
            <a:lvl1pPr>
              <a:defRPr sz="1200"/>
            </a:lvl1pPr>
            <a:lvl2pPr>
              <a:defRPr sz="1067"/>
            </a:lvl2pPr>
            <a:lvl3pPr>
              <a:defRPr sz="933"/>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341762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7"/>
            <a:ext cx="10972800" cy="1143000"/>
          </a:xfrm>
          <a:prstGeom prst="rect">
            <a:avLst/>
          </a:prstGeom>
        </p:spPr>
        <p:txBody>
          <a:bodyPr lIns="34290" tIns="17145" rIns="34290" bIns="17145"/>
          <a:lstStyle/>
          <a:p>
            <a:r>
              <a:rPr lang="en-US"/>
              <a:t>Click to edit Master title style</a:t>
            </a:r>
          </a:p>
        </p:txBody>
      </p:sp>
    </p:spTree>
    <p:extLst>
      <p:ext uri="{BB962C8B-B14F-4D97-AF65-F5344CB8AC3E}">
        <p14:creationId xmlns:p14="http://schemas.microsoft.com/office/powerpoint/2010/main" val="168750783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326016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49"/>
            <a:ext cx="4010819" cy="1162051"/>
          </a:xfrm>
          <a:prstGeom prst="rect">
            <a:avLst/>
          </a:prstGeom>
        </p:spPr>
        <p:txBody>
          <a:bodyPr lIns="34290" tIns="17145" rIns="34290" bIns="17145" anchor="b"/>
          <a:lstStyle>
            <a:lvl1pPr algn="l">
              <a:defRPr sz="1067" b="1"/>
            </a:lvl1pPr>
          </a:lstStyle>
          <a:p>
            <a:r>
              <a:rPr lang="en-US"/>
              <a:t>Click to edit Master title style</a:t>
            </a:r>
          </a:p>
        </p:txBody>
      </p:sp>
      <p:sp>
        <p:nvSpPr>
          <p:cNvPr id="3" name="Content Placeholder 2"/>
          <p:cNvSpPr>
            <a:spLocks noGrp="1"/>
          </p:cNvSpPr>
          <p:nvPr>
            <p:ph idx="1"/>
          </p:nvPr>
        </p:nvSpPr>
        <p:spPr>
          <a:xfrm>
            <a:off x="4766469" y="273051"/>
            <a:ext cx="6815931" cy="5853112"/>
          </a:xfrm>
          <a:prstGeom prst="rect">
            <a:avLst/>
          </a:prstGeom>
        </p:spPr>
        <p:txBody>
          <a:bodyPr lIns="34290" tIns="17145" rIns="34290" bIns="17145"/>
          <a:lstStyle>
            <a:lvl1pPr>
              <a:defRPr sz="1600"/>
            </a:lvl1pPr>
            <a:lvl2pPr>
              <a:defRPr sz="1467"/>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1435104"/>
            <a:ext cx="4010819" cy="4691063"/>
          </a:xfrm>
          <a:prstGeom prst="rect">
            <a:avLst/>
          </a:prstGeom>
        </p:spPr>
        <p:txBody>
          <a:bodyPr lIns="34290" tIns="17145" rIns="34290" bIns="17145"/>
          <a:lstStyle>
            <a:lvl1pPr marL="0" indent="0">
              <a:buNone/>
              <a:defRPr sz="667"/>
            </a:lvl1pPr>
            <a:lvl2pPr marL="228594" indent="0">
              <a:buNone/>
              <a:defRPr sz="667"/>
            </a:lvl2pPr>
            <a:lvl3pPr marL="457189" indent="0">
              <a:buNone/>
              <a:defRPr sz="533"/>
            </a:lvl3pPr>
            <a:lvl4pPr marL="685783" indent="0">
              <a:buNone/>
              <a:defRPr sz="400"/>
            </a:lvl4pPr>
            <a:lvl5pPr marL="914377" indent="0">
              <a:buNone/>
              <a:defRPr sz="400"/>
            </a:lvl5pPr>
            <a:lvl6pPr marL="1142971" indent="0">
              <a:buNone/>
              <a:defRPr sz="400"/>
            </a:lvl6pPr>
            <a:lvl7pPr marL="1371566" indent="0">
              <a:buNone/>
              <a:defRPr sz="400"/>
            </a:lvl7pPr>
            <a:lvl8pPr marL="1600160" indent="0">
              <a:buNone/>
              <a:defRPr sz="400"/>
            </a:lvl8pPr>
            <a:lvl9pPr marL="1828754" indent="0">
              <a:buNone/>
              <a:defRPr sz="400"/>
            </a:lvl9pPr>
          </a:lstStyle>
          <a:p>
            <a:pPr lvl="0"/>
            <a:r>
              <a:rPr lang="en-US"/>
              <a:t>Click to edit Master text styles</a:t>
            </a:r>
          </a:p>
        </p:txBody>
      </p:sp>
    </p:spTree>
    <p:extLst>
      <p:ext uri="{BB962C8B-B14F-4D97-AF65-F5344CB8AC3E}">
        <p14:creationId xmlns:p14="http://schemas.microsoft.com/office/powerpoint/2010/main" val="405444195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981" y="4800605"/>
            <a:ext cx="7315200" cy="566737"/>
          </a:xfrm>
          <a:prstGeom prst="rect">
            <a:avLst/>
          </a:prstGeom>
        </p:spPr>
        <p:txBody>
          <a:bodyPr lIns="34290" tIns="17145" rIns="34290" bIns="17145" anchor="b"/>
          <a:lstStyle>
            <a:lvl1pPr algn="l">
              <a:defRPr sz="1067" b="1"/>
            </a:lvl1pPr>
          </a:lstStyle>
          <a:p>
            <a:r>
              <a:rPr lang="en-US"/>
              <a:t>Click to edit Master title style</a:t>
            </a:r>
          </a:p>
        </p:txBody>
      </p:sp>
      <p:sp>
        <p:nvSpPr>
          <p:cNvPr id="3" name="Picture Placeholder 2"/>
          <p:cNvSpPr>
            <a:spLocks noGrp="1"/>
          </p:cNvSpPr>
          <p:nvPr>
            <p:ph type="pic" idx="1"/>
          </p:nvPr>
        </p:nvSpPr>
        <p:spPr>
          <a:xfrm>
            <a:off x="2389981" y="612775"/>
            <a:ext cx="7315200" cy="4114800"/>
          </a:xfrm>
          <a:prstGeom prst="rect">
            <a:avLst/>
          </a:prstGeom>
        </p:spPr>
        <p:txBody>
          <a:bodyPr lIns="34290" tIns="17145" rIns="34290" bIns="17145"/>
          <a:lstStyle>
            <a:lvl1pPr marL="0" indent="0">
              <a:buNone/>
              <a:defRPr sz="1600"/>
            </a:lvl1pPr>
            <a:lvl2pPr marL="228594" indent="0">
              <a:buNone/>
              <a:defRPr sz="1467"/>
            </a:lvl2pPr>
            <a:lvl3pPr marL="457189" indent="0">
              <a:buNone/>
              <a:defRPr sz="1200"/>
            </a:lvl3pPr>
            <a:lvl4pPr marL="685783" indent="0">
              <a:buNone/>
              <a:defRPr sz="1067"/>
            </a:lvl4pPr>
            <a:lvl5pPr marL="914377" indent="0">
              <a:buNone/>
              <a:defRPr sz="1067"/>
            </a:lvl5pPr>
            <a:lvl6pPr marL="1142971" indent="0">
              <a:buNone/>
              <a:defRPr sz="1067"/>
            </a:lvl6pPr>
            <a:lvl7pPr marL="1371566" indent="0">
              <a:buNone/>
              <a:defRPr sz="1067"/>
            </a:lvl7pPr>
            <a:lvl8pPr marL="1600160" indent="0">
              <a:buNone/>
              <a:defRPr sz="1067"/>
            </a:lvl8pPr>
            <a:lvl9pPr marL="1828754" indent="0">
              <a:buNone/>
              <a:defRPr sz="1067"/>
            </a:lvl9pPr>
          </a:lstStyle>
          <a:p>
            <a:pPr lvl="0"/>
            <a:endParaRPr lang="en-US" noProof="0">
              <a:sym typeface="Calibri" charset="0"/>
            </a:endParaRPr>
          </a:p>
        </p:txBody>
      </p:sp>
      <p:sp>
        <p:nvSpPr>
          <p:cNvPr id="4" name="Text Placeholder 3"/>
          <p:cNvSpPr>
            <a:spLocks noGrp="1"/>
          </p:cNvSpPr>
          <p:nvPr>
            <p:ph type="body" sz="half" idx="2"/>
          </p:nvPr>
        </p:nvSpPr>
        <p:spPr>
          <a:xfrm>
            <a:off x="2389981" y="5367342"/>
            <a:ext cx="7315200" cy="804863"/>
          </a:xfrm>
          <a:prstGeom prst="rect">
            <a:avLst/>
          </a:prstGeom>
        </p:spPr>
        <p:txBody>
          <a:bodyPr lIns="34290" tIns="17145" rIns="34290" bIns="17145"/>
          <a:lstStyle>
            <a:lvl1pPr marL="0" indent="0">
              <a:buNone/>
              <a:defRPr sz="667"/>
            </a:lvl1pPr>
            <a:lvl2pPr marL="228594" indent="0">
              <a:buNone/>
              <a:defRPr sz="667"/>
            </a:lvl2pPr>
            <a:lvl3pPr marL="457189" indent="0">
              <a:buNone/>
              <a:defRPr sz="533"/>
            </a:lvl3pPr>
            <a:lvl4pPr marL="685783" indent="0">
              <a:buNone/>
              <a:defRPr sz="400"/>
            </a:lvl4pPr>
            <a:lvl5pPr marL="914377" indent="0">
              <a:buNone/>
              <a:defRPr sz="400"/>
            </a:lvl5pPr>
            <a:lvl6pPr marL="1142971" indent="0">
              <a:buNone/>
              <a:defRPr sz="400"/>
            </a:lvl6pPr>
            <a:lvl7pPr marL="1371566" indent="0">
              <a:buNone/>
              <a:defRPr sz="400"/>
            </a:lvl7pPr>
            <a:lvl8pPr marL="1600160" indent="0">
              <a:buNone/>
              <a:defRPr sz="400"/>
            </a:lvl8pPr>
            <a:lvl9pPr marL="1828754" indent="0">
              <a:buNone/>
              <a:defRPr sz="400"/>
            </a:lvl9pPr>
          </a:lstStyle>
          <a:p>
            <a:pPr lvl="0"/>
            <a:r>
              <a:rPr lang="en-US"/>
              <a:t>Click to edit Master text styles</a:t>
            </a:r>
          </a:p>
        </p:txBody>
      </p:sp>
    </p:spTree>
    <p:extLst>
      <p:ext uri="{BB962C8B-B14F-4D97-AF65-F5344CB8AC3E}">
        <p14:creationId xmlns:p14="http://schemas.microsoft.com/office/powerpoint/2010/main" val="325251844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7"/>
            <a:ext cx="10972800" cy="1143000"/>
          </a:xfrm>
          <a:prstGeom prst="rect">
            <a:avLst/>
          </a:prstGeom>
        </p:spPr>
        <p:txBody>
          <a:bodyPr lIns="34290" tIns="17145" rIns="34290" bIns="17145"/>
          <a:lstStyle/>
          <a:p>
            <a:r>
              <a:rPr lang="en-US"/>
              <a:t>Click to edit Master title style</a:t>
            </a:r>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lIns="34290" tIns="17145" rIns="34290" bIns="17145"/>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316009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a:prstGeom prst="rect">
            <a:avLst/>
          </a:prstGeom>
        </p:spPr>
        <p:txBody>
          <a:bodyPr vert="eaVert" lIns="34290" tIns="17145" rIns="34290" bIns="17145"/>
          <a:lstStyle/>
          <a:p>
            <a:r>
              <a:rPr lang="en-US"/>
              <a:t>Click to edit Master title style</a:t>
            </a:r>
          </a:p>
        </p:txBody>
      </p:sp>
      <p:sp>
        <p:nvSpPr>
          <p:cNvPr id="3" name="Vertical Text Placeholder 2"/>
          <p:cNvSpPr>
            <a:spLocks noGrp="1"/>
          </p:cNvSpPr>
          <p:nvPr>
            <p:ph type="body" orient="vert" idx="1"/>
          </p:nvPr>
        </p:nvSpPr>
        <p:spPr>
          <a:xfrm>
            <a:off x="609600" y="274640"/>
            <a:ext cx="8153400" cy="5851525"/>
          </a:xfrm>
          <a:prstGeom prst="rect">
            <a:avLst/>
          </a:prstGeom>
        </p:spPr>
        <p:txBody>
          <a:bodyPr vert="eaVert" lIns="34290" tIns="17145" rIns="34290" bIns="17145"/>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424646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56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5835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hdr="0" ftr="0" dt="0"/>
  <p:txStyles>
    <p:titleStyle>
      <a:lvl1pPr algn="ctr" rtl="0" eaLnBrk="0" fontAlgn="base" hangingPunct="0">
        <a:spcBef>
          <a:spcPct val="0"/>
        </a:spcBef>
        <a:spcAft>
          <a:spcPct val="0"/>
        </a:spcAft>
        <a:defRPr sz="5733">
          <a:solidFill>
            <a:schemeClr val="tx1"/>
          </a:solidFill>
          <a:latin typeface="+mj-lt"/>
          <a:ea typeface="+mj-ea"/>
          <a:cs typeface="+mj-cs"/>
          <a:sym typeface="Calibri" charset="0"/>
        </a:defRPr>
      </a:lvl1pPr>
      <a:lvl2pPr algn="ctr" rtl="0" eaLnBrk="0" fontAlgn="base" hangingPunct="0">
        <a:spcBef>
          <a:spcPct val="0"/>
        </a:spcBef>
        <a:spcAft>
          <a:spcPct val="0"/>
        </a:spcAft>
        <a:defRPr sz="5733">
          <a:solidFill>
            <a:schemeClr val="tx1"/>
          </a:solidFill>
          <a:latin typeface="Calibri" charset="0"/>
          <a:ea typeface="ヒラギノ角ゴ ProN W3" charset="0"/>
          <a:cs typeface="ヒラギノ角ゴ ProN W3" charset="0"/>
          <a:sym typeface="Calibri" charset="0"/>
        </a:defRPr>
      </a:lvl2pPr>
      <a:lvl3pPr algn="ctr" rtl="0" eaLnBrk="0" fontAlgn="base" hangingPunct="0">
        <a:spcBef>
          <a:spcPct val="0"/>
        </a:spcBef>
        <a:spcAft>
          <a:spcPct val="0"/>
        </a:spcAft>
        <a:defRPr sz="5733">
          <a:solidFill>
            <a:schemeClr val="tx1"/>
          </a:solidFill>
          <a:latin typeface="Calibri" charset="0"/>
          <a:ea typeface="ヒラギノ角ゴ ProN W3" charset="0"/>
          <a:cs typeface="ヒラギノ角ゴ ProN W3" charset="0"/>
          <a:sym typeface="Calibri" charset="0"/>
        </a:defRPr>
      </a:lvl3pPr>
      <a:lvl4pPr algn="ctr" rtl="0" eaLnBrk="0" fontAlgn="base" hangingPunct="0">
        <a:spcBef>
          <a:spcPct val="0"/>
        </a:spcBef>
        <a:spcAft>
          <a:spcPct val="0"/>
        </a:spcAft>
        <a:defRPr sz="5733">
          <a:solidFill>
            <a:schemeClr val="tx1"/>
          </a:solidFill>
          <a:latin typeface="Calibri" charset="0"/>
          <a:ea typeface="ヒラギノ角ゴ ProN W3" charset="0"/>
          <a:cs typeface="ヒラギノ角ゴ ProN W3" charset="0"/>
          <a:sym typeface="Calibri" charset="0"/>
        </a:defRPr>
      </a:lvl4pPr>
      <a:lvl5pPr algn="ctr" rtl="0" eaLnBrk="0" fontAlgn="base" hangingPunct="0">
        <a:spcBef>
          <a:spcPct val="0"/>
        </a:spcBef>
        <a:spcAft>
          <a:spcPct val="0"/>
        </a:spcAft>
        <a:defRPr sz="5733">
          <a:solidFill>
            <a:schemeClr val="tx1"/>
          </a:solidFill>
          <a:latin typeface="Calibri" charset="0"/>
          <a:ea typeface="ヒラギノ角ゴ ProN W3" charset="0"/>
          <a:cs typeface="ヒラギノ角ゴ ProN W3" charset="0"/>
          <a:sym typeface="Calibri" charset="0"/>
        </a:defRPr>
      </a:lvl5pPr>
      <a:lvl6pPr marL="228594" algn="ctr" rtl="0" fontAlgn="base">
        <a:spcBef>
          <a:spcPct val="0"/>
        </a:spcBef>
        <a:spcAft>
          <a:spcPct val="0"/>
        </a:spcAft>
        <a:defRPr sz="5733">
          <a:solidFill>
            <a:schemeClr val="tx1"/>
          </a:solidFill>
          <a:latin typeface="Calibri" charset="0"/>
          <a:ea typeface="ヒラギノ角ゴ ProN W3" charset="0"/>
          <a:cs typeface="ヒラギノ角ゴ ProN W3" charset="0"/>
          <a:sym typeface="Calibri" charset="0"/>
        </a:defRPr>
      </a:lvl6pPr>
      <a:lvl7pPr marL="457189" algn="ctr" rtl="0" fontAlgn="base">
        <a:spcBef>
          <a:spcPct val="0"/>
        </a:spcBef>
        <a:spcAft>
          <a:spcPct val="0"/>
        </a:spcAft>
        <a:defRPr sz="5733">
          <a:solidFill>
            <a:schemeClr val="tx1"/>
          </a:solidFill>
          <a:latin typeface="Calibri" charset="0"/>
          <a:ea typeface="ヒラギノ角ゴ ProN W3" charset="0"/>
          <a:cs typeface="ヒラギノ角ゴ ProN W3" charset="0"/>
          <a:sym typeface="Calibri" charset="0"/>
        </a:defRPr>
      </a:lvl7pPr>
      <a:lvl8pPr marL="685783" algn="ctr" rtl="0" fontAlgn="base">
        <a:spcBef>
          <a:spcPct val="0"/>
        </a:spcBef>
        <a:spcAft>
          <a:spcPct val="0"/>
        </a:spcAft>
        <a:defRPr sz="5733">
          <a:solidFill>
            <a:schemeClr val="tx1"/>
          </a:solidFill>
          <a:latin typeface="Calibri" charset="0"/>
          <a:ea typeface="ヒラギノ角ゴ ProN W3" charset="0"/>
          <a:cs typeface="ヒラギノ角ゴ ProN W3" charset="0"/>
          <a:sym typeface="Calibri" charset="0"/>
        </a:defRPr>
      </a:lvl8pPr>
      <a:lvl9pPr marL="914377" algn="ctr" rtl="0" fontAlgn="base">
        <a:spcBef>
          <a:spcPct val="0"/>
        </a:spcBef>
        <a:spcAft>
          <a:spcPct val="0"/>
        </a:spcAft>
        <a:defRPr sz="5733">
          <a:solidFill>
            <a:schemeClr val="tx1"/>
          </a:solidFill>
          <a:latin typeface="Calibri" charset="0"/>
          <a:ea typeface="ヒラギノ角ゴ ProN W3" charset="0"/>
          <a:cs typeface="ヒラギノ角ゴ ProN W3" charset="0"/>
          <a:sym typeface="Calibri" charset="0"/>
        </a:defRPr>
      </a:lvl9pPr>
    </p:titleStyle>
    <p:bodyStyle>
      <a:lvl1pPr marL="171446" indent="-171446" algn="ctr" rtl="0" eaLnBrk="0" fontAlgn="base" hangingPunct="0">
        <a:spcBef>
          <a:spcPts val="1000"/>
        </a:spcBef>
        <a:spcAft>
          <a:spcPct val="0"/>
        </a:spcAft>
        <a:defRPr sz="4267">
          <a:solidFill>
            <a:srgbClr val="878787"/>
          </a:solidFill>
          <a:latin typeface="+mn-lt"/>
          <a:ea typeface="+mn-ea"/>
          <a:cs typeface="+mn-cs"/>
          <a:sym typeface="Calibri" charset="0"/>
        </a:defRPr>
      </a:lvl1pPr>
      <a:lvl2pPr marL="609585" indent="-380990" algn="ctr" rtl="0" eaLnBrk="0" fontAlgn="base" hangingPunct="0">
        <a:spcBef>
          <a:spcPts val="900"/>
        </a:spcBef>
        <a:spcAft>
          <a:spcPct val="0"/>
        </a:spcAft>
        <a:defRPr sz="3600">
          <a:solidFill>
            <a:srgbClr val="878787"/>
          </a:solidFill>
          <a:latin typeface="+mn-lt"/>
          <a:ea typeface="+mn-ea"/>
          <a:cs typeface="+mn-cs"/>
          <a:sym typeface="Calibri" charset="0"/>
        </a:defRPr>
      </a:lvl2pPr>
      <a:lvl3pPr marL="1219170" indent="-761981" algn="ctr" rtl="0" eaLnBrk="0" fontAlgn="base" hangingPunct="0">
        <a:spcBef>
          <a:spcPts val="751"/>
        </a:spcBef>
        <a:spcAft>
          <a:spcPct val="0"/>
        </a:spcAft>
        <a:defRPr sz="3067">
          <a:solidFill>
            <a:srgbClr val="878787"/>
          </a:solidFill>
          <a:latin typeface="+mn-lt"/>
          <a:ea typeface="+mn-ea"/>
          <a:cs typeface="+mn-cs"/>
          <a:sym typeface="Calibri" charset="0"/>
        </a:defRPr>
      </a:lvl3pPr>
      <a:lvl4pPr marL="1828754" indent="-1142971" algn="ctr" rtl="0" eaLnBrk="0" fontAlgn="base" hangingPunct="0">
        <a:spcBef>
          <a:spcPts val="651"/>
        </a:spcBef>
        <a:spcAft>
          <a:spcPct val="0"/>
        </a:spcAft>
        <a:defRPr sz="2400">
          <a:solidFill>
            <a:srgbClr val="878787"/>
          </a:solidFill>
          <a:latin typeface="+mn-lt"/>
          <a:ea typeface="+mn-ea"/>
          <a:cs typeface="+mn-cs"/>
          <a:sym typeface="Calibri" charset="0"/>
        </a:defRPr>
      </a:lvl4pPr>
      <a:lvl5pPr marL="2438339" indent="-1523962" algn="ctr" rtl="0" eaLnBrk="0" fontAlgn="base" hangingPunct="0">
        <a:spcBef>
          <a:spcPts val="651"/>
        </a:spcBef>
        <a:spcAft>
          <a:spcPct val="0"/>
        </a:spcAft>
        <a:defRPr sz="2400">
          <a:solidFill>
            <a:srgbClr val="878787"/>
          </a:solidFill>
          <a:latin typeface="+mn-lt"/>
          <a:ea typeface="+mn-ea"/>
          <a:cs typeface="+mn-cs"/>
          <a:sym typeface="Calibri" charset="0"/>
        </a:defRPr>
      </a:lvl5pPr>
      <a:lvl6pPr marL="2666933" algn="ctr" rtl="0" fontAlgn="base">
        <a:spcBef>
          <a:spcPts val="651"/>
        </a:spcBef>
        <a:spcAft>
          <a:spcPct val="0"/>
        </a:spcAft>
        <a:defRPr sz="2400">
          <a:solidFill>
            <a:srgbClr val="878787"/>
          </a:solidFill>
          <a:latin typeface="+mn-lt"/>
          <a:ea typeface="+mn-ea"/>
          <a:cs typeface="+mn-cs"/>
          <a:sym typeface="Calibri" charset="0"/>
        </a:defRPr>
      </a:lvl6pPr>
      <a:lvl7pPr marL="2895528" algn="ctr" rtl="0" fontAlgn="base">
        <a:spcBef>
          <a:spcPts val="651"/>
        </a:spcBef>
        <a:spcAft>
          <a:spcPct val="0"/>
        </a:spcAft>
        <a:defRPr sz="2400">
          <a:solidFill>
            <a:srgbClr val="878787"/>
          </a:solidFill>
          <a:latin typeface="+mn-lt"/>
          <a:ea typeface="+mn-ea"/>
          <a:cs typeface="+mn-cs"/>
          <a:sym typeface="Calibri" charset="0"/>
        </a:defRPr>
      </a:lvl7pPr>
      <a:lvl8pPr marL="3124122" algn="ctr" rtl="0" fontAlgn="base">
        <a:spcBef>
          <a:spcPts val="651"/>
        </a:spcBef>
        <a:spcAft>
          <a:spcPct val="0"/>
        </a:spcAft>
        <a:defRPr sz="2400">
          <a:solidFill>
            <a:srgbClr val="878787"/>
          </a:solidFill>
          <a:latin typeface="+mn-lt"/>
          <a:ea typeface="+mn-ea"/>
          <a:cs typeface="+mn-cs"/>
          <a:sym typeface="Calibri" charset="0"/>
        </a:defRPr>
      </a:lvl8pPr>
      <a:lvl9pPr marL="3352716" algn="ctr" rtl="0" fontAlgn="base">
        <a:spcBef>
          <a:spcPts val="651"/>
        </a:spcBef>
        <a:spcAft>
          <a:spcPct val="0"/>
        </a:spcAft>
        <a:defRPr sz="2400">
          <a:solidFill>
            <a:srgbClr val="878787"/>
          </a:solidFill>
          <a:latin typeface="+mn-lt"/>
          <a:ea typeface="+mn-ea"/>
          <a:cs typeface="+mn-cs"/>
          <a:sym typeface="Calibri" charset="0"/>
        </a:defRPr>
      </a:lvl9pPr>
    </p:bodyStyle>
    <p:otherStyle>
      <a:defPPr>
        <a:defRPr lang="en-US"/>
      </a:defPPr>
      <a:lvl1pPr marL="0" algn="l" defTabSz="457189" rtl="0" eaLnBrk="1" latinLnBrk="0" hangingPunct="1">
        <a:defRPr sz="933" kern="1200">
          <a:solidFill>
            <a:schemeClr val="tx1"/>
          </a:solidFill>
          <a:latin typeface="+mn-lt"/>
          <a:ea typeface="+mn-ea"/>
          <a:cs typeface="+mn-cs"/>
        </a:defRPr>
      </a:lvl1pPr>
      <a:lvl2pPr marL="228594" algn="l" defTabSz="457189" rtl="0" eaLnBrk="1" latinLnBrk="0" hangingPunct="1">
        <a:defRPr sz="933" kern="1200">
          <a:solidFill>
            <a:schemeClr val="tx1"/>
          </a:solidFill>
          <a:latin typeface="+mn-lt"/>
          <a:ea typeface="+mn-ea"/>
          <a:cs typeface="+mn-cs"/>
        </a:defRPr>
      </a:lvl2pPr>
      <a:lvl3pPr marL="457189" algn="l" defTabSz="457189" rtl="0" eaLnBrk="1" latinLnBrk="0" hangingPunct="1">
        <a:defRPr sz="933" kern="1200">
          <a:solidFill>
            <a:schemeClr val="tx1"/>
          </a:solidFill>
          <a:latin typeface="+mn-lt"/>
          <a:ea typeface="+mn-ea"/>
          <a:cs typeface="+mn-cs"/>
        </a:defRPr>
      </a:lvl3pPr>
      <a:lvl4pPr marL="685783" algn="l" defTabSz="457189" rtl="0" eaLnBrk="1" latinLnBrk="0" hangingPunct="1">
        <a:defRPr sz="933" kern="1200">
          <a:solidFill>
            <a:schemeClr val="tx1"/>
          </a:solidFill>
          <a:latin typeface="+mn-lt"/>
          <a:ea typeface="+mn-ea"/>
          <a:cs typeface="+mn-cs"/>
        </a:defRPr>
      </a:lvl4pPr>
      <a:lvl5pPr marL="914377" algn="l" defTabSz="457189" rtl="0" eaLnBrk="1" latinLnBrk="0" hangingPunct="1">
        <a:defRPr sz="933" kern="1200">
          <a:solidFill>
            <a:schemeClr val="tx1"/>
          </a:solidFill>
          <a:latin typeface="+mn-lt"/>
          <a:ea typeface="+mn-ea"/>
          <a:cs typeface="+mn-cs"/>
        </a:defRPr>
      </a:lvl5pPr>
      <a:lvl6pPr marL="1142971" algn="l" defTabSz="457189" rtl="0" eaLnBrk="1" latinLnBrk="0" hangingPunct="1">
        <a:defRPr sz="933" kern="1200">
          <a:solidFill>
            <a:schemeClr val="tx1"/>
          </a:solidFill>
          <a:latin typeface="+mn-lt"/>
          <a:ea typeface="+mn-ea"/>
          <a:cs typeface="+mn-cs"/>
        </a:defRPr>
      </a:lvl6pPr>
      <a:lvl7pPr marL="1371566" algn="l" defTabSz="457189" rtl="0" eaLnBrk="1" latinLnBrk="0" hangingPunct="1">
        <a:defRPr sz="933" kern="1200">
          <a:solidFill>
            <a:schemeClr val="tx1"/>
          </a:solidFill>
          <a:latin typeface="+mn-lt"/>
          <a:ea typeface="+mn-ea"/>
          <a:cs typeface="+mn-cs"/>
        </a:defRPr>
      </a:lvl7pPr>
      <a:lvl8pPr marL="1600160" algn="l" defTabSz="457189" rtl="0" eaLnBrk="1" latinLnBrk="0" hangingPunct="1">
        <a:defRPr sz="933" kern="1200">
          <a:solidFill>
            <a:schemeClr val="tx1"/>
          </a:solidFill>
          <a:latin typeface="+mn-lt"/>
          <a:ea typeface="+mn-ea"/>
          <a:cs typeface="+mn-cs"/>
        </a:defRPr>
      </a:lvl8pPr>
      <a:lvl9pPr marL="1828754" algn="l" defTabSz="457189" rtl="0" eaLnBrk="1" latinLnBrk="0" hangingPunct="1">
        <a:defRPr sz="93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10" Type="http://schemas.openxmlformats.org/officeDocument/2006/relationships/image" Target="../media/image11.jpeg"/><Relationship Id="rId4" Type="http://schemas.openxmlformats.org/officeDocument/2006/relationships/image" Target="../media/image2.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10" Type="http://schemas.openxmlformats.org/officeDocument/2006/relationships/image" Target="../media/image11.jpeg"/><Relationship Id="rId4" Type="http://schemas.openxmlformats.org/officeDocument/2006/relationships/image" Target="../media/image2.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7.jp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8" Type="http://schemas.openxmlformats.org/officeDocument/2006/relationships/image" Target="../media/image41.jpg"/><Relationship Id="rId3" Type="http://schemas.openxmlformats.org/officeDocument/2006/relationships/image" Target="../media/image1.png"/><Relationship Id="rId7" Type="http://schemas.openxmlformats.org/officeDocument/2006/relationships/image" Target="../media/image40.jp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9.jpg"/><Relationship Id="rId5" Type="http://schemas.openxmlformats.org/officeDocument/2006/relationships/image" Target="../media/image38.jpeg"/><Relationship Id="rId4" Type="http://schemas.openxmlformats.org/officeDocument/2006/relationships/image" Target="../media/image2.png"/><Relationship Id="rId9" Type="http://schemas.openxmlformats.org/officeDocument/2006/relationships/image" Target="../media/image42.jp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1.png"/><Relationship Id="rId7"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1.jp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6.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55.jpg"/><Relationship Id="rId5" Type="http://schemas.openxmlformats.org/officeDocument/2006/relationships/image" Target="../media/image54.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jp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5.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66.jp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p:cNvSpPr>
          <p:nvPr/>
        </p:nvSpPr>
        <p:spPr bwMode="auto">
          <a:xfrm>
            <a:off x="524183" y="2811922"/>
            <a:ext cx="11195673" cy="1225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round/>
                <a:headEnd/>
                <a:tailEnd/>
              </a14:hiddenLine>
            </a:ext>
          </a:extLst>
        </p:spPr>
        <p:txBody>
          <a:bodyPr lIns="19051" tIns="19051" rIns="19051" bIns="19051" anchor="ctr"/>
          <a:lstStyle/>
          <a:p>
            <a:pPr algn="ctr" defTabSz="1219170" fontAlgn="base">
              <a:spcBef>
                <a:spcPct val="0"/>
              </a:spcBef>
              <a:spcAft>
                <a:spcPct val="0"/>
              </a:spcAft>
            </a:pPr>
            <a:r>
              <a:rPr lang="vi-VN" sz="3733" b="1" noProof="0" dirty="0">
                <a:solidFill>
                  <a:srgbClr val="000000"/>
                </a:solidFill>
                <a:latin typeface="Times New Roman" panose="02020603050405020304" pitchFamily="18" charset="0"/>
                <a:ea typeface="Open Sans" panose="020B0606030504020204" pitchFamily="34" charset="0"/>
                <a:cs typeface="Times New Roman" panose="02020603050405020304" pitchFamily="18" charset="0"/>
                <a:sym typeface="Open Sans" charset="0"/>
              </a:rPr>
              <a:t>ĐỀ TÀI: </a:t>
            </a:r>
            <a:r>
              <a:rPr lang="vi-VN" sz="3733" b="1" noProof="0" dirty="0">
                <a:solidFill>
                  <a:srgbClr val="002939">
                    <a:lumMod val="75000"/>
                    <a:lumOff val="25000"/>
                  </a:srgbClr>
                </a:solidFill>
                <a:latin typeface="Times New Roman" panose="02020603050405020304" pitchFamily="18" charset="0"/>
                <a:ea typeface="Open Sans" panose="020B0606030504020204" pitchFamily="34" charset="0"/>
                <a:cs typeface="Times New Roman" panose="02020603050405020304" pitchFamily="18" charset="0"/>
                <a:sym typeface="Open Sans" charset="0"/>
              </a:rPr>
              <a:t>XÂY DỰNG HỆ THỐNG ROBOT TAY GẮP</a:t>
            </a:r>
          </a:p>
          <a:p>
            <a:pPr algn="ctr" defTabSz="1219170" fontAlgn="base">
              <a:spcBef>
                <a:spcPct val="0"/>
              </a:spcBef>
              <a:spcAft>
                <a:spcPct val="0"/>
              </a:spcAft>
            </a:pPr>
            <a:r>
              <a:rPr lang="vi-VN" sz="3733" b="1" noProof="0" dirty="0">
                <a:solidFill>
                  <a:srgbClr val="002939">
                    <a:lumMod val="75000"/>
                    <a:lumOff val="25000"/>
                  </a:srgbClr>
                </a:solidFill>
                <a:latin typeface="Times New Roman" panose="02020603050405020304" pitchFamily="18" charset="0"/>
                <a:ea typeface="Open Sans" panose="020B0606030504020204" pitchFamily="34" charset="0"/>
                <a:cs typeface="Times New Roman" panose="02020603050405020304" pitchFamily="18" charset="0"/>
                <a:sym typeface="Open Sans" charset="0"/>
              </a:rPr>
              <a:t>THÍCH NGHI SỬ DỤNG CẢM BIẾN XÚC GIÁC ỨNG DỤNG AI</a:t>
            </a:r>
          </a:p>
        </p:txBody>
      </p:sp>
      <p:sp>
        <p:nvSpPr>
          <p:cNvPr id="2" name="Rectangle 1"/>
          <p:cNvSpPr/>
          <p:nvPr/>
        </p:nvSpPr>
        <p:spPr bwMode="auto">
          <a:xfrm>
            <a:off x="1296025" y="16579852"/>
            <a:ext cx="104625" cy="93747"/>
          </a:xfrm>
          <a:prstGeom prst="rect">
            <a:avLst/>
          </a:prstGeom>
          <a:no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noProof="0" dirty="0">
              <a:solidFill>
                <a:srgbClr val="000000"/>
              </a:solidFill>
              <a:latin typeface="Arial" panose="020B0604020202020204" pitchFamily="34" charset="0"/>
              <a:cs typeface="Arial" panose="020B0604020202020204" pitchFamily="34" charset="0"/>
              <a:sym typeface="Gill Sans" charset="0"/>
            </a:endParaRPr>
          </a:p>
        </p:txBody>
      </p:sp>
      <p:sp>
        <p:nvSpPr>
          <p:cNvPr id="7" name="TextBox 6"/>
          <p:cNvSpPr txBox="1"/>
          <p:nvPr/>
        </p:nvSpPr>
        <p:spPr>
          <a:xfrm>
            <a:off x="1270000" y="1681597"/>
            <a:ext cx="9652000" cy="523220"/>
          </a:xfrm>
          <a:prstGeom prst="rect">
            <a:avLst/>
          </a:prstGeom>
          <a:noFill/>
        </p:spPr>
        <p:txBody>
          <a:bodyPr wrap="square" rtlCol="0">
            <a:spAutoFit/>
          </a:bodyPr>
          <a:lstStyle/>
          <a:p>
            <a:pPr algn="ctr" defTabSz="1219170" fontAlgn="base">
              <a:spcBef>
                <a:spcPct val="0"/>
              </a:spcBef>
              <a:spcAft>
                <a:spcPct val="0"/>
              </a:spcAft>
            </a:pPr>
            <a:r>
              <a:rPr lang="vi-VN" sz="2800" b="1" noProof="0" dirty="0">
                <a:solidFill>
                  <a:srgbClr val="FF0000"/>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KHÓA LUẬN TỐT NGHIỆP</a:t>
            </a:r>
          </a:p>
        </p:txBody>
      </p:sp>
      <p:sp>
        <p:nvSpPr>
          <p:cNvPr id="8" name="TextBox 7"/>
          <p:cNvSpPr txBox="1"/>
          <p:nvPr/>
        </p:nvSpPr>
        <p:spPr>
          <a:xfrm>
            <a:off x="2433292" y="4706192"/>
            <a:ext cx="7325416" cy="830997"/>
          </a:xfrm>
          <a:prstGeom prst="rect">
            <a:avLst/>
          </a:prstGeom>
          <a:noFill/>
        </p:spPr>
        <p:txBody>
          <a:bodyPr wrap="square" rtlCol="0">
            <a:spAutoFit/>
          </a:bodyPr>
          <a:lstStyle/>
          <a:p>
            <a:pPr defTabSz="1219170" fontAlgn="base">
              <a:spcBef>
                <a:spcPct val="0"/>
              </a:spcBef>
              <a:spcAft>
                <a:spcPct val="0"/>
              </a:spcAft>
            </a:pPr>
            <a:r>
              <a:rPr lang="vi-VN" sz="2400" b="1" noProof="0" dirty="0">
                <a:solidFill>
                  <a:srgbClr val="000000"/>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GVHD: TS. Vũ Chí Cường</a:t>
            </a:r>
          </a:p>
          <a:p>
            <a:pPr defTabSz="1219170" fontAlgn="base">
              <a:spcBef>
                <a:spcPct val="0"/>
              </a:spcBef>
              <a:spcAft>
                <a:spcPct val="0"/>
              </a:spcAft>
            </a:pPr>
            <a:r>
              <a:rPr lang="vi-VN" sz="2400" b="1" noProof="0" dirty="0">
                <a:solidFill>
                  <a:srgbClr val="000000"/>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SVTH: Nguyễn Anh Minh		MSSV: 22119103</a:t>
            </a:r>
          </a:p>
        </p:txBody>
      </p:sp>
      <p:sp>
        <p:nvSpPr>
          <p:cNvPr id="4" name="TextBox 3"/>
          <p:cNvSpPr txBox="1"/>
          <p:nvPr/>
        </p:nvSpPr>
        <p:spPr>
          <a:xfrm>
            <a:off x="3074024" y="6205601"/>
            <a:ext cx="6096000" cy="400110"/>
          </a:xfrm>
          <a:prstGeom prst="rect">
            <a:avLst/>
          </a:prstGeom>
          <a:noFill/>
        </p:spPr>
        <p:txBody>
          <a:bodyPr wrap="square" rtlCol="0">
            <a:spAutoFit/>
          </a:bodyPr>
          <a:lstStyle/>
          <a:p>
            <a:pPr algn="ctr" defTabSz="1219170" fontAlgn="base">
              <a:spcBef>
                <a:spcPct val="0"/>
              </a:spcBef>
              <a:spcAft>
                <a:spcPct val="0"/>
              </a:spcAft>
            </a:pPr>
            <a:r>
              <a:rPr lang="vi-VN" sz="2000" b="1" noProof="0" dirty="0">
                <a:solidFill>
                  <a:srgbClr val="000000"/>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TP.HCM, tháng 7/2026</a:t>
            </a:r>
          </a:p>
        </p:txBody>
      </p:sp>
      <p:sp>
        <p:nvSpPr>
          <p:cNvPr id="5" name="Freeform 9">
            <a:extLst>
              <a:ext uri="{FF2B5EF4-FFF2-40B4-BE49-F238E27FC236}">
                <a16:creationId xmlns:a16="http://schemas.microsoft.com/office/drawing/2014/main" id="{F3CA9908-5C82-0C34-8B46-EDB6105F8B2C}"/>
              </a:ext>
            </a:extLst>
          </p:cNvPr>
          <p:cNvSpPr/>
          <p:nvPr/>
        </p:nvSpPr>
        <p:spPr>
          <a:xfrm>
            <a:off x="1" y="5040"/>
            <a:ext cx="5015312" cy="1083239"/>
          </a:xfrm>
          <a:custGeom>
            <a:avLst/>
            <a:gdLst/>
            <a:ahLst/>
            <a:cxnLst/>
            <a:rect l="l" t="t" r="r" b="b"/>
            <a:pathLst>
              <a:path w="7968933" h="1721181">
                <a:moveTo>
                  <a:pt x="0" y="0"/>
                </a:moveTo>
                <a:lnTo>
                  <a:pt x="7968933" y="0"/>
                </a:lnTo>
                <a:lnTo>
                  <a:pt x="7968933" y="1721181"/>
                </a:lnTo>
                <a:lnTo>
                  <a:pt x="0" y="1721181"/>
                </a:lnTo>
                <a:lnTo>
                  <a:pt x="0" y="0"/>
                </a:lnTo>
                <a:close/>
              </a:path>
            </a:pathLst>
          </a:custGeom>
          <a:blipFill>
            <a:blip r:embed="rId3"/>
            <a:stretch>
              <a:fillRect/>
            </a:stretch>
          </a:blipFill>
        </p:spPr>
        <p:txBody>
          <a:bodyPr/>
          <a:lstStyle/>
          <a:p>
            <a:endParaRPr lang="vi-VN" noProof="0" dirty="0"/>
          </a:p>
        </p:txBody>
      </p:sp>
      <p:sp>
        <p:nvSpPr>
          <p:cNvPr id="10" name="Freeform 10">
            <a:extLst>
              <a:ext uri="{FF2B5EF4-FFF2-40B4-BE49-F238E27FC236}">
                <a16:creationId xmlns:a16="http://schemas.microsoft.com/office/drawing/2014/main" id="{EBCB6A68-0CDC-2052-6F3A-AD8C3D4BA88B}"/>
              </a:ext>
            </a:extLst>
          </p:cNvPr>
          <p:cNvSpPr/>
          <p:nvPr/>
        </p:nvSpPr>
        <p:spPr>
          <a:xfrm>
            <a:off x="6619776" y="0"/>
            <a:ext cx="1206400" cy="1083239"/>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noProof="0" dirty="0"/>
          </a:p>
        </p:txBody>
      </p:sp>
      <p:sp>
        <p:nvSpPr>
          <p:cNvPr id="15" name="TextBox 11">
            <a:extLst>
              <a:ext uri="{FF2B5EF4-FFF2-40B4-BE49-F238E27FC236}">
                <a16:creationId xmlns:a16="http://schemas.microsoft.com/office/drawing/2014/main" id="{666C763B-1F80-493D-32E3-4861110E70DC}"/>
              </a:ext>
            </a:extLst>
          </p:cNvPr>
          <p:cNvSpPr txBox="1"/>
          <p:nvPr/>
        </p:nvSpPr>
        <p:spPr>
          <a:xfrm>
            <a:off x="6619776" y="124300"/>
            <a:ext cx="6709987" cy="844718"/>
          </a:xfrm>
          <a:prstGeom prst="rect">
            <a:avLst/>
          </a:prstGeom>
        </p:spPr>
        <p:txBody>
          <a:bodyPr wrap="square" lIns="0" tIns="0" rIns="0" bIns="0" rtlCol="0" anchor="t">
            <a:spAutoFit/>
          </a:bodyPr>
          <a:lstStyle/>
          <a:p>
            <a:pPr algn="ctr">
              <a:lnSpc>
                <a:spcPts val="3359"/>
              </a:lnSpc>
            </a:pPr>
            <a:r>
              <a:rPr lang="vi-VN" sz="2000" b="1" noProof="0" dirty="0">
                <a:solidFill>
                  <a:srgbClr val="2F78B0"/>
                </a:solidFill>
                <a:latin typeface="Times New Roman" panose="02020603050405020304" pitchFamily="18" charset="0"/>
                <a:ea typeface="Aptos Bold"/>
                <a:cs typeface="Times New Roman" panose="02020603050405020304" pitchFamily="18" charset="0"/>
                <a:sym typeface="Aptos Bold"/>
              </a:rPr>
              <a:t>KHOA ĐIỆN- ĐIỆN TỬ </a:t>
            </a:r>
          </a:p>
          <a:p>
            <a:pPr algn="ctr">
              <a:lnSpc>
                <a:spcPts val="3359"/>
              </a:lnSpc>
            </a:pPr>
            <a:r>
              <a:rPr lang="vi-VN" sz="2000" b="1" noProof="0" dirty="0">
                <a:solidFill>
                  <a:srgbClr val="2F78B0"/>
                </a:solidFill>
                <a:latin typeface="Times New Roman" panose="02020603050405020304" pitchFamily="18" charset="0"/>
                <a:ea typeface="Aptos Bold"/>
                <a:cs typeface="Times New Roman" panose="02020603050405020304" pitchFamily="18" charset="0"/>
                <a:sym typeface="Aptos Bold"/>
              </a:rPr>
              <a:t>Bộ môn </a:t>
            </a:r>
            <a:r>
              <a:rPr lang="en-US" sz="2000" b="1" noProof="0" dirty="0">
                <a:solidFill>
                  <a:srgbClr val="2F78B0"/>
                </a:solidFill>
                <a:latin typeface="Times New Roman" panose="02020603050405020304" pitchFamily="18" charset="0"/>
                <a:ea typeface="Aptos Bold"/>
                <a:cs typeface="Times New Roman" panose="02020603050405020304" pitchFamily="18" charset="0"/>
                <a:sym typeface="Aptos Bold"/>
              </a:rPr>
              <a:t>K</a:t>
            </a:r>
            <a:r>
              <a:rPr lang="en-US" sz="2000" b="1" dirty="0">
                <a:solidFill>
                  <a:srgbClr val="2F78B0"/>
                </a:solidFill>
                <a:latin typeface="Times New Roman" panose="02020603050405020304" pitchFamily="18" charset="0"/>
                <a:ea typeface="Aptos Bold"/>
                <a:cs typeface="Times New Roman" panose="02020603050405020304" pitchFamily="18" charset="0"/>
                <a:sym typeface="Aptos Bold"/>
              </a:rPr>
              <a:t>ỹ </a:t>
            </a:r>
            <a:r>
              <a:rPr lang="en-US" sz="2000" b="1" dirty="0" err="1">
                <a:solidFill>
                  <a:srgbClr val="2F78B0"/>
                </a:solidFill>
                <a:latin typeface="Times New Roman" panose="02020603050405020304" pitchFamily="18" charset="0"/>
                <a:ea typeface="Aptos Bold"/>
                <a:cs typeface="Times New Roman" panose="02020603050405020304" pitchFamily="18" charset="0"/>
                <a:sym typeface="Aptos Bold"/>
              </a:rPr>
              <a:t>thuật</a:t>
            </a:r>
            <a:r>
              <a:rPr lang="en-US" sz="2000" b="1" dirty="0">
                <a:solidFill>
                  <a:srgbClr val="2F78B0"/>
                </a:solidFill>
                <a:latin typeface="Times New Roman" panose="02020603050405020304" pitchFamily="18" charset="0"/>
                <a:ea typeface="Aptos Bold"/>
                <a:cs typeface="Times New Roman" panose="02020603050405020304" pitchFamily="18" charset="0"/>
                <a:sym typeface="Aptos Bold"/>
              </a:rPr>
              <a:t> </a:t>
            </a:r>
            <a:r>
              <a:rPr lang="en-US" sz="2000" b="1" dirty="0" err="1">
                <a:solidFill>
                  <a:srgbClr val="2F78B0"/>
                </a:solidFill>
                <a:latin typeface="Times New Roman" panose="02020603050405020304" pitchFamily="18" charset="0"/>
                <a:ea typeface="Aptos Bold"/>
                <a:cs typeface="Times New Roman" panose="02020603050405020304" pitchFamily="18" charset="0"/>
                <a:sym typeface="Aptos Bold"/>
              </a:rPr>
              <a:t>Điện</a:t>
            </a:r>
            <a:r>
              <a:rPr lang="en-US" sz="2000" b="1" dirty="0">
                <a:solidFill>
                  <a:srgbClr val="2F78B0"/>
                </a:solidFill>
                <a:latin typeface="Times New Roman" panose="02020603050405020304" pitchFamily="18" charset="0"/>
                <a:ea typeface="Aptos Bold"/>
                <a:cs typeface="Times New Roman" panose="02020603050405020304" pitchFamily="18" charset="0"/>
                <a:sym typeface="Aptos Bold"/>
              </a:rPr>
              <a:t> </a:t>
            </a:r>
            <a:r>
              <a:rPr lang="en-US" sz="2000" b="1" dirty="0" err="1">
                <a:solidFill>
                  <a:srgbClr val="2F78B0"/>
                </a:solidFill>
                <a:latin typeface="Times New Roman" panose="02020603050405020304" pitchFamily="18" charset="0"/>
                <a:ea typeface="Aptos Bold"/>
                <a:cs typeface="Times New Roman" panose="02020603050405020304" pitchFamily="18" charset="0"/>
                <a:sym typeface="Aptos Bold"/>
              </a:rPr>
              <a:t>tử</a:t>
            </a:r>
            <a:r>
              <a:rPr lang="en-US" sz="2000" b="1" dirty="0">
                <a:solidFill>
                  <a:srgbClr val="2F78B0"/>
                </a:solidFill>
                <a:latin typeface="Times New Roman" panose="02020603050405020304" pitchFamily="18" charset="0"/>
                <a:ea typeface="Aptos Bold"/>
                <a:cs typeface="Times New Roman" panose="02020603050405020304" pitchFamily="18" charset="0"/>
                <a:sym typeface="Aptos Bold"/>
              </a:rPr>
              <a:t> Thông tin</a:t>
            </a:r>
            <a:endParaRPr lang="vi-VN" sz="2000" b="1" noProof="0" dirty="0">
              <a:solidFill>
                <a:srgbClr val="2F78B0"/>
              </a:solidFill>
              <a:latin typeface="Times New Roman" panose="02020603050405020304" pitchFamily="18" charset="0"/>
              <a:ea typeface="Aptos Bold"/>
              <a:cs typeface="Times New Roman" panose="02020603050405020304" pitchFamily="18" charset="0"/>
              <a:sym typeface="Aptos Bold"/>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3F267F7-3832-84EE-9265-98AE37A63BE2}"/>
              </a:ext>
            </a:extLst>
          </p:cNvPr>
          <p:cNvSpPr/>
          <p:nvPr/>
        </p:nvSpPr>
        <p:spPr bwMode="auto">
          <a:xfrm>
            <a:off x="1239163" y="0"/>
            <a:ext cx="9713675" cy="926432"/>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9373EE0B-AC19-183C-D84A-9387B04C583B}"/>
              </a:ext>
            </a:extLst>
          </p:cNvPr>
          <p:cNvSpPr txBox="1"/>
          <p:nvPr/>
        </p:nvSpPr>
        <p:spPr>
          <a:xfrm>
            <a:off x="812800" y="120134"/>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NỘI DUNG</a:t>
            </a:r>
          </a:p>
        </p:txBody>
      </p:sp>
      <p:sp>
        <p:nvSpPr>
          <p:cNvPr id="7" name="Freeform 30">
            <a:extLst>
              <a:ext uri="{FF2B5EF4-FFF2-40B4-BE49-F238E27FC236}">
                <a16:creationId xmlns:a16="http://schemas.microsoft.com/office/drawing/2014/main" id="{9865BE5F-93DF-B6F6-40C2-E4F4F0161482}"/>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DE2BB726-E365-DEEE-2791-4B7A5A01AC66}"/>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26" name="TextBox 25">
            <a:extLst>
              <a:ext uri="{FF2B5EF4-FFF2-40B4-BE49-F238E27FC236}">
                <a16:creationId xmlns:a16="http://schemas.microsoft.com/office/drawing/2014/main" id="{54142162-1396-0EC7-A443-04AA7D96D30F}"/>
              </a:ext>
            </a:extLst>
          </p:cNvPr>
          <p:cNvSpPr txBox="1"/>
          <p:nvPr/>
        </p:nvSpPr>
        <p:spPr>
          <a:xfrm>
            <a:off x="1559478" y="1118937"/>
            <a:ext cx="9073044" cy="5509200"/>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I.	TỔNG QUAN</a:t>
            </a:r>
          </a:p>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II.	CƠ SỞ LÝ THUYẾT</a:t>
            </a:r>
          </a:p>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III.	THIẾT KẾ HỆ THỐNG</a:t>
            </a:r>
          </a:p>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IV.	KẾT QUẢ</a:t>
            </a:r>
          </a:p>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V.	KẾT LUẬN VÀ HƯỚNG PHÁT TRIỂN</a:t>
            </a:r>
          </a:p>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156377542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E6117-8BBD-711E-3372-1E8A4EA94A3F}"/>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006B8BA5-1E5A-09BC-E350-D105F250C3A6}"/>
              </a:ext>
            </a:extLst>
          </p:cNvPr>
          <p:cNvSpPr/>
          <p:nvPr/>
        </p:nvSpPr>
        <p:spPr bwMode="auto">
          <a:xfrm>
            <a:off x="1239163" y="0"/>
            <a:ext cx="9713675" cy="926432"/>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AF8D3E41-AA17-EDA3-FE65-A02B44128DA9}"/>
              </a:ext>
            </a:extLst>
          </p:cNvPr>
          <p:cNvSpPr txBox="1"/>
          <p:nvPr/>
        </p:nvSpPr>
        <p:spPr>
          <a:xfrm>
            <a:off x="812800" y="120134"/>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TỔNG QUAN</a:t>
            </a:r>
          </a:p>
        </p:txBody>
      </p:sp>
      <p:sp>
        <p:nvSpPr>
          <p:cNvPr id="7" name="Freeform 30">
            <a:extLst>
              <a:ext uri="{FF2B5EF4-FFF2-40B4-BE49-F238E27FC236}">
                <a16:creationId xmlns:a16="http://schemas.microsoft.com/office/drawing/2014/main" id="{F6971715-2A3F-D7A3-BFB7-27B39FBE7482}"/>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E7EECC85-A0F1-D5EC-3EAE-1CF76EC1BABD}"/>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11312B1D-6BB6-A5E8-8C46-878B71CDF6AB}"/>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3F449C7D-D68A-0FAD-D031-DA9098CBC928}"/>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1</a:t>
            </a:r>
          </a:p>
        </p:txBody>
      </p:sp>
      <p:sp>
        <p:nvSpPr>
          <p:cNvPr id="26" name="TextBox 25">
            <a:extLst>
              <a:ext uri="{FF2B5EF4-FFF2-40B4-BE49-F238E27FC236}">
                <a16:creationId xmlns:a16="http://schemas.microsoft.com/office/drawing/2014/main" id="{E7F4D766-47BA-84E0-7557-717EA0057434}"/>
              </a:ext>
            </a:extLst>
          </p:cNvPr>
          <p:cNvSpPr txBox="1"/>
          <p:nvPr/>
        </p:nvSpPr>
        <p:spPr>
          <a:xfrm>
            <a:off x="0" y="948154"/>
            <a:ext cx="6966284" cy="3785652"/>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VẤN ĐỀ ĐẶT RA:</a:t>
            </a:r>
          </a:p>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2400" b="1" dirty="0">
                <a:latin typeface="Times New Roman" panose="02020603050405020304" pitchFamily="18" charset="0"/>
                <a:ea typeface="Open Sans" panose="020B0606030504020204" pitchFamily="34" charset="0"/>
                <a:cs typeface="Times New Roman" panose="02020603050405020304" pitchFamily="18" charset="0"/>
              </a:rPr>
              <a:t>- T</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hao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tác</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cầm</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nắm</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vật</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thể</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là</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một</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trong</a:t>
            </a: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những</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nhiệm</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vụ</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quan</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trọng</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đóng</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vai</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trò</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nền</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tảng</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trong</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nhiều</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hệ</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thống</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robot.</a:t>
            </a:r>
          </a:p>
          <a:p>
            <a:pPr algn="l"/>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2400" b="1" dirty="0">
                <a:latin typeface="Times New Roman" panose="02020603050405020304" pitchFamily="18" charset="0"/>
                <a:ea typeface="Open Sans" panose="020B0606030504020204" pitchFamily="34" charset="0"/>
                <a:cs typeface="Times New Roman" panose="02020603050405020304" pitchFamily="18" charset="0"/>
              </a:rPr>
              <a:t>- </a:t>
            </a:r>
            <a:r>
              <a:rPr lang="vi-VN" sz="2400" b="1" dirty="0">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a:latin typeface="Times New Roman" panose="02020603050405020304" pitchFamily="18" charset="0"/>
                <a:ea typeface="Open Sans" panose="020B0606030504020204" pitchFamily="34" charset="0"/>
                <a:cs typeface="Times New Roman" panose="02020603050405020304" pitchFamily="18" charset="0"/>
              </a:rPr>
              <a:t>S</a:t>
            </a:r>
            <a:r>
              <a:rPr lang="vi-VN" sz="2400" b="1" dirty="0">
                <a:latin typeface="Times New Roman" panose="02020603050405020304" pitchFamily="18" charset="0"/>
                <a:ea typeface="Open Sans" panose="020B0606030504020204" pitchFamily="34" charset="0"/>
                <a:cs typeface="Times New Roman" panose="02020603050405020304" pitchFamily="18" charset="0"/>
              </a:rPr>
              <a:t>o với bàn tay con người, khả năng cầm nắm của robot vẫn còn nhiều hạn</a:t>
            </a:r>
            <a:r>
              <a:rPr lang="en-US" sz="2400" b="1" dirty="0">
                <a:latin typeface="Times New Roman" panose="02020603050405020304" pitchFamily="18" charset="0"/>
                <a:ea typeface="Open Sans" panose="020B0606030504020204" pitchFamily="34" charset="0"/>
                <a:cs typeface="Times New Roman" panose="02020603050405020304" pitchFamily="18" charset="0"/>
              </a:rPr>
              <a:t> </a:t>
            </a:r>
            <a:r>
              <a:rPr lang="vi-VN" sz="2400" b="1" dirty="0">
                <a:latin typeface="Times New Roman" panose="02020603050405020304" pitchFamily="18" charset="0"/>
                <a:ea typeface="Open Sans" panose="020B0606030504020204" pitchFamily="34" charset="0"/>
                <a:cs typeface="Times New Roman" panose="02020603050405020304" pitchFamily="18" charset="0"/>
              </a:rPr>
              <a:t>chế</a:t>
            </a: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3" name="Picture 2" descr="Smart grasping demonstrated at Automate and ProMat trade shows - The ...">
            <a:extLst>
              <a:ext uri="{FF2B5EF4-FFF2-40B4-BE49-F238E27FC236}">
                <a16:creationId xmlns:a16="http://schemas.microsoft.com/office/drawing/2014/main" id="{12D11E1A-2BD9-2C4E-5D2B-26F5829506DA}"/>
              </a:ext>
            </a:extLst>
          </p:cNvPr>
          <p:cNvPicPr>
            <a:picLocks noChangeAspect="1"/>
          </p:cNvPicPr>
          <p:nvPr/>
        </p:nvPicPr>
        <p:blipFill>
          <a:blip r:embed="rId5"/>
          <a:stretch>
            <a:fillRect/>
          </a:stretch>
        </p:blipFill>
        <p:spPr>
          <a:xfrm>
            <a:off x="7095957" y="1554254"/>
            <a:ext cx="4875481" cy="3044604"/>
          </a:xfrm>
          <a:prstGeom prst="rect">
            <a:avLst/>
          </a:prstGeom>
        </p:spPr>
      </p:pic>
      <p:sp>
        <p:nvSpPr>
          <p:cNvPr id="5" name="TextBox 4">
            <a:extLst>
              <a:ext uri="{FF2B5EF4-FFF2-40B4-BE49-F238E27FC236}">
                <a16:creationId xmlns:a16="http://schemas.microsoft.com/office/drawing/2014/main" id="{2F537867-CA9C-0DA6-FE1A-4A0F715C6F83}"/>
              </a:ext>
            </a:extLst>
          </p:cNvPr>
          <p:cNvSpPr txBox="1"/>
          <p:nvPr/>
        </p:nvSpPr>
        <p:spPr>
          <a:xfrm>
            <a:off x="7095957" y="4401762"/>
            <a:ext cx="4962242" cy="923330"/>
          </a:xfrm>
          <a:prstGeom prst="rect">
            <a:avLst/>
          </a:prstGeom>
          <a:noFill/>
        </p:spPr>
        <p:txBody>
          <a:bodyPr wrap="square" rtlCol="0">
            <a:spAutoFit/>
          </a:bodyPr>
          <a:lstStyle/>
          <a:p>
            <a:pPr algn="l"/>
            <a:endPar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Hình: Minh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họa</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robot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tay</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gắp</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trong</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công</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nghiệp</a:t>
            </a:r>
            <a:endPar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algn="l"/>
            <a:endPar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31465341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E3A97-963F-88A6-30F3-F55800CAA920}"/>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1B5A0780-B981-3EFC-AB20-911F7ECCF272}"/>
              </a:ext>
            </a:extLst>
          </p:cNvPr>
          <p:cNvSpPr/>
          <p:nvPr/>
        </p:nvSpPr>
        <p:spPr bwMode="auto">
          <a:xfrm>
            <a:off x="1239163" y="0"/>
            <a:ext cx="9713675" cy="926432"/>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8B47A4BF-F978-9F38-F8E6-0B704CA7773B}"/>
              </a:ext>
            </a:extLst>
          </p:cNvPr>
          <p:cNvSpPr txBox="1"/>
          <p:nvPr/>
        </p:nvSpPr>
        <p:spPr>
          <a:xfrm>
            <a:off x="812800" y="120134"/>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TỔNG QUAN</a:t>
            </a:r>
          </a:p>
        </p:txBody>
      </p:sp>
      <p:sp>
        <p:nvSpPr>
          <p:cNvPr id="7" name="Freeform 30">
            <a:extLst>
              <a:ext uri="{FF2B5EF4-FFF2-40B4-BE49-F238E27FC236}">
                <a16:creationId xmlns:a16="http://schemas.microsoft.com/office/drawing/2014/main" id="{CE43A0E3-108E-07C4-AF52-CD189370977E}"/>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086A6177-61E9-5F0E-7E24-EF33AB4E6B19}"/>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9FC64244-A0A6-FE47-9C1B-A3092C9C1F66}"/>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EC5807C8-139D-16AF-67AB-446364F19300}"/>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2</a:t>
            </a:r>
          </a:p>
        </p:txBody>
      </p:sp>
      <p:sp>
        <p:nvSpPr>
          <p:cNvPr id="26" name="TextBox 25">
            <a:extLst>
              <a:ext uri="{FF2B5EF4-FFF2-40B4-BE49-F238E27FC236}">
                <a16:creationId xmlns:a16="http://schemas.microsoft.com/office/drawing/2014/main" id="{A4E9A7EE-1D29-0D4F-0C1E-9443F8AB23C6}"/>
              </a:ext>
            </a:extLst>
          </p:cNvPr>
          <p:cNvSpPr txBox="1"/>
          <p:nvPr/>
        </p:nvSpPr>
        <p:spPr>
          <a:xfrm>
            <a:off x="0" y="948154"/>
            <a:ext cx="6966284" cy="5016758"/>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LÍ DO CHỌN ĐỀ TÀI:</a:t>
            </a:r>
          </a:p>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457200" indent="-457200" algn="l">
              <a:buFontTx/>
              <a:buChar char="-"/>
            </a:pPr>
            <a:r>
              <a:rPr lang="en-US" sz="2800" b="1" dirty="0" err="1">
                <a:latin typeface="Times New Roman" panose="02020603050405020304" pitchFamily="18" charset="0"/>
                <a:ea typeface="Open Sans" panose="020B0606030504020204" pitchFamily="34" charset="0"/>
                <a:cs typeface="Times New Roman" panose="02020603050405020304" pitchFamily="18" charset="0"/>
              </a:rPr>
              <a:t>Cầm</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nắm</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vật</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chắc</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chắn</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hơn</a:t>
            </a:r>
            <a:endParaRPr lang="en-US" sz="2800" b="1" dirty="0">
              <a:latin typeface="Times New Roman" panose="02020603050405020304" pitchFamily="18" charset="0"/>
              <a:ea typeface="Open Sans" panose="020B0606030504020204" pitchFamily="34" charset="0"/>
              <a:cs typeface="Times New Roman" panose="02020603050405020304" pitchFamily="18" charset="0"/>
            </a:endParaRPr>
          </a:p>
          <a:p>
            <a:pPr marL="457200" indent="-457200" algn="l">
              <a:buFontTx/>
              <a:buChar char="-"/>
            </a:pPr>
            <a:endParaRPr lang="en-US" sz="28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457200" indent="-457200" algn="l">
              <a:buFontTx/>
              <a:buChar char="-"/>
            </a:pPr>
            <a:r>
              <a:rPr lang="en-US" sz="28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Kh</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ả</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năng</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nhận</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diện</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được</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vật</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thể</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dự</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đoán</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lực</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nắm</a:t>
            </a:r>
            <a:endParaRPr lang="en-US" sz="2800" b="1" dirty="0">
              <a:latin typeface="Times New Roman" panose="02020603050405020304" pitchFamily="18" charset="0"/>
              <a:ea typeface="Open Sans" panose="020B0606030504020204" pitchFamily="34" charset="0"/>
              <a:cs typeface="Times New Roman" panose="02020603050405020304" pitchFamily="18" charset="0"/>
            </a:endParaRPr>
          </a:p>
          <a:p>
            <a:pPr marL="457200" indent="-457200" algn="l">
              <a:buFontTx/>
              <a:buChar char="-"/>
            </a:pPr>
            <a:endParaRPr lang="en-US" sz="28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457200" indent="-457200" algn="l">
              <a:buFontTx/>
              <a:buChar char="-"/>
            </a:pPr>
            <a:r>
              <a:rPr lang="en-US" sz="28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Kh</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ả</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năng</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tự</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điều</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chỉnh</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lực</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nắm</a:t>
            </a:r>
            <a:endParaRPr lang="en-US" sz="2800" b="1" dirty="0">
              <a:latin typeface="Times New Roman" panose="02020603050405020304" pitchFamily="18" charset="0"/>
              <a:ea typeface="Open Sans" panose="020B0606030504020204" pitchFamily="34" charset="0"/>
              <a:cs typeface="Times New Roman" panose="02020603050405020304" pitchFamily="18" charset="0"/>
            </a:endParaRPr>
          </a:p>
          <a:p>
            <a:pPr marL="457200" indent="-457200" algn="l">
              <a:buFontTx/>
              <a:buChar char="-"/>
            </a:pPr>
            <a:endParaRPr lang="en-US" sz="28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457200" indent="-457200" algn="l">
              <a:buFontTx/>
              <a:buChar char="-"/>
            </a:pPr>
            <a:r>
              <a:rPr lang="en-US" sz="2800" b="1" dirty="0" err="1">
                <a:latin typeface="Times New Roman" panose="02020603050405020304" pitchFamily="18" charset="0"/>
                <a:ea typeface="Open Sans" panose="020B0606030504020204" pitchFamily="34" charset="0"/>
                <a:cs typeface="Times New Roman" panose="02020603050405020304" pitchFamily="18" charset="0"/>
              </a:rPr>
              <a:t>Tự</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động</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hóa</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quá</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trình</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thao</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tác</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với</a:t>
            </a:r>
            <a:r>
              <a:rPr lang="en-US" sz="2800" b="1" dirty="0">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latin typeface="Times New Roman" panose="02020603050405020304" pitchFamily="18" charset="0"/>
                <a:ea typeface="Open Sans" panose="020B0606030504020204" pitchFamily="34" charset="0"/>
                <a:cs typeface="Times New Roman" panose="02020603050405020304" pitchFamily="18" charset="0"/>
              </a:rPr>
              <a:t>vật</a:t>
            </a:r>
            <a:endParaRPr lang="en-US" sz="28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2" name="Picture 1" descr="Robotic Hands, Grasping and Manipulation - IEEE Robotics and Automation ...">
            <a:extLst>
              <a:ext uri="{FF2B5EF4-FFF2-40B4-BE49-F238E27FC236}">
                <a16:creationId xmlns:a16="http://schemas.microsoft.com/office/drawing/2014/main" id="{48C6DA1F-86B1-F2D0-A4FA-66DA72F62ECE}"/>
              </a:ext>
            </a:extLst>
          </p:cNvPr>
          <p:cNvPicPr>
            <a:picLocks noChangeAspect="1"/>
          </p:cNvPicPr>
          <p:nvPr/>
        </p:nvPicPr>
        <p:blipFill>
          <a:blip r:embed="rId5"/>
          <a:srcRect l="8500" r="7974"/>
          <a:stretch>
            <a:fillRect/>
          </a:stretch>
        </p:blipFill>
        <p:spPr>
          <a:xfrm>
            <a:off x="7122693" y="1582062"/>
            <a:ext cx="4957012" cy="3956497"/>
          </a:xfrm>
          <a:prstGeom prst="rect">
            <a:avLst/>
          </a:prstGeom>
        </p:spPr>
      </p:pic>
      <p:sp>
        <p:nvSpPr>
          <p:cNvPr id="4" name="TextBox 3">
            <a:extLst>
              <a:ext uri="{FF2B5EF4-FFF2-40B4-BE49-F238E27FC236}">
                <a16:creationId xmlns:a16="http://schemas.microsoft.com/office/drawing/2014/main" id="{887B33F9-9F88-B88C-F433-10694D5DA519}"/>
              </a:ext>
            </a:extLst>
          </p:cNvPr>
          <p:cNvSpPr txBox="1"/>
          <p:nvPr/>
        </p:nvSpPr>
        <p:spPr>
          <a:xfrm>
            <a:off x="7122693" y="5270859"/>
            <a:ext cx="5133998" cy="1200329"/>
          </a:xfrm>
          <a:prstGeom prst="rect">
            <a:avLst/>
          </a:prstGeom>
          <a:noFill/>
        </p:spPr>
        <p:txBody>
          <a:bodyPr wrap="square" rtlCol="0">
            <a:spAutoFit/>
          </a:bodyPr>
          <a:lstStyle/>
          <a:p>
            <a:pPr algn="l"/>
            <a:endPar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Hình: Minh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họa</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robot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tay</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gắp</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có</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khả</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năng</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tương</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tác</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với</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vật</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cụ</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thể</a:t>
            </a:r>
            <a:endPar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algn="l"/>
            <a:endPar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300979050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01FF3-1444-4ED6-C819-DCFB3E872AE2}"/>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CEA17360-9CEA-3489-A385-ADC00896D9F8}"/>
              </a:ext>
            </a:extLst>
          </p:cNvPr>
          <p:cNvSpPr/>
          <p:nvPr/>
        </p:nvSpPr>
        <p:spPr bwMode="auto">
          <a:xfrm>
            <a:off x="1239163" y="0"/>
            <a:ext cx="9713675" cy="926432"/>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721F4DA9-D1FB-6D74-8632-A83C2CC6044A}"/>
              </a:ext>
            </a:extLst>
          </p:cNvPr>
          <p:cNvSpPr txBox="1"/>
          <p:nvPr/>
        </p:nvSpPr>
        <p:spPr>
          <a:xfrm>
            <a:off x="812800" y="120134"/>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TỔNG QUAN</a:t>
            </a:r>
          </a:p>
        </p:txBody>
      </p:sp>
      <p:sp>
        <p:nvSpPr>
          <p:cNvPr id="7" name="Freeform 30">
            <a:extLst>
              <a:ext uri="{FF2B5EF4-FFF2-40B4-BE49-F238E27FC236}">
                <a16:creationId xmlns:a16="http://schemas.microsoft.com/office/drawing/2014/main" id="{1FED6BE8-A8A0-475A-2185-08BC647C15FF}"/>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801B9E33-D207-0431-C627-62206B8886EA}"/>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0331D80D-9F73-C1AC-851E-A48167AEE9F0}"/>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2AEBFB37-780A-85DD-99F2-BAB86D995A61}"/>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3</a:t>
            </a:r>
          </a:p>
        </p:txBody>
      </p:sp>
      <p:sp>
        <p:nvSpPr>
          <p:cNvPr id="26" name="TextBox 25">
            <a:extLst>
              <a:ext uri="{FF2B5EF4-FFF2-40B4-BE49-F238E27FC236}">
                <a16:creationId xmlns:a16="http://schemas.microsoft.com/office/drawing/2014/main" id="{A058AFFB-D1A6-9B39-31F8-14CF875146CE}"/>
              </a:ext>
            </a:extLst>
          </p:cNvPr>
          <p:cNvSpPr txBox="1"/>
          <p:nvPr/>
        </p:nvSpPr>
        <p:spPr>
          <a:xfrm>
            <a:off x="0" y="743617"/>
            <a:ext cx="6096000" cy="5262979"/>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MỤC TIÊU ĐỀ TÀI:</a:t>
            </a:r>
          </a:p>
          <a:p>
            <a:pPr algn="l"/>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marL="457200" indent="-457200" algn="l">
              <a:buFontTx/>
              <a:buChar char="-"/>
            </a:pP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Thiết kế mô hình tay gắp robot </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2</a:t>
            </a: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ngón.</a:t>
            </a: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457200" indent="-457200" algn="l">
              <a:buFontTx/>
              <a:buChar char="-"/>
            </a:pP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457200" indent="-457200" algn="l">
              <a:buFontTx/>
              <a:buChar char="-"/>
            </a:pP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Tích hợp camera + cảm biến xúc giác.</a:t>
            </a: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457200" indent="-457200" algn="l">
              <a:buFontTx/>
              <a:buChar char="-"/>
            </a:pP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457200" indent="-457200" algn="l">
              <a:buFontTx/>
              <a:buChar char="-"/>
            </a:pP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Ứng dụng YOLO để nhận diện vật thể.</a:t>
            </a: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457200" indent="-457200" algn="l">
              <a:buFontTx/>
              <a:buChar char="-"/>
            </a:pP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457200" indent="-457200" algn="l">
              <a:buFontTx/>
              <a:buChar char="-"/>
            </a:pP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Dùng MLP để dự đoán</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lực</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gắp và</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điều</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chỉnh</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khi phát hiện trượt hoặc quá lực.</a:t>
            </a: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457200" indent="-457200" algn="l">
              <a:buFontTx/>
              <a:buChar char="-"/>
            </a:pP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457200" indent="-457200" algn="l">
              <a:buFontTx/>
              <a:buChar char="-"/>
            </a:pPr>
            <a:r>
              <a:rPr lang="en-US" sz="2400" b="1" dirty="0">
                <a:latin typeface="Times New Roman" panose="02020603050405020304" pitchFamily="18" charset="0"/>
                <a:ea typeface="Open Sans" panose="020B0606030504020204" pitchFamily="34" charset="0"/>
                <a:cs typeface="Times New Roman" panose="02020603050405020304" pitchFamily="18" charset="0"/>
              </a:rPr>
              <a:t>Giao </a:t>
            </a:r>
            <a:r>
              <a:rPr lang="en-US" sz="2400" b="1" dirty="0" err="1">
                <a:latin typeface="Times New Roman" panose="02020603050405020304" pitchFamily="18" charset="0"/>
                <a:ea typeface="Open Sans" panose="020B0606030504020204" pitchFamily="34" charset="0"/>
                <a:cs typeface="Times New Roman" panose="02020603050405020304" pitchFamily="18" charset="0"/>
              </a:rPr>
              <a:t>diện</a:t>
            </a:r>
            <a:r>
              <a:rPr lang="en-US" sz="2400" b="1" dirty="0">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latin typeface="Times New Roman" panose="02020603050405020304" pitchFamily="18" charset="0"/>
                <a:ea typeface="Open Sans" panose="020B0606030504020204" pitchFamily="34" charset="0"/>
                <a:cs typeface="Times New Roman" panose="02020603050405020304" pitchFamily="18" charset="0"/>
              </a:rPr>
              <a:t>người</a:t>
            </a:r>
            <a:r>
              <a:rPr lang="en-US" sz="2400" b="1" dirty="0">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latin typeface="Times New Roman" panose="02020603050405020304" pitchFamily="18" charset="0"/>
                <a:ea typeface="Open Sans" panose="020B0606030504020204" pitchFamily="34" charset="0"/>
                <a:cs typeface="Times New Roman" panose="02020603050405020304" pitchFamily="18" charset="0"/>
              </a:rPr>
              <a:t>dùng</a:t>
            </a:r>
            <a:r>
              <a:rPr lang="en-US" sz="2400" b="1" dirty="0">
                <a:latin typeface="Times New Roman" panose="02020603050405020304" pitchFamily="18" charset="0"/>
                <a:ea typeface="Open Sans" panose="020B0606030504020204" pitchFamily="34" charset="0"/>
                <a:cs typeface="Times New Roman" panose="02020603050405020304" pitchFamily="18" charset="0"/>
              </a:rPr>
              <a:t>.</a:t>
            </a: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916E7141-2A1D-0F38-04D6-0D071C8A315A}"/>
              </a:ext>
            </a:extLst>
          </p:cNvPr>
          <p:cNvSpPr txBox="1"/>
          <p:nvPr/>
        </p:nvSpPr>
        <p:spPr>
          <a:xfrm>
            <a:off x="6338645" y="4847831"/>
            <a:ext cx="5907507" cy="1200329"/>
          </a:xfrm>
          <a:prstGeom prst="rect">
            <a:avLst/>
          </a:prstGeom>
          <a:noFill/>
        </p:spPr>
        <p:txBody>
          <a:bodyPr wrap="square" rtlCol="0">
            <a:spAutoFit/>
          </a:bodyPr>
          <a:lstStyle/>
          <a:p>
            <a:pPr algn="l"/>
            <a:endPar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Hình: Minh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họa</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robot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tay</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gắp</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xúc</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giác</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có</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khả</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năng</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nhận</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diện</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vật</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thể</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từ</a:t>
            </a:r>
            <a:r>
              <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Robotiq</a:t>
            </a:r>
            <a:endParaRPr lang="en-US"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algn="l"/>
            <a:endPar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3" name="Picture 2" descr="Robotiq Launches Tactile Fingertips for 2F Grippers, Bringing the Sense ...">
            <a:extLst>
              <a:ext uri="{FF2B5EF4-FFF2-40B4-BE49-F238E27FC236}">
                <a16:creationId xmlns:a16="http://schemas.microsoft.com/office/drawing/2014/main" id="{526E5735-8D85-D327-38CA-7801939EB0EB}"/>
              </a:ext>
            </a:extLst>
          </p:cNvPr>
          <p:cNvPicPr>
            <a:picLocks noChangeAspect="1"/>
          </p:cNvPicPr>
          <p:nvPr/>
        </p:nvPicPr>
        <p:blipFill>
          <a:blip r:embed="rId5"/>
          <a:stretch>
            <a:fillRect/>
          </a:stretch>
        </p:blipFill>
        <p:spPr>
          <a:xfrm>
            <a:off x="6338645" y="1876408"/>
            <a:ext cx="5741060" cy="3221776"/>
          </a:xfrm>
          <a:prstGeom prst="rect">
            <a:avLst/>
          </a:prstGeom>
        </p:spPr>
      </p:pic>
    </p:spTree>
    <p:extLst>
      <p:ext uri="{BB962C8B-B14F-4D97-AF65-F5344CB8AC3E}">
        <p14:creationId xmlns:p14="http://schemas.microsoft.com/office/powerpoint/2010/main" val="406655056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385D4-7AFF-57DE-C2C6-D61ED538A495}"/>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0E3D8BA9-E520-B522-8628-8BC553E737B3}"/>
              </a:ext>
            </a:extLst>
          </p:cNvPr>
          <p:cNvSpPr/>
          <p:nvPr/>
        </p:nvSpPr>
        <p:spPr bwMode="auto">
          <a:xfrm>
            <a:off x="1239163" y="0"/>
            <a:ext cx="9713675" cy="926432"/>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BA02D57D-49C4-EE5C-239A-94E1C8F50A77}"/>
              </a:ext>
            </a:extLst>
          </p:cNvPr>
          <p:cNvSpPr txBox="1"/>
          <p:nvPr/>
        </p:nvSpPr>
        <p:spPr>
          <a:xfrm>
            <a:off x="812800" y="120134"/>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TỔNG QUAN</a:t>
            </a:r>
          </a:p>
        </p:txBody>
      </p:sp>
      <p:sp>
        <p:nvSpPr>
          <p:cNvPr id="7" name="Freeform 30">
            <a:extLst>
              <a:ext uri="{FF2B5EF4-FFF2-40B4-BE49-F238E27FC236}">
                <a16:creationId xmlns:a16="http://schemas.microsoft.com/office/drawing/2014/main" id="{6A2A320D-3C69-C55B-E405-4A2643E494B9}"/>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296D8B8D-15D6-E903-06B6-85747A231CDE}"/>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33562719-7889-CAFE-9462-0A0DDFA353D8}"/>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196D92A4-7DDB-88CE-D3A1-A15E23D85E5E}"/>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4</a:t>
            </a:r>
          </a:p>
        </p:txBody>
      </p:sp>
      <p:sp>
        <p:nvSpPr>
          <p:cNvPr id="26" name="TextBox 25">
            <a:extLst>
              <a:ext uri="{FF2B5EF4-FFF2-40B4-BE49-F238E27FC236}">
                <a16:creationId xmlns:a16="http://schemas.microsoft.com/office/drawing/2014/main" id="{19EA7BCB-2A34-97AF-9BCF-86E04B802173}"/>
              </a:ext>
            </a:extLst>
          </p:cNvPr>
          <p:cNvSpPr txBox="1"/>
          <p:nvPr/>
        </p:nvSpPr>
        <p:spPr>
          <a:xfrm>
            <a:off x="0" y="743617"/>
            <a:ext cx="6096000" cy="1569660"/>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BÀI TOÁN ĐỀ RA:</a:t>
            </a:r>
          </a:p>
          <a:p>
            <a:pPr algn="l"/>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5" name="Picture 10" descr="computer – Wiktionary tiếng Việt">
            <a:extLst>
              <a:ext uri="{FF2B5EF4-FFF2-40B4-BE49-F238E27FC236}">
                <a16:creationId xmlns:a16="http://schemas.microsoft.com/office/drawing/2014/main" id="{F7A77E30-F3E4-A48B-ACAC-C6C24D4DE9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1693" y="4657749"/>
            <a:ext cx="22860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descr="Camera icon Template | PosterMyWall">
            <a:extLst>
              <a:ext uri="{FF2B5EF4-FFF2-40B4-BE49-F238E27FC236}">
                <a16:creationId xmlns:a16="http://schemas.microsoft.com/office/drawing/2014/main" id="{5B6FBB7E-C99D-A72C-14DF-649DB61AB2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5947" y="2346092"/>
            <a:ext cx="1097280" cy="109728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Robotic Force and Tactile Sensing: The Latest Innovation in Industrial Robotics">
            <a:extLst>
              <a:ext uri="{FF2B5EF4-FFF2-40B4-BE49-F238E27FC236}">
                <a16:creationId xmlns:a16="http://schemas.microsoft.com/office/drawing/2014/main" id="{872A5F9D-C67D-6B27-8251-03A9DFE8158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60218" y="1869669"/>
            <a:ext cx="2472863" cy="185374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034E5D58-3DB6-AD6C-C5A9-D0B466A0D50E}"/>
              </a:ext>
            </a:extLst>
          </p:cNvPr>
          <p:cNvPicPr>
            <a:picLocks noChangeAspect="1"/>
          </p:cNvPicPr>
          <p:nvPr/>
        </p:nvPicPr>
        <p:blipFill rotWithShape="1">
          <a:blip r:embed="rId8"/>
          <a:srcRect t="11809" r="7514" b="18015"/>
          <a:stretch/>
        </p:blipFill>
        <p:spPr>
          <a:xfrm>
            <a:off x="8574785" y="4119817"/>
            <a:ext cx="1523998" cy="762000"/>
          </a:xfrm>
          <a:prstGeom prst="rect">
            <a:avLst/>
          </a:prstGeom>
        </p:spPr>
      </p:pic>
      <p:sp>
        <p:nvSpPr>
          <p:cNvPr id="20" name="Arrow: Up-Down 19">
            <a:extLst>
              <a:ext uri="{FF2B5EF4-FFF2-40B4-BE49-F238E27FC236}">
                <a16:creationId xmlns:a16="http://schemas.microsoft.com/office/drawing/2014/main" id="{BEC5CD9F-536A-132A-4509-4D1429FEDADF}"/>
              </a:ext>
            </a:extLst>
          </p:cNvPr>
          <p:cNvSpPr/>
          <p:nvPr/>
        </p:nvSpPr>
        <p:spPr bwMode="auto">
          <a:xfrm>
            <a:off x="5427925" y="3483782"/>
            <a:ext cx="429768" cy="636035"/>
          </a:xfrm>
          <a:prstGeom prst="upDownArrow">
            <a:avLst>
              <a:gd name="adj1" fmla="val 38652"/>
              <a:gd name="adj2" fmla="val 50000"/>
            </a:avLst>
          </a:prstGeom>
          <a:solidFill>
            <a:schemeClr val="tx1"/>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22" name="Arrow: Left 21">
            <a:extLst>
              <a:ext uri="{FF2B5EF4-FFF2-40B4-BE49-F238E27FC236}">
                <a16:creationId xmlns:a16="http://schemas.microsoft.com/office/drawing/2014/main" id="{36E8683B-4C31-BB44-F2B4-608301C63D10}"/>
              </a:ext>
            </a:extLst>
          </p:cNvPr>
          <p:cNvSpPr/>
          <p:nvPr/>
        </p:nvSpPr>
        <p:spPr bwMode="auto">
          <a:xfrm rot="10800000">
            <a:off x="3870265" y="2751857"/>
            <a:ext cx="509099" cy="285750"/>
          </a:xfrm>
          <a:prstGeom prst="leftArrow">
            <a:avLst/>
          </a:prstGeom>
          <a:solidFill>
            <a:schemeClr val="tx1"/>
          </a:solidFill>
          <a:ln>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25" name="Arrow: Up-Down 24">
            <a:extLst>
              <a:ext uri="{FF2B5EF4-FFF2-40B4-BE49-F238E27FC236}">
                <a16:creationId xmlns:a16="http://schemas.microsoft.com/office/drawing/2014/main" id="{50C8B912-FE5C-A594-17FA-2C8E959D59EE}"/>
              </a:ext>
            </a:extLst>
          </p:cNvPr>
          <p:cNvSpPr/>
          <p:nvPr/>
        </p:nvSpPr>
        <p:spPr bwMode="auto">
          <a:xfrm rot="5400000">
            <a:off x="7054155" y="2528154"/>
            <a:ext cx="429768" cy="733157"/>
          </a:xfrm>
          <a:prstGeom prst="upDownArrow">
            <a:avLst>
              <a:gd name="adj1" fmla="val 38652"/>
              <a:gd name="adj2" fmla="val 50000"/>
            </a:avLst>
          </a:prstGeom>
          <a:solidFill>
            <a:schemeClr val="tx1"/>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pic>
        <p:nvPicPr>
          <p:cNvPr id="28" name="Picture 4" descr="Lập trình ứng dụng Desktop với Winforms">
            <a:extLst>
              <a:ext uri="{FF2B5EF4-FFF2-40B4-BE49-F238E27FC236}">
                <a16:creationId xmlns:a16="http://schemas.microsoft.com/office/drawing/2014/main" id="{E6579955-35C1-5773-B7AC-20AB1BFFB77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01319" y="4335552"/>
            <a:ext cx="2441448" cy="1217333"/>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STMicroelectronics STM8L151R6T6, 8bit STM8 Microcontroller, 16MHz, 32 —  Nguyên Xương">
            <a:extLst>
              <a:ext uri="{FF2B5EF4-FFF2-40B4-BE49-F238E27FC236}">
                <a16:creationId xmlns:a16="http://schemas.microsoft.com/office/drawing/2014/main" id="{D7806D82-2013-BFC5-4A6D-56649D333A5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2914" y="2303058"/>
            <a:ext cx="1563624" cy="1068536"/>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Straight Arrow Connector 30">
            <a:extLst>
              <a:ext uri="{FF2B5EF4-FFF2-40B4-BE49-F238E27FC236}">
                <a16:creationId xmlns:a16="http://schemas.microsoft.com/office/drawing/2014/main" id="{97F0021D-48B5-CFF8-A8B9-E4C1D9C7B85E}"/>
              </a:ext>
            </a:extLst>
          </p:cNvPr>
          <p:cNvCxnSpPr/>
          <p:nvPr/>
        </p:nvCxnSpPr>
        <p:spPr bwMode="auto">
          <a:xfrm>
            <a:off x="8817958" y="2537550"/>
            <a:ext cx="258366" cy="1596813"/>
          </a:xfrm>
          <a:prstGeom prst="straightConnector1">
            <a:avLst/>
          </a:prstGeom>
          <a:solidFill>
            <a:schemeClr val="accent1"/>
          </a:solidFill>
          <a:ln w="31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TextBox 32">
            <a:extLst>
              <a:ext uri="{FF2B5EF4-FFF2-40B4-BE49-F238E27FC236}">
                <a16:creationId xmlns:a16="http://schemas.microsoft.com/office/drawing/2014/main" id="{517335AB-58CF-01B5-48C4-5341B8933191}"/>
              </a:ext>
            </a:extLst>
          </p:cNvPr>
          <p:cNvSpPr txBox="1"/>
          <p:nvPr/>
        </p:nvSpPr>
        <p:spPr>
          <a:xfrm>
            <a:off x="998458" y="2637498"/>
            <a:ext cx="1575299" cy="400110"/>
          </a:xfrm>
          <a:prstGeom prst="rect">
            <a:avLst/>
          </a:prstGeom>
          <a:noFill/>
        </p:spPr>
        <p:txBody>
          <a:bodyPr wrap="square" rtlCol="0">
            <a:spAutoFit/>
          </a:bodyPr>
          <a:lstStyle/>
          <a:p>
            <a:pPr algn="l"/>
            <a:r>
              <a:rPr lang="en-US" sz="20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Nhận</a:t>
            </a:r>
            <a:r>
              <a:rPr lang="en-US" sz="20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0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diện</a:t>
            </a:r>
            <a:endParaRPr lang="en-US" sz="20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35" name="TextBox 34">
            <a:extLst>
              <a:ext uri="{FF2B5EF4-FFF2-40B4-BE49-F238E27FC236}">
                <a16:creationId xmlns:a16="http://schemas.microsoft.com/office/drawing/2014/main" id="{0737A555-4C37-E88F-B3EC-68BF5F79CF35}"/>
              </a:ext>
            </a:extLst>
          </p:cNvPr>
          <p:cNvSpPr txBox="1"/>
          <p:nvPr/>
        </p:nvSpPr>
        <p:spPr>
          <a:xfrm>
            <a:off x="5073152" y="1729520"/>
            <a:ext cx="2887066" cy="400110"/>
          </a:xfrm>
          <a:prstGeom prst="rect">
            <a:avLst/>
          </a:prstGeom>
          <a:noFill/>
        </p:spPr>
        <p:txBody>
          <a:bodyPr wrap="square" rtlCol="0">
            <a:spAutoFit/>
          </a:bodyPr>
          <a:lstStyle/>
          <a:p>
            <a:pPr algn="l"/>
            <a:r>
              <a:rPr lang="en-US" sz="20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Bộ</a:t>
            </a:r>
            <a:r>
              <a:rPr lang="en-US" sz="20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0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xử</a:t>
            </a:r>
            <a:r>
              <a:rPr lang="en-US" sz="20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0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lí</a:t>
            </a:r>
            <a:endParaRPr lang="en-US" sz="20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37" name="TextBox 36">
            <a:extLst>
              <a:ext uri="{FF2B5EF4-FFF2-40B4-BE49-F238E27FC236}">
                <a16:creationId xmlns:a16="http://schemas.microsoft.com/office/drawing/2014/main" id="{C859453C-01AA-AB19-9BA2-56390BAAD775}"/>
              </a:ext>
            </a:extLst>
          </p:cNvPr>
          <p:cNvSpPr txBox="1"/>
          <p:nvPr/>
        </p:nvSpPr>
        <p:spPr>
          <a:xfrm>
            <a:off x="8947141" y="1772791"/>
            <a:ext cx="2887066" cy="400110"/>
          </a:xfrm>
          <a:prstGeom prst="rect">
            <a:avLst/>
          </a:prstGeom>
          <a:noFill/>
        </p:spPr>
        <p:txBody>
          <a:bodyPr wrap="square" rtlCol="0">
            <a:spAutoFit/>
          </a:bodyPr>
          <a:lstStyle/>
          <a:p>
            <a:pPr algn="l"/>
            <a:r>
              <a:rPr lang="en-US" sz="2000" b="1" dirty="0">
                <a:latin typeface="Times New Roman" panose="02020603050405020304" pitchFamily="18" charset="0"/>
                <a:ea typeface="Open Sans" panose="020B0606030504020204" pitchFamily="34" charset="0"/>
                <a:cs typeface="Times New Roman" panose="02020603050405020304" pitchFamily="18" charset="0"/>
              </a:rPr>
              <a:t>Tay </a:t>
            </a:r>
            <a:r>
              <a:rPr lang="en-US" sz="2000" b="1" dirty="0" err="1">
                <a:latin typeface="Times New Roman" panose="02020603050405020304" pitchFamily="18" charset="0"/>
                <a:ea typeface="Open Sans" panose="020B0606030504020204" pitchFamily="34" charset="0"/>
                <a:cs typeface="Times New Roman" panose="02020603050405020304" pitchFamily="18" charset="0"/>
              </a:rPr>
              <a:t>gắp</a:t>
            </a:r>
            <a:endParaRPr lang="en-US" sz="20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A7087C5F-4599-5D63-F3DF-D18F1E23CA14}"/>
              </a:ext>
            </a:extLst>
          </p:cNvPr>
          <p:cNvSpPr txBox="1"/>
          <p:nvPr/>
        </p:nvSpPr>
        <p:spPr>
          <a:xfrm>
            <a:off x="9509305" y="4923571"/>
            <a:ext cx="2887066" cy="400110"/>
          </a:xfrm>
          <a:prstGeom prst="rect">
            <a:avLst/>
          </a:prstGeom>
          <a:noFill/>
        </p:spPr>
        <p:txBody>
          <a:bodyPr wrap="square" rtlCol="0">
            <a:spAutoFit/>
          </a:bodyPr>
          <a:lstStyle/>
          <a:p>
            <a:pPr algn="l"/>
            <a:r>
              <a:rPr lang="en-US" sz="20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Cảm</a:t>
            </a:r>
            <a:r>
              <a:rPr lang="en-US" sz="20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0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biến</a:t>
            </a:r>
            <a:endParaRPr lang="en-US" sz="20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41" name="TextBox 40">
            <a:extLst>
              <a:ext uri="{FF2B5EF4-FFF2-40B4-BE49-F238E27FC236}">
                <a16:creationId xmlns:a16="http://schemas.microsoft.com/office/drawing/2014/main" id="{D9DC3877-9469-F8AF-BD4F-7BC49BB39A92}"/>
              </a:ext>
            </a:extLst>
          </p:cNvPr>
          <p:cNvSpPr txBox="1"/>
          <p:nvPr/>
        </p:nvSpPr>
        <p:spPr>
          <a:xfrm>
            <a:off x="5999234" y="6048262"/>
            <a:ext cx="2887066" cy="400110"/>
          </a:xfrm>
          <a:prstGeom prst="rect">
            <a:avLst/>
          </a:prstGeom>
          <a:noFill/>
        </p:spPr>
        <p:txBody>
          <a:bodyPr wrap="square" rtlCol="0">
            <a:spAutoFit/>
          </a:bodyPr>
          <a:lstStyle/>
          <a:p>
            <a:pPr algn="l"/>
            <a:r>
              <a:rPr lang="en-US" sz="20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Người</a:t>
            </a:r>
            <a:r>
              <a:rPr lang="en-US" sz="20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0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dùng</a:t>
            </a:r>
            <a:r>
              <a:rPr lang="en-US" sz="20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p>
        </p:txBody>
      </p:sp>
    </p:spTree>
    <p:extLst>
      <p:ext uri="{BB962C8B-B14F-4D97-AF65-F5344CB8AC3E}">
        <p14:creationId xmlns:p14="http://schemas.microsoft.com/office/powerpoint/2010/main" val="267962609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B6A0E-372C-BC2A-370C-8B8BC12C7D05}"/>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3736C246-3CE9-92B0-97E9-AD1DAE75C2E2}"/>
              </a:ext>
            </a:extLst>
          </p:cNvPr>
          <p:cNvSpPr/>
          <p:nvPr/>
        </p:nvSpPr>
        <p:spPr bwMode="auto">
          <a:xfrm>
            <a:off x="1239163" y="0"/>
            <a:ext cx="9713675" cy="926432"/>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4E7834A4-23C5-1283-FA6C-7CB61C871BCE}"/>
              </a:ext>
            </a:extLst>
          </p:cNvPr>
          <p:cNvSpPr txBox="1"/>
          <p:nvPr/>
        </p:nvSpPr>
        <p:spPr>
          <a:xfrm>
            <a:off x="812800" y="120134"/>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TỔNG QUAN</a:t>
            </a:r>
          </a:p>
        </p:txBody>
      </p:sp>
      <p:sp>
        <p:nvSpPr>
          <p:cNvPr id="7" name="Freeform 30">
            <a:extLst>
              <a:ext uri="{FF2B5EF4-FFF2-40B4-BE49-F238E27FC236}">
                <a16:creationId xmlns:a16="http://schemas.microsoft.com/office/drawing/2014/main" id="{DB963837-AEA1-9520-17E3-03D3DE18B040}"/>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AB750AD3-E8FE-7A64-93DE-A6B4D7424967}"/>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887681D1-CFE8-4BDC-A7BD-BDA252CD9E4A}"/>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C13D218D-1703-6D52-7971-5396AB8ECCB1}"/>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5</a:t>
            </a:r>
          </a:p>
        </p:txBody>
      </p:sp>
      <p:sp>
        <p:nvSpPr>
          <p:cNvPr id="26" name="TextBox 25">
            <a:extLst>
              <a:ext uri="{FF2B5EF4-FFF2-40B4-BE49-F238E27FC236}">
                <a16:creationId xmlns:a16="http://schemas.microsoft.com/office/drawing/2014/main" id="{866CE0DD-E5BF-3E7B-1340-958029768500}"/>
              </a:ext>
            </a:extLst>
          </p:cNvPr>
          <p:cNvSpPr txBox="1"/>
          <p:nvPr/>
        </p:nvSpPr>
        <p:spPr>
          <a:xfrm>
            <a:off x="0" y="682955"/>
            <a:ext cx="6096000" cy="1569660"/>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GIẢI PHÁP ĐỀ XUẤT:</a:t>
            </a:r>
          </a:p>
          <a:p>
            <a:pPr algn="l"/>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5" name="Picture 10" descr="computer – Wiktionary tiếng Việt">
            <a:extLst>
              <a:ext uri="{FF2B5EF4-FFF2-40B4-BE49-F238E27FC236}">
                <a16:creationId xmlns:a16="http://schemas.microsoft.com/office/drawing/2014/main" id="{6EBDC7F8-3CD9-1957-AD10-CE49C04673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1693" y="4657749"/>
            <a:ext cx="22860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descr="Camera icon Template | PosterMyWall">
            <a:extLst>
              <a:ext uri="{FF2B5EF4-FFF2-40B4-BE49-F238E27FC236}">
                <a16:creationId xmlns:a16="http://schemas.microsoft.com/office/drawing/2014/main" id="{B197AB82-6601-4861-AD42-BC8F2AB894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5947" y="2346092"/>
            <a:ext cx="1097280" cy="109728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Robotic Force and Tactile Sensing: The Latest Innovation in Industrial Robotics">
            <a:extLst>
              <a:ext uri="{FF2B5EF4-FFF2-40B4-BE49-F238E27FC236}">
                <a16:creationId xmlns:a16="http://schemas.microsoft.com/office/drawing/2014/main" id="{E83485F1-6D96-ACFD-A45A-989D343B09C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61161" y="1577491"/>
            <a:ext cx="2941052" cy="22047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C64B54A2-B206-B964-2EBA-4065518918FA}"/>
              </a:ext>
            </a:extLst>
          </p:cNvPr>
          <p:cNvPicPr>
            <a:picLocks noChangeAspect="1"/>
          </p:cNvPicPr>
          <p:nvPr/>
        </p:nvPicPr>
        <p:blipFill rotWithShape="1">
          <a:blip r:embed="rId8"/>
          <a:srcRect t="11809" r="7514" b="18015"/>
          <a:stretch/>
        </p:blipFill>
        <p:spPr>
          <a:xfrm>
            <a:off x="9203543" y="3942905"/>
            <a:ext cx="1523998" cy="762000"/>
          </a:xfrm>
          <a:prstGeom prst="rect">
            <a:avLst/>
          </a:prstGeom>
        </p:spPr>
      </p:pic>
      <p:sp>
        <p:nvSpPr>
          <p:cNvPr id="20" name="Arrow: Up-Down 19">
            <a:extLst>
              <a:ext uri="{FF2B5EF4-FFF2-40B4-BE49-F238E27FC236}">
                <a16:creationId xmlns:a16="http://schemas.microsoft.com/office/drawing/2014/main" id="{5C6F50BF-7B76-05A4-2478-7469F30D553E}"/>
              </a:ext>
            </a:extLst>
          </p:cNvPr>
          <p:cNvSpPr/>
          <p:nvPr/>
        </p:nvSpPr>
        <p:spPr bwMode="auto">
          <a:xfrm>
            <a:off x="5728614" y="3561173"/>
            <a:ext cx="429768" cy="636035"/>
          </a:xfrm>
          <a:prstGeom prst="upDownArrow">
            <a:avLst>
              <a:gd name="adj1" fmla="val 38652"/>
              <a:gd name="adj2" fmla="val 50000"/>
            </a:avLst>
          </a:prstGeom>
          <a:solidFill>
            <a:schemeClr val="tx1"/>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22" name="Arrow: Left 21">
            <a:extLst>
              <a:ext uri="{FF2B5EF4-FFF2-40B4-BE49-F238E27FC236}">
                <a16:creationId xmlns:a16="http://schemas.microsoft.com/office/drawing/2014/main" id="{6DA103A1-7FD4-D96C-4335-BB2A1DD46AA2}"/>
              </a:ext>
            </a:extLst>
          </p:cNvPr>
          <p:cNvSpPr/>
          <p:nvPr/>
        </p:nvSpPr>
        <p:spPr bwMode="auto">
          <a:xfrm rot="10800000">
            <a:off x="3870265" y="2751857"/>
            <a:ext cx="509099" cy="285750"/>
          </a:xfrm>
          <a:prstGeom prst="leftArrow">
            <a:avLst/>
          </a:prstGeom>
          <a:solidFill>
            <a:schemeClr val="tx1"/>
          </a:solidFill>
          <a:ln>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25" name="Arrow: Up-Down 24">
            <a:extLst>
              <a:ext uri="{FF2B5EF4-FFF2-40B4-BE49-F238E27FC236}">
                <a16:creationId xmlns:a16="http://schemas.microsoft.com/office/drawing/2014/main" id="{1595B115-D9C3-B27D-476A-6AD4E15C927A}"/>
              </a:ext>
            </a:extLst>
          </p:cNvPr>
          <p:cNvSpPr/>
          <p:nvPr/>
        </p:nvSpPr>
        <p:spPr bwMode="auto">
          <a:xfrm rot="5400000">
            <a:off x="7711009" y="2528154"/>
            <a:ext cx="429768" cy="733157"/>
          </a:xfrm>
          <a:prstGeom prst="upDownArrow">
            <a:avLst>
              <a:gd name="adj1" fmla="val 38652"/>
              <a:gd name="adj2" fmla="val 50000"/>
            </a:avLst>
          </a:prstGeom>
          <a:solidFill>
            <a:schemeClr val="tx1"/>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pic>
        <p:nvPicPr>
          <p:cNvPr id="28" name="Picture 4" descr="Lập trình ứng dụng Desktop với Winforms">
            <a:extLst>
              <a:ext uri="{FF2B5EF4-FFF2-40B4-BE49-F238E27FC236}">
                <a16:creationId xmlns:a16="http://schemas.microsoft.com/office/drawing/2014/main" id="{3448096F-17EC-B16D-21FF-520A9772486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01319" y="4335552"/>
            <a:ext cx="2441448" cy="1217333"/>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STMicroelectronics STM8L151R6T6, 8bit STM8 Microcontroller, 16MHz, 32 —  Nguyên Xương">
            <a:extLst>
              <a:ext uri="{FF2B5EF4-FFF2-40B4-BE49-F238E27FC236}">
                <a16:creationId xmlns:a16="http://schemas.microsoft.com/office/drawing/2014/main" id="{87DEDF04-8E03-FFC0-7B59-8371C85A6C2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61686" y="2305682"/>
            <a:ext cx="1563624" cy="1068536"/>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Straight Arrow Connector 30">
            <a:extLst>
              <a:ext uri="{FF2B5EF4-FFF2-40B4-BE49-F238E27FC236}">
                <a16:creationId xmlns:a16="http://schemas.microsoft.com/office/drawing/2014/main" id="{FCBBBC92-06DD-0A9D-D9C5-50FA54A5CAAA}"/>
              </a:ext>
            </a:extLst>
          </p:cNvPr>
          <p:cNvCxnSpPr/>
          <p:nvPr/>
        </p:nvCxnSpPr>
        <p:spPr bwMode="auto">
          <a:xfrm>
            <a:off x="9359793" y="2346092"/>
            <a:ext cx="258366" cy="1596813"/>
          </a:xfrm>
          <a:prstGeom prst="straightConnector1">
            <a:avLst/>
          </a:prstGeom>
          <a:solidFill>
            <a:schemeClr val="accent1"/>
          </a:solidFill>
          <a:ln w="31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TextBox 2">
            <a:extLst>
              <a:ext uri="{FF2B5EF4-FFF2-40B4-BE49-F238E27FC236}">
                <a16:creationId xmlns:a16="http://schemas.microsoft.com/office/drawing/2014/main" id="{F53C0617-1432-D6EE-0563-BF821EDC80C1}"/>
              </a:ext>
            </a:extLst>
          </p:cNvPr>
          <p:cNvSpPr txBox="1"/>
          <p:nvPr/>
        </p:nvSpPr>
        <p:spPr>
          <a:xfrm>
            <a:off x="133185" y="2637498"/>
            <a:ext cx="2887066" cy="400110"/>
          </a:xfrm>
          <a:prstGeom prst="rect">
            <a:avLst/>
          </a:prstGeom>
          <a:noFill/>
        </p:spPr>
        <p:txBody>
          <a:bodyPr wrap="square" rtlCol="0">
            <a:spAutoFit/>
          </a:bodyPr>
          <a:lstStyle/>
          <a:p>
            <a:pPr algn="l"/>
            <a:r>
              <a:rPr lang="en-US" sz="20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Camera + YOLOv8</a:t>
            </a:r>
          </a:p>
        </p:txBody>
      </p:sp>
      <p:sp>
        <p:nvSpPr>
          <p:cNvPr id="6" name="TextBox 5">
            <a:extLst>
              <a:ext uri="{FF2B5EF4-FFF2-40B4-BE49-F238E27FC236}">
                <a16:creationId xmlns:a16="http://schemas.microsoft.com/office/drawing/2014/main" id="{D37E5A87-6F5C-D2D2-E9FA-2F8B2A4BAA15}"/>
              </a:ext>
            </a:extLst>
          </p:cNvPr>
          <p:cNvSpPr txBox="1"/>
          <p:nvPr/>
        </p:nvSpPr>
        <p:spPr>
          <a:xfrm>
            <a:off x="3973654" y="1658295"/>
            <a:ext cx="6938226" cy="646331"/>
          </a:xfrm>
          <a:prstGeom prst="rect">
            <a:avLst/>
          </a:prstGeom>
          <a:noFill/>
        </p:spPr>
        <p:txBody>
          <a:bodyPr wrap="square" rtlCol="0">
            <a:spAutoFit/>
          </a:bodyPr>
          <a:lstStyle/>
          <a:p>
            <a:pPr algn="l"/>
            <a:r>
              <a:rPr lang="en-US" b="1" dirty="0">
                <a:latin typeface="Times New Roman" panose="02020603050405020304" pitchFamily="18" charset="0"/>
                <a:ea typeface="Open Sans" panose="020B0606030504020204" pitchFamily="34" charset="0"/>
                <a:cs typeface="Times New Roman" panose="02020603050405020304" pitchFamily="18" charset="0"/>
              </a:rPr>
              <a:t>- Raspberry Pi 4</a:t>
            </a:r>
            <a:br>
              <a:rPr lang="en-US" b="1" dirty="0">
                <a:latin typeface="Times New Roman" panose="02020603050405020304" pitchFamily="18" charset="0"/>
                <a:ea typeface="Open Sans" panose="020B0606030504020204" pitchFamily="34" charset="0"/>
                <a:cs typeface="Times New Roman" panose="02020603050405020304" pitchFamily="18" charset="0"/>
              </a:rPr>
            </a:br>
            <a:r>
              <a:rPr lang="en-US" b="1" dirty="0">
                <a:latin typeface="Times New Roman" panose="02020603050405020304" pitchFamily="18" charset="0"/>
                <a:ea typeface="Open Sans" panose="020B0606030504020204" pitchFamily="34" charset="0"/>
                <a:cs typeface="Times New Roman" panose="02020603050405020304" pitchFamily="18" charset="0"/>
              </a:rPr>
              <a:t>- Mô hình </a:t>
            </a:r>
            <a:r>
              <a:rPr lang="en-US" b="1" dirty="0" err="1">
                <a:latin typeface="Times New Roman" panose="02020603050405020304" pitchFamily="18" charset="0"/>
                <a:ea typeface="Open Sans" panose="020B0606030504020204" pitchFamily="34" charset="0"/>
                <a:cs typeface="Times New Roman" panose="02020603050405020304" pitchFamily="18" charset="0"/>
              </a:rPr>
              <a:t>MLPRegressor</a:t>
            </a:r>
            <a:r>
              <a:rPr lang="en-US" b="1" dirty="0">
                <a:latin typeface="Times New Roman" panose="02020603050405020304" pitchFamily="18" charset="0"/>
                <a:ea typeface="Open Sans" panose="020B0606030504020204" pitchFamily="34" charset="0"/>
                <a:cs typeface="Times New Roman" panose="02020603050405020304" pitchFamily="18" charset="0"/>
              </a:rPr>
              <a:t> và </a:t>
            </a:r>
            <a:r>
              <a:rPr lang="en-US" b="1" dirty="0" err="1">
                <a:latin typeface="Times New Roman" panose="02020603050405020304" pitchFamily="18" charset="0"/>
                <a:ea typeface="Open Sans" panose="020B0606030504020204" pitchFamily="34" charset="0"/>
                <a:cs typeface="Times New Roman" panose="02020603050405020304" pitchFamily="18" charset="0"/>
              </a:rPr>
              <a:t>MLPClassifier</a:t>
            </a:r>
            <a:r>
              <a:rPr lang="en-US" b="1" dirty="0">
                <a:latin typeface="Times New Roman" panose="02020603050405020304" pitchFamily="18" charset="0"/>
                <a:ea typeface="Open Sans" panose="020B0606030504020204" pitchFamily="34" charset="0"/>
                <a:cs typeface="Times New Roman" panose="02020603050405020304" pitchFamily="18" charset="0"/>
              </a:rPr>
              <a:t>  </a:t>
            </a:r>
            <a:endPar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ABA28C98-3C7B-5155-F548-0C3034710F19}"/>
              </a:ext>
            </a:extLst>
          </p:cNvPr>
          <p:cNvSpPr txBox="1"/>
          <p:nvPr/>
        </p:nvSpPr>
        <p:spPr>
          <a:xfrm>
            <a:off x="5943498" y="5883550"/>
            <a:ext cx="2887066" cy="646331"/>
          </a:xfrm>
          <a:prstGeom prst="rect">
            <a:avLst/>
          </a:prstGeom>
          <a:noFill/>
        </p:spPr>
        <p:txBody>
          <a:bodyPr wrap="square" rtlCol="0">
            <a:spAutoFit/>
          </a:bodyPr>
          <a:lstStyle/>
          <a:p>
            <a:pPr algn="l"/>
            <a:r>
              <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Giao </a:t>
            </a:r>
            <a:r>
              <a:rPr lang="en-US"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diện</a:t>
            </a:r>
            <a:r>
              <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hiển</a:t>
            </a:r>
            <a:r>
              <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thị</a:t>
            </a:r>
            <a:r>
              <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và </a:t>
            </a:r>
            <a:r>
              <a:rPr lang="en-US"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điều</a:t>
            </a:r>
            <a:r>
              <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khiển</a:t>
            </a:r>
            <a:r>
              <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cho</a:t>
            </a:r>
            <a:r>
              <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người</a:t>
            </a:r>
            <a:r>
              <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dùng</a:t>
            </a:r>
            <a:endPar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9E5205CF-C825-B9B2-B3D8-1E64240B72D1}"/>
              </a:ext>
            </a:extLst>
          </p:cNvPr>
          <p:cNvSpPr txBox="1"/>
          <p:nvPr/>
        </p:nvSpPr>
        <p:spPr>
          <a:xfrm>
            <a:off x="9203543" y="4657749"/>
            <a:ext cx="2887066" cy="369332"/>
          </a:xfrm>
          <a:prstGeom prst="rect">
            <a:avLst/>
          </a:prstGeom>
          <a:noFill/>
        </p:spPr>
        <p:txBody>
          <a:bodyPr wrap="square" rtlCol="0">
            <a:spAutoFit/>
          </a:bodyPr>
          <a:lstStyle/>
          <a:p>
            <a:pPr algn="l"/>
            <a:r>
              <a:rPr lang="en-US"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Cảm</a:t>
            </a:r>
            <a:r>
              <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biến</a:t>
            </a:r>
            <a:r>
              <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xúc</a:t>
            </a:r>
            <a:r>
              <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giác</a:t>
            </a:r>
            <a:r>
              <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Velostat</a:t>
            </a:r>
            <a:endPar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F113A83B-611C-E0DE-A210-DAA9F99B6AE8}"/>
              </a:ext>
            </a:extLst>
          </p:cNvPr>
          <p:cNvSpPr txBox="1"/>
          <p:nvPr/>
        </p:nvSpPr>
        <p:spPr>
          <a:xfrm>
            <a:off x="8680422" y="1617311"/>
            <a:ext cx="3933308" cy="369332"/>
          </a:xfrm>
          <a:prstGeom prst="rect">
            <a:avLst/>
          </a:prstGeom>
          <a:noFill/>
        </p:spPr>
        <p:txBody>
          <a:bodyPr wrap="square" rtlCol="0">
            <a:spAutoFit/>
          </a:bodyPr>
          <a:lstStyle/>
          <a:p>
            <a:pPr algn="l"/>
            <a:r>
              <a:rPr lang="en-US" b="1" dirty="0">
                <a:latin typeface="Times New Roman" panose="02020603050405020304" pitchFamily="18" charset="0"/>
                <a:ea typeface="Open Sans" panose="020B0606030504020204" pitchFamily="34" charset="0"/>
                <a:cs typeface="Times New Roman" panose="02020603050405020304" pitchFamily="18" charset="0"/>
              </a:rPr>
              <a:t>Tay </a:t>
            </a:r>
            <a:r>
              <a:rPr lang="en-US" b="1" dirty="0" err="1">
                <a:latin typeface="Times New Roman" panose="02020603050405020304" pitchFamily="18" charset="0"/>
                <a:ea typeface="Open Sans" panose="020B0606030504020204" pitchFamily="34" charset="0"/>
                <a:cs typeface="Times New Roman" panose="02020603050405020304" pitchFamily="18" charset="0"/>
              </a:rPr>
              <a:t>gắp</a:t>
            </a:r>
            <a:r>
              <a:rPr lang="en-US" b="1" dirty="0">
                <a:latin typeface="Times New Roman" panose="02020603050405020304" pitchFamily="18" charset="0"/>
                <a:ea typeface="Open Sans" panose="020B0606030504020204" pitchFamily="34" charset="0"/>
                <a:cs typeface="Times New Roman" panose="02020603050405020304" pitchFamily="18" charset="0"/>
              </a:rPr>
              <a:t> in 3D + Servo TD8120MG </a:t>
            </a:r>
            <a:endParaRPr lang="en-US"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288032204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EB6B8-DBAD-9FB5-5190-A94175A7EA95}"/>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EAB894CE-A8D0-C1E7-42B9-C770941C1E5E}"/>
              </a:ext>
            </a:extLst>
          </p:cNvPr>
          <p:cNvSpPr/>
          <p:nvPr/>
        </p:nvSpPr>
        <p:spPr bwMode="auto">
          <a:xfrm>
            <a:off x="1239163" y="0"/>
            <a:ext cx="9713675" cy="926432"/>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B6334CC8-BC89-5AB9-81D8-97067F16D436}"/>
              </a:ext>
            </a:extLst>
          </p:cNvPr>
          <p:cNvSpPr txBox="1"/>
          <p:nvPr/>
        </p:nvSpPr>
        <p:spPr>
          <a:xfrm>
            <a:off x="812800" y="120134"/>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CƠ SỞ LÝ THUYẾT</a:t>
            </a:r>
          </a:p>
        </p:txBody>
      </p:sp>
      <p:sp>
        <p:nvSpPr>
          <p:cNvPr id="7" name="Freeform 30">
            <a:extLst>
              <a:ext uri="{FF2B5EF4-FFF2-40B4-BE49-F238E27FC236}">
                <a16:creationId xmlns:a16="http://schemas.microsoft.com/office/drawing/2014/main" id="{A2B53281-4749-71A4-A919-10DFFA11B63B}"/>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33F56EB6-3124-5F8A-0451-19CB911F58E3}"/>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766DE06E-F0E1-444F-1843-B14B6718BE46}"/>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B5A3E8B9-7525-5F37-A56A-D7D48AD6ED96}"/>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6</a:t>
            </a:r>
          </a:p>
        </p:txBody>
      </p:sp>
      <p:sp>
        <p:nvSpPr>
          <p:cNvPr id="5" name="Rectangle 4">
            <a:extLst>
              <a:ext uri="{FF2B5EF4-FFF2-40B4-BE49-F238E27FC236}">
                <a16:creationId xmlns:a16="http://schemas.microsoft.com/office/drawing/2014/main" id="{BC4C4277-09AB-B241-BEAF-28CDE8B72838}"/>
              </a:ext>
            </a:extLst>
          </p:cNvPr>
          <p:cNvSpPr/>
          <p:nvPr/>
        </p:nvSpPr>
        <p:spPr bwMode="auto">
          <a:xfrm>
            <a:off x="246898" y="2786389"/>
            <a:ext cx="3212433" cy="1617169"/>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8" name="TextBox 7">
            <a:extLst>
              <a:ext uri="{FF2B5EF4-FFF2-40B4-BE49-F238E27FC236}">
                <a16:creationId xmlns:a16="http://schemas.microsoft.com/office/drawing/2014/main" id="{90DA9131-47F5-C0C6-B09D-F76808523403}"/>
              </a:ext>
            </a:extLst>
          </p:cNvPr>
          <p:cNvSpPr txBox="1"/>
          <p:nvPr/>
        </p:nvSpPr>
        <p:spPr>
          <a:xfrm>
            <a:off x="246897" y="3241030"/>
            <a:ext cx="3212433" cy="707886"/>
          </a:xfrm>
          <a:prstGeom prst="rect">
            <a:avLst/>
          </a:prstGeom>
          <a:noFill/>
        </p:spPr>
        <p:txBody>
          <a:bodyPr wrap="square" rtlCol="0">
            <a:spAutoFit/>
          </a:bodyPr>
          <a:lstStyle/>
          <a:p>
            <a:pPr algn="ctr" defTabSz="1219170" fontAlgn="base">
              <a:spcBef>
                <a:spcPct val="0"/>
              </a:spcBef>
              <a:spcAft>
                <a:spcPct val="0"/>
              </a:spcAft>
            </a:pPr>
            <a:r>
              <a:rPr lang="en-US" sz="2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CẢM BIẾN</a:t>
            </a:r>
            <a:br>
              <a:rPr lang="en-US" sz="2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br>
            <a:r>
              <a:rPr lang="en-US" sz="2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XÚC GIÁC</a:t>
            </a:r>
          </a:p>
        </p:txBody>
      </p:sp>
      <p:sp>
        <p:nvSpPr>
          <p:cNvPr id="10" name="Rectangle 9">
            <a:extLst>
              <a:ext uri="{FF2B5EF4-FFF2-40B4-BE49-F238E27FC236}">
                <a16:creationId xmlns:a16="http://schemas.microsoft.com/office/drawing/2014/main" id="{2F4F1FE6-AC1F-685E-716C-190B2223EA35}"/>
              </a:ext>
            </a:extLst>
          </p:cNvPr>
          <p:cNvSpPr/>
          <p:nvPr/>
        </p:nvSpPr>
        <p:spPr bwMode="auto">
          <a:xfrm>
            <a:off x="8292014" y="2786389"/>
            <a:ext cx="3653088" cy="1617169"/>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3" name="TextBox 12">
            <a:extLst>
              <a:ext uri="{FF2B5EF4-FFF2-40B4-BE49-F238E27FC236}">
                <a16:creationId xmlns:a16="http://schemas.microsoft.com/office/drawing/2014/main" id="{87A7BB15-BF60-3A45-7D0F-19B724296E25}"/>
              </a:ext>
            </a:extLst>
          </p:cNvPr>
          <p:cNvSpPr txBox="1"/>
          <p:nvPr/>
        </p:nvSpPr>
        <p:spPr>
          <a:xfrm>
            <a:off x="8292014" y="3179474"/>
            <a:ext cx="3653088" cy="707886"/>
          </a:xfrm>
          <a:prstGeom prst="rect">
            <a:avLst/>
          </a:prstGeom>
          <a:noFill/>
        </p:spPr>
        <p:txBody>
          <a:bodyPr wrap="square" rtlCol="0">
            <a:spAutoFit/>
          </a:bodyPr>
          <a:lstStyle/>
          <a:p>
            <a:pPr algn="ctr" defTabSz="1219170" fontAlgn="base">
              <a:spcBef>
                <a:spcPct val="0"/>
              </a:spcBef>
              <a:spcAft>
                <a:spcPct val="0"/>
              </a:spcAft>
            </a:pPr>
            <a:r>
              <a:rPr lang="en-US" sz="2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MẠNG MULTI LAYER PERCEPTRON </a:t>
            </a:r>
          </a:p>
        </p:txBody>
      </p:sp>
      <p:sp>
        <p:nvSpPr>
          <p:cNvPr id="17" name="Rectangle 16">
            <a:extLst>
              <a:ext uri="{FF2B5EF4-FFF2-40B4-BE49-F238E27FC236}">
                <a16:creationId xmlns:a16="http://schemas.microsoft.com/office/drawing/2014/main" id="{84CA3292-71C3-C090-3E80-C0057F68E764}"/>
              </a:ext>
            </a:extLst>
          </p:cNvPr>
          <p:cNvSpPr/>
          <p:nvPr/>
        </p:nvSpPr>
        <p:spPr bwMode="auto">
          <a:xfrm>
            <a:off x="4269456" y="2786389"/>
            <a:ext cx="3212433" cy="1617169"/>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20" name="TextBox 19">
            <a:extLst>
              <a:ext uri="{FF2B5EF4-FFF2-40B4-BE49-F238E27FC236}">
                <a16:creationId xmlns:a16="http://schemas.microsoft.com/office/drawing/2014/main" id="{E83235E4-1605-3CAB-5983-965789A54877}"/>
              </a:ext>
            </a:extLst>
          </p:cNvPr>
          <p:cNvSpPr txBox="1"/>
          <p:nvPr/>
        </p:nvSpPr>
        <p:spPr>
          <a:xfrm>
            <a:off x="4269455" y="3333362"/>
            <a:ext cx="3212433" cy="400110"/>
          </a:xfrm>
          <a:prstGeom prst="rect">
            <a:avLst/>
          </a:prstGeom>
          <a:noFill/>
        </p:spPr>
        <p:txBody>
          <a:bodyPr wrap="square" rtlCol="0">
            <a:spAutoFit/>
          </a:bodyPr>
          <a:lstStyle/>
          <a:p>
            <a:pPr algn="ctr" defTabSz="1219170" fontAlgn="base">
              <a:spcBef>
                <a:spcPct val="0"/>
              </a:spcBef>
              <a:spcAft>
                <a:spcPct val="0"/>
              </a:spcAft>
            </a:pPr>
            <a:r>
              <a:rPr lang="en-US" sz="2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YOLO &amp; YOLOV8</a:t>
            </a:r>
          </a:p>
        </p:txBody>
      </p:sp>
    </p:spTree>
    <p:extLst>
      <p:ext uri="{BB962C8B-B14F-4D97-AF65-F5344CB8AC3E}">
        <p14:creationId xmlns:p14="http://schemas.microsoft.com/office/powerpoint/2010/main" val="74656360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5021D-D168-54D5-352C-13EC564EF080}"/>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A498002F-3611-611C-BA42-DD72B4C204BB}"/>
              </a:ext>
            </a:extLst>
          </p:cNvPr>
          <p:cNvSpPr/>
          <p:nvPr/>
        </p:nvSpPr>
        <p:spPr bwMode="auto">
          <a:xfrm>
            <a:off x="1239163" y="-1"/>
            <a:ext cx="9713675" cy="1200329"/>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ED58D533-CE99-D9C8-A6F2-92A771652E49}"/>
              </a:ext>
            </a:extLst>
          </p:cNvPr>
          <p:cNvSpPr txBox="1"/>
          <p:nvPr/>
        </p:nvSpPr>
        <p:spPr>
          <a:xfrm>
            <a:off x="812800" y="-36168"/>
            <a:ext cx="10566400" cy="1200329"/>
          </a:xfrm>
          <a:prstGeom prst="rect">
            <a:avLst/>
          </a:prstGeom>
          <a:noFill/>
        </p:spPr>
        <p:txBody>
          <a:bodyPr wrap="square" rtlCol="0">
            <a:spAutoFit/>
          </a:bodyPr>
          <a:lstStyle/>
          <a:p>
            <a:pPr algn="ctr" defTabSz="1219170" fontAlgn="base">
              <a:spcBef>
                <a:spcPct val="0"/>
              </a:spcBef>
              <a:spcAft>
                <a:spcPct val="0"/>
              </a:spcAft>
            </a:pPr>
            <a:r>
              <a:rPr lang="en-US" sz="36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CƠ SỞ LÝ THUYẾT: </a:t>
            </a:r>
            <a:br>
              <a:rPr lang="en-US" sz="36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br>
            <a:r>
              <a:rPr lang="en-US" sz="36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CẢM BIẾN XÚC GIÁC</a:t>
            </a:r>
          </a:p>
        </p:txBody>
      </p:sp>
      <p:sp>
        <p:nvSpPr>
          <p:cNvPr id="7" name="Freeform 30">
            <a:extLst>
              <a:ext uri="{FF2B5EF4-FFF2-40B4-BE49-F238E27FC236}">
                <a16:creationId xmlns:a16="http://schemas.microsoft.com/office/drawing/2014/main" id="{5071FDC5-8755-6A3B-2683-B134E8593EE4}"/>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C03BDA7B-F774-C2FA-1553-F0383AFD66DF}"/>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D0595848-DE4E-7D9A-F6A4-F931E176C143}"/>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6BB1F187-0F9F-9F75-26F9-A1509A3780A1}"/>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7</a:t>
            </a:r>
          </a:p>
        </p:txBody>
      </p:sp>
      <p:sp>
        <p:nvSpPr>
          <p:cNvPr id="26" name="TextBox 25">
            <a:extLst>
              <a:ext uri="{FF2B5EF4-FFF2-40B4-BE49-F238E27FC236}">
                <a16:creationId xmlns:a16="http://schemas.microsoft.com/office/drawing/2014/main" id="{7657DB0A-7B5B-64DA-8DB1-1F0838F9577E}"/>
              </a:ext>
            </a:extLst>
          </p:cNvPr>
          <p:cNvSpPr txBox="1"/>
          <p:nvPr/>
        </p:nvSpPr>
        <p:spPr>
          <a:xfrm>
            <a:off x="206542" y="1351386"/>
            <a:ext cx="11778916" cy="830997"/>
          </a:xfrm>
          <a:prstGeom prst="rect">
            <a:avLst/>
          </a:prstGeom>
          <a:noFill/>
        </p:spPr>
        <p:txBody>
          <a:bodyPr wrap="square" rtlCol="0">
            <a:spAutoFit/>
          </a:bodyPr>
          <a:lstStyle/>
          <a:p>
            <a:pPr algn="l"/>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Cảm biến xúc giác là thiết bị dùng để đo các đại lượng như lực, áp suất, vùng</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tiếp xúc, độ biến dạng hoặc sự thay đổi trạng thái tiếp xúc. </a:t>
            </a: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F169880F-8A51-3A20-1F50-51F17737A963}"/>
              </a:ext>
            </a:extLst>
          </p:cNvPr>
          <p:cNvSpPr txBox="1"/>
          <p:nvPr/>
        </p:nvSpPr>
        <p:spPr>
          <a:xfrm>
            <a:off x="626643" y="4511566"/>
            <a:ext cx="4160920" cy="523220"/>
          </a:xfrm>
          <a:prstGeom prst="rect">
            <a:avLst/>
          </a:prstGeom>
          <a:noFill/>
        </p:spPr>
        <p:txBody>
          <a:bodyPr wrap="square" rtlCol="0">
            <a:spAutoFit/>
          </a:bodyPr>
          <a:lstStyle/>
          <a:p>
            <a:pPr algn="l"/>
            <a:endParaRPr lang="en-US" sz="1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Hình: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Cảm</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biến</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điện</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trở</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áp</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(Piezoresistive)</a:t>
            </a:r>
            <a:endParaRPr lang="en-US" sz="1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AC08B298-1908-4D97-5826-7BB8CB70A4A7}"/>
              </a:ext>
            </a:extLst>
          </p:cNvPr>
          <p:cNvSpPr txBox="1"/>
          <p:nvPr/>
        </p:nvSpPr>
        <p:spPr>
          <a:xfrm>
            <a:off x="5323977" y="4511566"/>
            <a:ext cx="4160920" cy="738664"/>
          </a:xfrm>
          <a:prstGeom prst="rect">
            <a:avLst/>
          </a:prstGeom>
          <a:noFill/>
        </p:spPr>
        <p:txBody>
          <a:bodyPr wrap="square" rtlCol="0">
            <a:spAutoFit/>
          </a:bodyPr>
          <a:lstStyle/>
          <a:p>
            <a:pPr algn="l"/>
            <a:endParaRPr lang="en-US" sz="1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Hình: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Cảm</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biến</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điện</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dung</a:t>
            </a:r>
          </a:p>
          <a:p>
            <a:pPr algn="l"/>
            <a:endParaRPr lang="en-US" sz="1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8BE8963E-09DB-16A1-8EDA-64BDFA1CDE6D}"/>
              </a:ext>
            </a:extLst>
          </p:cNvPr>
          <p:cNvSpPr txBox="1"/>
          <p:nvPr/>
        </p:nvSpPr>
        <p:spPr>
          <a:xfrm>
            <a:off x="9632622" y="4511566"/>
            <a:ext cx="2024505" cy="738664"/>
          </a:xfrm>
          <a:prstGeom prst="rect">
            <a:avLst/>
          </a:prstGeom>
          <a:noFill/>
        </p:spPr>
        <p:txBody>
          <a:bodyPr wrap="square" rtlCol="0">
            <a:spAutoFit/>
          </a:bodyPr>
          <a:lstStyle/>
          <a:p>
            <a:pPr algn="l"/>
            <a:endParaRPr lang="en-US" sz="1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Hình: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Cảm</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biến</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áp</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điện</a:t>
            </a:r>
            <a:endPar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algn="l"/>
            <a:endParaRPr lang="en-US" sz="1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2D23521F-320A-837D-8051-26E8FEB455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7831" y="2719744"/>
            <a:ext cx="4298343" cy="1839243"/>
          </a:xfrm>
          <a:prstGeom prst="rect">
            <a:avLst/>
          </a:prstGeom>
        </p:spPr>
      </p:pic>
      <p:pic>
        <p:nvPicPr>
          <p:cNvPr id="13" name="Picture 12">
            <a:extLst>
              <a:ext uri="{FF2B5EF4-FFF2-40B4-BE49-F238E27FC236}">
                <a16:creationId xmlns:a16="http://schemas.microsoft.com/office/drawing/2014/main" id="{04A20513-8074-758D-5C90-32DAB8DB9B3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33216" y="2719744"/>
            <a:ext cx="3598307" cy="1689087"/>
          </a:xfrm>
          <a:prstGeom prst="rect">
            <a:avLst/>
          </a:prstGeom>
        </p:spPr>
      </p:pic>
      <p:pic>
        <p:nvPicPr>
          <p:cNvPr id="17" name="Picture 16">
            <a:extLst>
              <a:ext uri="{FF2B5EF4-FFF2-40B4-BE49-F238E27FC236}">
                <a16:creationId xmlns:a16="http://schemas.microsoft.com/office/drawing/2014/main" id="{E390A2A9-EDF2-A73F-6AA6-BF8E57ABB01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49524" y="2719744"/>
            <a:ext cx="3642476" cy="1933548"/>
          </a:xfrm>
          <a:prstGeom prst="rect">
            <a:avLst/>
          </a:prstGeom>
        </p:spPr>
      </p:pic>
    </p:spTree>
    <p:extLst>
      <p:ext uri="{BB962C8B-B14F-4D97-AF65-F5344CB8AC3E}">
        <p14:creationId xmlns:p14="http://schemas.microsoft.com/office/powerpoint/2010/main" val="142280013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73A33-E562-6C0E-0605-9FFF501365AD}"/>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1BA90A43-9D02-77D5-03FE-8FDAB34C3A16}"/>
              </a:ext>
            </a:extLst>
          </p:cNvPr>
          <p:cNvSpPr/>
          <p:nvPr/>
        </p:nvSpPr>
        <p:spPr bwMode="auto">
          <a:xfrm>
            <a:off x="1239163" y="-1"/>
            <a:ext cx="9713675" cy="1200329"/>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64665901-5E96-DB9E-C306-B8B71F62DF0F}"/>
              </a:ext>
            </a:extLst>
          </p:cNvPr>
          <p:cNvSpPr txBox="1"/>
          <p:nvPr/>
        </p:nvSpPr>
        <p:spPr>
          <a:xfrm>
            <a:off x="812800" y="-36168"/>
            <a:ext cx="10566400" cy="1200329"/>
          </a:xfrm>
          <a:prstGeom prst="rect">
            <a:avLst/>
          </a:prstGeom>
          <a:noFill/>
        </p:spPr>
        <p:txBody>
          <a:bodyPr wrap="square" rtlCol="0">
            <a:spAutoFit/>
          </a:bodyPr>
          <a:lstStyle/>
          <a:p>
            <a:pPr algn="ctr" defTabSz="1219170" fontAlgn="base">
              <a:spcBef>
                <a:spcPct val="0"/>
              </a:spcBef>
              <a:spcAft>
                <a:spcPct val="0"/>
              </a:spcAft>
            </a:pPr>
            <a:r>
              <a:rPr lang="en-US" sz="36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CƠ SỞ LÝ THUYẾT: </a:t>
            </a:r>
            <a:br>
              <a:rPr lang="en-US" sz="36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br>
            <a:r>
              <a:rPr lang="en-US" sz="36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YOLO &amp; YOLOV8</a:t>
            </a:r>
          </a:p>
        </p:txBody>
      </p:sp>
      <p:sp>
        <p:nvSpPr>
          <p:cNvPr id="7" name="Freeform 30">
            <a:extLst>
              <a:ext uri="{FF2B5EF4-FFF2-40B4-BE49-F238E27FC236}">
                <a16:creationId xmlns:a16="http://schemas.microsoft.com/office/drawing/2014/main" id="{D631CD5E-567A-CAAE-F457-9C167851A1A0}"/>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46D12778-F9E7-BF22-00AA-A3CFA7CEBCCE}"/>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D89DF50A-6A74-4176-04EB-1D84FBF8FA08}"/>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CAE93C36-0BCB-F5DC-F539-5B1439FAC1AF}"/>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8</a:t>
            </a:r>
          </a:p>
        </p:txBody>
      </p:sp>
      <p:sp>
        <p:nvSpPr>
          <p:cNvPr id="26" name="TextBox 25">
            <a:extLst>
              <a:ext uri="{FF2B5EF4-FFF2-40B4-BE49-F238E27FC236}">
                <a16:creationId xmlns:a16="http://schemas.microsoft.com/office/drawing/2014/main" id="{DE046DED-F466-9C48-D1FD-8F8181E0A01A}"/>
              </a:ext>
            </a:extLst>
          </p:cNvPr>
          <p:cNvSpPr txBox="1"/>
          <p:nvPr/>
        </p:nvSpPr>
        <p:spPr>
          <a:xfrm>
            <a:off x="246898" y="1460056"/>
            <a:ext cx="6069264" cy="4524315"/>
          </a:xfrm>
          <a:prstGeom prst="rect">
            <a:avLst/>
          </a:prstGeom>
          <a:noFill/>
        </p:spPr>
        <p:txBody>
          <a:bodyPr wrap="square" rtlCol="0">
            <a:spAutoFit/>
          </a:bodyPr>
          <a:lstStyle/>
          <a:p>
            <a:r>
              <a:rPr lang="vi-VN"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YOLO</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vi-VN"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You Only Look Once</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a:t>
            </a:r>
          </a:p>
          <a:p>
            <a:endParaRPr lang="en-US" sz="2400" b="1" dirty="0">
              <a:latin typeface="Times New Roman" panose="02020603050405020304" pitchFamily="18" charset="0"/>
              <a:ea typeface="Open Sans" panose="020B0606030504020204" pitchFamily="34" charset="0"/>
              <a:cs typeface="Times New Roman" panose="02020603050405020304" pitchFamily="18" charset="0"/>
            </a:endParaRPr>
          </a:p>
          <a:p>
            <a:pPr marL="342900" indent="-342900">
              <a:buFontTx/>
              <a:buChar char="-"/>
            </a:pPr>
            <a:r>
              <a:rPr lang="en-US" sz="2400" b="1" dirty="0" err="1">
                <a:latin typeface="Times New Roman" panose="02020603050405020304" pitchFamily="18" charset="0"/>
                <a:ea typeface="Open Sans" panose="020B0606030504020204" pitchFamily="34" charset="0"/>
                <a:cs typeface="Times New Roman" panose="02020603050405020304" pitchFamily="18" charset="0"/>
              </a:rPr>
              <a:t>Mô</a:t>
            </a:r>
            <a:r>
              <a:rPr lang="vi-VN" sz="2400" b="1" dirty="0">
                <a:latin typeface="Times New Roman" panose="02020603050405020304" pitchFamily="18" charset="0"/>
                <a:ea typeface="Open Sans" panose="020B0606030504020204" pitchFamily="34" charset="0"/>
                <a:cs typeface="Times New Roman" panose="02020603050405020304" pitchFamily="18" charset="0"/>
              </a:rPr>
              <a:t> hình thị giác máy tính </a:t>
            </a:r>
            <a:r>
              <a:rPr lang="en-US" sz="2400" b="1" dirty="0" err="1">
                <a:latin typeface="Times New Roman" panose="02020603050405020304" pitchFamily="18" charset="0"/>
                <a:ea typeface="Open Sans" panose="020B0606030504020204" pitchFamily="34" charset="0"/>
                <a:cs typeface="Times New Roman" panose="02020603050405020304" pitchFamily="18" charset="0"/>
              </a:rPr>
              <a:t>giải</a:t>
            </a:r>
            <a:r>
              <a:rPr lang="en-US" sz="2400" b="1" dirty="0">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latin typeface="Times New Roman" panose="02020603050405020304" pitchFamily="18" charset="0"/>
                <a:ea typeface="Open Sans" panose="020B0606030504020204" pitchFamily="34" charset="0"/>
                <a:cs typeface="Times New Roman" panose="02020603050405020304" pitchFamily="18" charset="0"/>
              </a:rPr>
              <a:t>quyết</a:t>
            </a:r>
            <a:r>
              <a:rPr lang="vi-VN" sz="2400" b="1" dirty="0">
                <a:latin typeface="Times New Roman" panose="02020603050405020304" pitchFamily="18" charset="0"/>
                <a:ea typeface="Open Sans" panose="020B0606030504020204" pitchFamily="34" charset="0"/>
                <a:cs typeface="Times New Roman" panose="02020603050405020304" pitchFamily="18" charset="0"/>
              </a:rPr>
              <a:t> bài toán phát hiện đối tượng</a:t>
            </a:r>
            <a:r>
              <a:rPr lang="en-US" sz="2400" b="1" dirty="0">
                <a:latin typeface="Times New Roman" panose="02020603050405020304" pitchFamily="18" charset="0"/>
                <a:ea typeface="Open Sans" panose="020B0606030504020204" pitchFamily="34" charset="0"/>
                <a:cs typeface="Times New Roman" panose="02020603050405020304" pitchFamily="18" charset="0"/>
              </a:rPr>
              <a:t>.</a:t>
            </a:r>
          </a:p>
          <a:p>
            <a:pPr algn="l"/>
            <a:endPar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vi-VN"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YOLO</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V8</a:t>
            </a:r>
          </a:p>
          <a:p>
            <a:pPr algn="l"/>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342900" indent="-342900" algn="l">
              <a:buFontTx/>
              <a:buChar char="-"/>
            </a:pP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Phiên</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bản</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nhỏ</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tốc</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độ</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nhanh</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phù</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hợp</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hệ</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thống</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nhúng</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a:t>
            </a:r>
          </a:p>
          <a:p>
            <a:pPr marL="342900" indent="-342900" algn="l">
              <a:buFontTx/>
              <a:buChar char="-"/>
            </a:pPr>
            <a:endParaRPr lang="en-US" sz="2400" b="1" dirty="0">
              <a:latin typeface="Times New Roman" panose="02020603050405020304" pitchFamily="18" charset="0"/>
              <a:ea typeface="Open Sans" panose="020B0606030504020204" pitchFamily="34" charset="0"/>
              <a:cs typeface="Times New Roman" panose="02020603050405020304" pitchFamily="18" charset="0"/>
            </a:endParaRPr>
          </a:p>
          <a:p>
            <a:pPr marL="342900" indent="-342900" algn="l">
              <a:buFontTx/>
              <a:buChar char="-"/>
            </a:pP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P</a:t>
            </a: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hiên bản YOLOv8n phù hợp với</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các hệ thống có tài nguyên tính toán hạn chế</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a:t>
            </a:r>
          </a:p>
        </p:txBody>
      </p:sp>
      <p:sp>
        <p:nvSpPr>
          <p:cNvPr id="8" name="TextBox 7">
            <a:extLst>
              <a:ext uri="{FF2B5EF4-FFF2-40B4-BE49-F238E27FC236}">
                <a16:creationId xmlns:a16="http://schemas.microsoft.com/office/drawing/2014/main" id="{2B22F111-2A0C-B406-C590-647377590A4A}"/>
              </a:ext>
            </a:extLst>
          </p:cNvPr>
          <p:cNvSpPr txBox="1"/>
          <p:nvPr/>
        </p:nvSpPr>
        <p:spPr>
          <a:xfrm>
            <a:off x="6940108" y="2932989"/>
            <a:ext cx="5433785" cy="523220"/>
          </a:xfrm>
          <a:prstGeom prst="rect">
            <a:avLst/>
          </a:prstGeom>
          <a:noFill/>
        </p:spPr>
        <p:txBody>
          <a:bodyPr wrap="square" rtlCol="0">
            <a:spAutoFit/>
          </a:bodyPr>
          <a:lstStyle/>
          <a:p>
            <a:pPr algn="l"/>
            <a:endParaRPr lang="en-US" sz="1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Hình: So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sánh</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hiệu</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suất</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của</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YOLOv8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với</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các</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phiên</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bản</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tiền</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nhiệm</a:t>
            </a:r>
            <a:endParaRPr lang="en-US" sz="1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25041FA0-E92A-A1F7-3D00-2AA1F4E790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22003" y="1255949"/>
            <a:ext cx="5069997" cy="1930902"/>
          </a:xfrm>
          <a:prstGeom prst="rect">
            <a:avLst/>
          </a:prstGeom>
        </p:spPr>
      </p:pic>
      <p:pic>
        <p:nvPicPr>
          <p:cNvPr id="5" name="Picture 4">
            <a:extLst>
              <a:ext uri="{FF2B5EF4-FFF2-40B4-BE49-F238E27FC236}">
                <a16:creationId xmlns:a16="http://schemas.microsoft.com/office/drawing/2014/main" id="{EC5C97DB-0ED7-4F05-773D-09C64B31446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03426" y="3467988"/>
            <a:ext cx="3535262" cy="2796589"/>
          </a:xfrm>
          <a:prstGeom prst="rect">
            <a:avLst/>
          </a:prstGeom>
        </p:spPr>
      </p:pic>
      <p:sp>
        <p:nvSpPr>
          <p:cNvPr id="10" name="TextBox 9">
            <a:extLst>
              <a:ext uri="{FF2B5EF4-FFF2-40B4-BE49-F238E27FC236}">
                <a16:creationId xmlns:a16="http://schemas.microsoft.com/office/drawing/2014/main" id="{83DFC2D7-7F53-0F78-96E6-9AE05DC1D375}"/>
              </a:ext>
            </a:extLst>
          </p:cNvPr>
          <p:cNvSpPr txBox="1"/>
          <p:nvPr/>
        </p:nvSpPr>
        <p:spPr>
          <a:xfrm>
            <a:off x="8805452" y="5979937"/>
            <a:ext cx="2147386" cy="523220"/>
          </a:xfrm>
          <a:prstGeom prst="rect">
            <a:avLst/>
          </a:prstGeom>
          <a:noFill/>
        </p:spPr>
        <p:txBody>
          <a:bodyPr wrap="square" rtlCol="0">
            <a:spAutoFit/>
          </a:bodyPr>
          <a:lstStyle/>
          <a:p>
            <a:pPr algn="l"/>
            <a:endParaRPr lang="en-US" sz="1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Hình: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Kiến</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trúc</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tổng</a:t>
            </a:r>
            <a:r>
              <a:rPr lang="en-US" sz="1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thể</a:t>
            </a:r>
            <a:endParaRPr lang="en-US" sz="1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141484905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078F0-A221-DB03-5944-279CF11657F9}"/>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DBE86B3B-F639-4BC8-E7F1-043F9F30D73F}"/>
              </a:ext>
            </a:extLst>
          </p:cNvPr>
          <p:cNvSpPr/>
          <p:nvPr/>
        </p:nvSpPr>
        <p:spPr bwMode="auto">
          <a:xfrm>
            <a:off x="1239163" y="-1"/>
            <a:ext cx="9713675" cy="1200329"/>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2978E63F-5734-AD24-E11B-1091A3C0FD7E}"/>
              </a:ext>
            </a:extLst>
          </p:cNvPr>
          <p:cNvSpPr txBox="1"/>
          <p:nvPr/>
        </p:nvSpPr>
        <p:spPr>
          <a:xfrm>
            <a:off x="812800" y="53868"/>
            <a:ext cx="10566400" cy="1631216"/>
          </a:xfrm>
          <a:prstGeom prst="rect">
            <a:avLst/>
          </a:prstGeom>
          <a:noFill/>
        </p:spPr>
        <p:txBody>
          <a:bodyPr wrap="square" rtlCol="0">
            <a:spAutoFit/>
          </a:bodyPr>
          <a:lstStyle/>
          <a:p>
            <a:pPr algn="ctr" defTabSz="1219170" fontAlgn="base">
              <a:spcBef>
                <a:spcPct val="0"/>
              </a:spcBef>
              <a:spcAft>
                <a:spcPct val="0"/>
              </a:spcAft>
            </a:pPr>
            <a:r>
              <a:rPr lang="en-US" sz="36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CƠ SỞ LÝ THUYẾT: </a:t>
            </a:r>
          </a:p>
          <a:p>
            <a:pPr algn="ctr" defTabSz="1219170" fontAlgn="base">
              <a:spcBef>
                <a:spcPct val="0"/>
              </a:spcBef>
              <a:spcAft>
                <a:spcPct val="0"/>
              </a:spcAft>
            </a:pPr>
            <a:r>
              <a:rPr lang="en-US" sz="28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MULTI LAYER PERCEPTRON </a:t>
            </a:r>
          </a:p>
          <a:p>
            <a:pPr algn="ctr" defTabSz="1219170" fontAlgn="base">
              <a:spcBef>
                <a:spcPct val="0"/>
              </a:spcBef>
              <a:spcAft>
                <a:spcPct val="0"/>
              </a:spcAft>
            </a:pPr>
            <a:endParaRPr lang="en-US" sz="36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endParaRPr>
          </a:p>
        </p:txBody>
      </p:sp>
      <p:sp>
        <p:nvSpPr>
          <p:cNvPr id="7" name="Freeform 30">
            <a:extLst>
              <a:ext uri="{FF2B5EF4-FFF2-40B4-BE49-F238E27FC236}">
                <a16:creationId xmlns:a16="http://schemas.microsoft.com/office/drawing/2014/main" id="{41E0344E-A3FF-767D-553C-9606B1B28E3C}"/>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62CC5A11-671E-2005-623B-05A0338A3E09}"/>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AE944BCF-299A-3784-E87B-5C07B9F6AD7B}"/>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69E8E83C-729D-57D1-DF14-F03281D93E3D}"/>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9</a:t>
            </a:r>
          </a:p>
        </p:txBody>
      </p:sp>
      <p:sp>
        <p:nvSpPr>
          <p:cNvPr id="26" name="TextBox 25">
            <a:extLst>
              <a:ext uri="{FF2B5EF4-FFF2-40B4-BE49-F238E27FC236}">
                <a16:creationId xmlns:a16="http://schemas.microsoft.com/office/drawing/2014/main" id="{DAD89999-A272-695A-AD85-FE727CD773BB}"/>
              </a:ext>
            </a:extLst>
          </p:cNvPr>
          <p:cNvSpPr txBox="1"/>
          <p:nvPr/>
        </p:nvSpPr>
        <p:spPr>
          <a:xfrm>
            <a:off x="0" y="7494418"/>
            <a:ext cx="6386762" cy="2677656"/>
          </a:xfrm>
          <a:prstGeom prst="rect">
            <a:avLst/>
          </a:prstGeom>
          <a:noFill/>
        </p:spPr>
        <p:txBody>
          <a:bodyPr wrap="square" rtlCol="0">
            <a:spAutoFit/>
          </a:bodyPr>
          <a:lstStyle/>
          <a:p>
            <a:pPr algn="l"/>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MẠNG NƠ RON NHÂN TẠO</a:t>
            </a:r>
          </a:p>
          <a:p>
            <a:pPr algn="l"/>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342900" indent="-342900" algn="l">
              <a:buFontTx/>
              <a:buChar char="-"/>
            </a:pP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Hình</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thành bằng cách liên kết nhiều nơ-ron thành</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các lớp. </a:t>
            </a: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342900" indent="-342900" algn="l">
              <a:buFontTx/>
              <a:buChar char="-"/>
            </a:pP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342900" indent="-342900" algn="l">
              <a:buFontTx/>
              <a:buChar char="-"/>
            </a:pPr>
            <a:r>
              <a:rPr lang="en-US" sz="2400" b="1" dirty="0" err="1">
                <a:latin typeface="Times New Roman" panose="02020603050405020304" pitchFamily="18" charset="0"/>
                <a:ea typeface="Open Sans" panose="020B0606030504020204" pitchFamily="34" charset="0"/>
                <a:cs typeface="Times New Roman" panose="02020603050405020304" pitchFamily="18" charset="0"/>
              </a:rPr>
              <a:t>Gồm</a:t>
            </a:r>
            <a:r>
              <a:rPr lang="en-US" sz="2400" b="1" dirty="0">
                <a:latin typeface="Times New Roman" panose="02020603050405020304" pitchFamily="18" charset="0"/>
                <a:ea typeface="Open Sans" panose="020B0606030504020204" pitchFamily="34" charset="0"/>
                <a:cs typeface="Times New Roman" panose="02020603050405020304" pitchFamily="18" charset="0"/>
              </a:rPr>
              <a:t> </a:t>
            </a: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lớp đầu vào, một hoặc nhiều lớp ẩn và lớp đầu</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ra.</a:t>
            </a: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0752AA4A-45D9-919D-F31D-C56ECE8E6880}"/>
              </a:ext>
            </a:extLst>
          </p:cNvPr>
          <p:cNvSpPr txBox="1"/>
          <p:nvPr/>
        </p:nvSpPr>
        <p:spPr>
          <a:xfrm>
            <a:off x="7912054" y="4230289"/>
            <a:ext cx="4098279" cy="830997"/>
          </a:xfrm>
          <a:prstGeom prst="rect">
            <a:avLst/>
          </a:prstGeom>
          <a:noFill/>
        </p:spPr>
        <p:txBody>
          <a:bodyPr wrap="square" rtlCol="0">
            <a:spAutoFit/>
          </a:bodyPr>
          <a:lstStyle/>
          <a:p>
            <a:pPr algn="l"/>
            <a:endPar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Hình:  Minh </a:t>
            </a:r>
            <a:r>
              <a:rPr lang="en-US" sz="16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họa</a:t>
            </a:r>
            <a:r>
              <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6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mạng</a:t>
            </a:r>
            <a:r>
              <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MLP</a:t>
            </a:r>
          </a:p>
          <a:p>
            <a:pPr algn="l"/>
            <a:endPar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C99ADD23-EF67-5E74-0A34-95F7D38D59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77522" y="1329016"/>
            <a:ext cx="5532811" cy="3188084"/>
          </a:xfrm>
          <a:prstGeom prst="rect">
            <a:avLst/>
          </a:prstGeom>
        </p:spPr>
      </p:pic>
      <p:sp>
        <p:nvSpPr>
          <p:cNvPr id="9" name="TextBox 8">
            <a:extLst>
              <a:ext uri="{FF2B5EF4-FFF2-40B4-BE49-F238E27FC236}">
                <a16:creationId xmlns:a16="http://schemas.microsoft.com/office/drawing/2014/main" id="{DDD96F90-C30C-46F8-8464-5199658270DA}"/>
              </a:ext>
            </a:extLst>
          </p:cNvPr>
          <p:cNvSpPr txBox="1"/>
          <p:nvPr/>
        </p:nvSpPr>
        <p:spPr>
          <a:xfrm>
            <a:off x="1" y="1421045"/>
            <a:ext cx="6585856" cy="3046988"/>
          </a:xfrm>
          <a:prstGeom prst="rect">
            <a:avLst/>
          </a:prstGeom>
          <a:noFill/>
        </p:spPr>
        <p:txBody>
          <a:bodyPr wrap="square" rtlCol="0">
            <a:spAutoFit/>
          </a:bodyPr>
          <a:lstStyle/>
          <a:p>
            <a:pPr algn="l"/>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MẠNG MULTI LAYER PERCEPTRON (MLP)</a:t>
            </a:r>
          </a:p>
          <a:p>
            <a:pPr algn="l"/>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342900" indent="-342900" algn="l">
              <a:buFontTx/>
              <a:buChar char="-"/>
            </a:pP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Mạng</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nơ-ron truyền thẳng gồm</a:t>
            </a: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l</a:t>
            </a: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ớp</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đầu vào – lớp ẩn – lớp đầu ra. </a:t>
            </a: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342900" indent="-342900" algn="l">
              <a:buFontTx/>
              <a:buChar char="-"/>
            </a:pP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342900" indent="-342900" algn="l">
              <a:buFontTx/>
              <a:buChar char="-"/>
            </a:pP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MLPRegressor</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và </a:t>
            </a:r>
            <a:r>
              <a:rPr lang="vi-VN"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MLPClassifier</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2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mô</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hình</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dùng</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trong</a:t>
            </a:r>
            <a:r>
              <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bài</a:t>
            </a: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342900" indent="-342900" algn="l">
              <a:buFontTx/>
              <a:buChar char="-"/>
            </a:pPr>
            <a:endParaRPr lang="en-US" sz="24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170843221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AC37D-E7F2-65B0-1080-6C308CC2BF0B}"/>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D0F1073C-FD32-2436-6756-07865D85CE26}"/>
              </a:ext>
            </a:extLst>
          </p:cNvPr>
          <p:cNvSpPr/>
          <p:nvPr/>
        </p:nvSpPr>
        <p:spPr bwMode="auto">
          <a:xfrm>
            <a:off x="1239163" y="-1"/>
            <a:ext cx="9713675" cy="1118938"/>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F347B7AF-49D6-C680-A70A-3B1420E7086F}"/>
              </a:ext>
            </a:extLst>
          </p:cNvPr>
          <p:cNvSpPr txBox="1"/>
          <p:nvPr/>
        </p:nvSpPr>
        <p:spPr>
          <a:xfrm>
            <a:off x="812800" y="0"/>
            <a:ext cx="10566400" cy="2062103"/>
          </a:xfrm>
          <a:prstGeom prst="rect">
            <a:avLst/>
          </a:prstGeom>
          <a:noFill/>
        </p:spPr>
        <p:txBody>
          <a:bodyPr wrap="square" rtlCol="0">
            <a:spAutoFit/>
          </a:bodyPr>
          <a:lstStyle/>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HỆ THỐNG:</a:t>
            </a:r>
          </a:p>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MÔ HÌNH HỆ THỐNG</a:t>
            </a:r>
          </a:p>
          <a:p>
            <a:pPr algn="ctr" defTabSz="1219170" fontAlgn="base">
              <a:spcBef>
                <a:spcPct val="0"/>
              </a:spcBef>
              <a:spcAft>
                <a:spcPct val="0"/>
              </a:spcAft>
            </a:pPr>
            <a:endPar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endParaRPr>
          </a:p>
          <a:p>
            <a:pPr algn="ctr" defTabSz="1219170" fontAlgn="base">
              <a:spcBef>
                <a:spcPct val="0"/>
              </a:spcBef>
              <a:spcAft>
                <a:spcPct val="0"/>
              </a:spcAft>
            </a:pPr>
            <a:endPar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endParaRPr>
          </a:p>
        </p:txBody>
      </p:sp>
      <p:sp>
        <p:nvSpPr>
          <p:cNvPr id="7" name="Freeform 30">
            <a:extLst>
              <a:ext uri="{FF2B5EF4-FFF2-40B4-BE49-F238E27FC236}">
                <a16:creationId xmlns:a16="http://schemas.microsoft.com/office/drawing/2014/main" id="{1EB5715F-0B3D-A84A-03D5-1445847FA5F6}"/>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D400F72C-A645-8A35-10BC-8622141C039B}"/>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005096F0-DE34-5559-D659-D0A5CB073A31}"/>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FAD0BABC-0D73-2B8A-86E5-E82E84F1F11F}"/>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10</a:t>
            </a:r>
          </a:p>
        </p:txBody>
      </p:sp>
      <p:pic>
        <p:nvPicPr>
          <p:cNvPr id="4" name="Picture 3">
            <a:extLst>
              <a:ext uri="{FF2B5EF4-FFF2-40B4-BE49-F238E27FC236}">
                <a16:creationId xmlns:a16="http://schemas.microsoft.com/office/drawing/2014/main" id="{4D9358C0-217C-8721-8792-3158856AB7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75059" y="1783691"/>
            <a:ext cx="8795856" cy="4950299"/>
          </a:xfrm>
          <a:prstGeom prst="rect">
            <a:avLst/>
          </a:prstGeom>
        </p:spPr>
      </p:pic>
    </p:spTree>
    <p:extLst>
      <p:ext uri="{BB962C8B-B14F-4D97-AF65-F5344CB8AC3E}">
        <p14:creationId xmlns:p14="http://schemas.microsoft.com/office/powerpoint/2010/main" val="365667626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87FF0-17F2-93C3-41DC-062D2086A59D}"/>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712C3978-E6C4-0998-7560-7A73B4F50264}"/>
              </a:ext>
            </a:extLst>
          </p:cNvPr>
          <p:cNvSpPr/>
          <p:nvPr/>
        </p:nvSpPr>
        <p:spPr bwMode="auto">
          <a:xfrm>
            <a:off x="1239163" y="-1"/>
            <a:ext cx="9713675" cy="1000695"/>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25BBD322-556A-874E-8E39-395E5867C0D1}"/>
              </a:ext>
            </a:extLst>
          </p:cNvPr>
          <p:cNvSpPr txBox="1"/>
          <p:nvPr/>
        </p:nvSpPr>
        <p:spPr>
          <a:xfrm>
            <a:off x="812800" y="-23047"/>
            <a:ext cx="10566400" cy="1077218"/>
          </a:xfrm>
          <a:prstGeom prst="rect">
            <a:avLst/>
          </a:prstGeom>
          <a:noFill/>
        </p:spPr>
        <p:txBody>
          <a:bodyPr wrap="square" rtlCol="0">
            <a:spAutoFit/>
          </a:bodyPr>
          <a:lstStyle/>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HỆ THỐNG:</a:t>
            </a:r>
          </a:p>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PHẦN CỨNG</a:t>
            </a:r>
          </a:p>
        </p:txBody>
      </p:sp>
      <p:sp>
        <p:nvSpPr>
          <p:cNvPr id="7" name="Freeform 30">
            <a:extLst>
              <a:ext uri="{FF2B5EF4-FFF2-40B4-BE49-F238E27FC236}">
                <a16:creationId xmlns:a16="http://schemas.microsoft.com/office/drawing/2014/main" id="{0E92167F-06A2-5461-F620-DB4C7DDCA31A}"/>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DBEFB5B3-CA72-821E-6EAA-0B55D29D4550}"/>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DCB3C738-9461-7A6E-FCAA-10CC51564A55}"/>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B8FA3743-9831-22B3-C3DE-93583BECAD7A}"/>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11</a:t>
            </a:r>
          </a:p>
        </p:txBody>
      </p:sp>
      <p:sp>
        <p:nvSpPr>
          <p:cNvPr id="26" name="TextBox 25">
            <a:extLst>
              <a:ext uri="{FF2B5EF4-FFF2-40B4-BE49-F238E27FC236}">
                <a16:creationId xmlns:a16="http://schemas.microsoft.com/office/drawing/2014/main" id="{423FC238-1234-0E21-3A0D-96C4E548F608}"/>
              </a:ext>
            </a:extLst>
          </p:cNvPr>
          <p:cNvSpPr txBox="1"/>
          <p:nvPr/>
        </p:nvSpPr>
        <p:spPr>
          <a:xfrm>
            <a:off x="0" y="682955"/>
            <a:ext cx="6096000" cy="1569660"/>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Sơ</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đồ</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khối</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hệ</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thống</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p>
          <a:p>
            <a:pPr algn="l"/>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28FC296B-1471-9359-2494-F5ACA7DCE8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8000" y="1768571"/>
            <a:ext cx="6516009" cy="4734586"/>
          </a:xfrm>
          <a:prstGeom prst="rect">
            <a:avLst/>
          </a:prstGeom>
        </p:spPr>
      </p:pic>
    </p:spTree>
    <p:extLst>
      <p:ext uri="{BB962C8B-B14F-4D97-AF65-F5344CB8AC3E}">
        <p14:creationId xmlns:p14="http://schemas.microsoft.com/office/powerpoint/2010/main" val="239384456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CC570-3D6A-4C98-1D0A-51C87A1EB597}"/>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A39516B0-8EA2-CCEE-55C1-74FB6D654F55}"/>
              </a:ext>
            </a:extLst>
          </p:cNvPr>
          <p:cNvSpPr/>
          <p:nvPr/>
        </p:nvSpPr>
        <p:spPr bwMode="auto">
          <a:xfrm>
            <a:off x="1239163" y="-1"/>
            <a:ext cx="9713675" cy="1000695"/>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B7C44899-A190-1021-3648-FA07E749A5BF}"/>
              </a:ext>
            </a:extLst>
          </p:cNvPr>
          <p:cNvSpPr txBox="1"/>
          <p:nvPr/>
        </p:nvSpPr>
        <p:spPr>
          <a:xfrm>
            <a:off x="812800" y="-23047"/>
            <a:ext cx="10566400" cy="1077218"/>
          </a:xfrm>
          <a:prstGeom prst="rect">
            <a:avLst/>
          </a:prstGeom>
          <a:noFill/>
        </p:spPr>
        <p:txBody>
          <a:bodyPr wrap="square" rtlCol="0">
            <a:spAutoFit/>
          </a:bodyPr>
          <a:lstStyle/>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HỆ THỐNG:</a:t>
            </a:r>
          </a:p>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PHẦN CỨNG</a:t>
            </a:r>
          </a:p>
        </p:txBody>
      </p:sp>
      <p:sp>
        <p:nvSpPr>
          <p:cNvPr id="7" name="Freeform 30">
            <a:extLst>
              <a:ext uri="{FF2B5EF4-FFF2-40B4-BE49-F238E27FC236}">
                <a16:creationId xmlns:a16="http://schemas.microsoft.com/office/drawing/2014/main" id="{8030E4BA-3F29-E189-B8A1-19A183AC5215}"/>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294CC2D1-639D-5586-4AD5-EC1FECF7B704}"/>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0359F8DA-37FE-7519-32A2-EE5766690052}"/>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1165CBBB-0BA4-0250-7096-79B7B967007A}"/>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12</a:t>
            </a:r>
          </a:p>
        </p:txBody>
      </p:sp>
      <p:sp>
        <p:nvSpPr>
          <p:cNvPr id="26" name="TextBox 25">
            <a:extLst>
              <a:ext uri="{FF2B5EF4-FFF2-40B4-BE49-F238E27FC236}">
                <a16:creationId xmlns:a16="http://schemas.microsoft.com/office/drawing/2014/main" id="{D032FFC2-619C-3703-9F2F-07F5956ADD3A}"/>
              </a:ext>
            </a:extLst>
          </p:cNvPr>
          <p:cNvSpPr txBox="1"/>
          <p:nvPr/>
        </p:nvSpPr>
        <p:spPr>
          <a:xfrm>
            <a:off x="0" y="682955"/>
            <a:ext cx="6096000" cy="1569660"/>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Phương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án</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khối</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cảm</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biến</a:t>
            </a:r>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algn="l"/>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E3162C6B-5989-4DF2-D211-FD303441F8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04897" y="1724525"/>
            <a:ext cx="3087103" cy="3087103"/>
          </a:xfrm>
          <a:prstGeom prst="rect">
            <a:avLst/>
          </a:prstGeom>
        </p:spPr>
      </p:pic>
      <p:pic>
        <p:nvPicPr>
          <p:cNvPr id="6" name="Picture 5">
            <a:extLst>
              <a:ext uri="{FF2B5EF4-FFF2-40B4-BE49-F238E27FC236}">
                <a16:creationId xmlns:a16="http://schemas.microsoft.com/office/drawing/2014/main" id="{19A6E2E6-8DA3-2AD4-4C11-C1A07FD0322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 y="1824938"/>
            <a:ext cx="3444893" cy="3444893"/>
          </a:xfrm>
          <a:prstGeom prst="rect">
            <a:avLst/>
          </a:prstGeom>
        </p:spPr>
      </p:pic>
      <p:pic>
        <p:nvPicPr>
          <p:cNvPr id="9" name="Picture 8">
            <a:extLst>
              <a:ext uri="{FF2B5EF4-FFF2-40B4-BE49-F238E27FC236}">
                <a16:creationId xmlns:a16="http://schemas.microsoft.com/office/drawing/2014/main" id="{A6AEEDF7-F1EC-596A-97F6-EE2369E76C7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21879" y="1973402"/>
            <a:ext cx="5125231" cy="3701556"/>
          </a:xfrm>
          <a:prstGeom prst="rect">
            <a:avLst/>
          </a:prstGeom>
        </p:spPr>
      </p:pic>
      <p:sp>
        <p:nvSpPr>
          <p:cNvPr id="12" name="TextBox 11">
            <a:extLst>
              <a:ext uri="{FF2B5EF4-FFF2-40B4-BE49-F238E27FC236}">
                <a16:creationId xmlns:a16="http://schemas.microsoft.com/office/drawing/2014/main" id="{93A07EAF-35D0-DD15-7F24-7A5C2258E402}"/>
              </a:ext>
            </a:extLst>
          </p:cNvPr>
          <p:cNvSpPr txBox="1"/>
          <p:nvPr/>
        </p:nvSpPr>
        <p:spPr>
          <a:xfrm>
            <a:off x="511592" y="5344046"/>
            <a:ext cx="2135355" cy="830997"/>
          </a:xfrm>
          <a:prstGeom prst="rect">
            <a:avLst/>
          </a:prstGeom>
          <a:noFill/>
        </p:spPr>
        <p:txBody>
          <a:bodyPr wrap="square" rtlCol="0">
            <a:spAutoFit/>
          </a:bodyPr>
          <a:lstStyle/>
          <a:p>
            <a:pPr algn="l"/>
            <a:endPar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Hình:  Miếng </a:t>
            </a:r>
            <a:r>
              <a:rPr lang="en-US" sz="16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Velostat</a:t>
            </a:r>
            <a:endPar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algn="l"/>
            <a:endPar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8FED5C25-7964-0AB8-DD70-E27A75F38541}"/>
              </a:ext>
            </a:extLst>
          </p:cNvPr>
          <p:cNvSpPr txBox="1"/>
          <p:nvPr/>
        </p:nvSpPr>
        <p:spPr>
          <a:xfrm>
            <a:off x="3886572" y="5344046"/>
            <a:ext cx="5125231" cy="830997"/>
          </a:xfrm>
          <a:prstGeom prst="rect">
            <a:avLst/>
          </a:prstGeom>
          <a:noFill/>
        </p:spPr>
        <p:txBody>
          <a:bodyPr wrap="square" rtlCol="0">
            <a:spAutoFit/>
          </a:bodyPr>
          <a:lstStyle/>
          <a:p>
            <a:pPr algn="l"/>
            <a:endPar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Hình:  Minh </a:t>
            </a:r>
            <a:r>
              <a:rPr lang="en-US" sz="16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họa</a:t>
            </a:r>
            <a:r>
              <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6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thiết</a:t>
            </a:r>
            <a:r>
              <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6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kế</a:t>
            </a:r>
            <a:r>
              <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6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lắp</a:t>
            </a:r>
            <a:r>
              <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6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ráp</a:t>
            </a:r>
            <a:r>
              <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6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cảm</a:t>
            </a:r>
            <a:r>
              <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6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biến</a:t>
            </a:r>
            <a:r>
              <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6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xúc</a:t>
            </a:r>
            <a:r>
              <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16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giác</a:t>
            </a:r>
            <a:endPar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algn="l"/>
            <a:endPar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19" name="TextBox 18">
            <a:extLst>
              <a:ext uri="{FF2B5EF4-FFF2-40B4-BE49-F238E27FC236}">
                <a16:creationId xmlns:a16="http://schemas.microsoft.com/office/drawing/2014/main" id="{8337581E-6CFA-4C12-371F-725A3DA2115D}"/>
              </a:ext>
            </a:extLst>
          </p:cNvPr>
          <p:cNvSpPr txBox="1"/>
          <p:nvPr/>
        </p:nvSpPr>
        <p:spPr>
          <a:xfrm>
            <a:off x="9722040" y="5344047"/>
            <a:ext cx="2135355" cy="830997"/>
          </a:xfrm>
          <a:prstGeom prst="rect">
            <a:avLst/>
          </a:prstGeom>
          <a:noFill/>
        </p:spPr>
        <p:txBody>
          <a:bodyPr wrap="square" rtlCol="0">
            <a:spAutoFit/>
          </a:bodyPr>
          <a:lstStyle/>
          <a:p>
            <a:pPr algn="l"/>
            <a:endPar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Hình: ADS1115</a:t>
            </a:r>
          </a:p>
          <a:p>
            <a:pPr algn="l"/>
            <a:endPar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422680681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37084-F5A8-F0E0-0A1D-6B4C17BF6F4F}"/>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44D42220-BEC2-8BE7-E97C-92F729E98BE9}"/>
              </a:ext>
            </a:extLst>
          </p:cNvPr>
          <p:cNvSpPr/>
          <p:nvPr/>
        </p:nvSpPr>
        <p:spPr bwMode="auto">
          <a:xfrm>
            <a:off x="1239163" y="-1"/>
            <a:ext cx="9713675" cy="1000695"/>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870DB28A-0781-CE4A-849F-3CE74617D95C}"/>
              </a:ext>
            </a:extLst>
          </p:cNvPr>
          <p:cNvSpPr txBox="1"/>
          <p:nvPr/>
        </p:nvSpPr>
        <p:spPr>
          <a:xfrm>
            <a:off x="812800" y="-23047"/>
            <a:ext cx="10566400" cy="1077218"/>
          </a:xfrm>
          <a:prstGeom prst="rect">
            <a:avLst/>
          </a:prstGeom>
          <a:noFill/>
        </p:spPr>
        <p:txBody>
          <a:bodyPr wrap="square" rtlCol="0">
            <a:spAutoFit/>
          </a:bodyPr>
          <a:lstStyle/>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HỆ THỐNG:</a:t>
            </a:r>
          </a:p>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PHẦN CỨNG</a:t>
            </a:r>
          </a:p>
        </p:txBody>
      </p:sp>
      <p:sp>
        <p:nvSpPr>
          <p:cNvPr id="7" name="Freeform 30">
            <a:extLst>
              <a:ext uri="{FF2B5EF4-FFF2-40B4-BE49-F238E27FC236}">
                <a16:creationId xmlns:a16="http://schemas.microsoft.com/office/drawing/2014/main" id="{5A00591B-607F-C7BB-F5F9-5B5B6D3575A5}"/>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CC92F388-1AA4-4EA8-D19B-91C4248BD24D}"/>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A71EC411-2FDE-01A0-BBBC-5001602AED4A}"/>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CE1AAC21-16FC-2D28-AAA0-52AE286A26A2}"/>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13</a:t>
            </a:r>
          </a:p>
        </p:txBody>
      </p:sp>
      <p:sp>
        <p:nvSpPr>
          <p:cNvPr id="26" name="TextBox 25">
            <a:extLst>
              <a:ext uri="{FF2B5EF4-FFF2-40B4-BE49-F238E27FC236}">
                <a16:creationId xmlns:a16="http://schemas.microsoft.com/office/drawing/2014/main" id="{DEF2E4DC-686C-AB48-5EF6-0733DF4DF35D}"/>
              </a:ext>
            </a:extLst>
          </p:cNvPr>
          <p:cNvSpPr txBox="1"/>
          <p:nvPr/>
        </p:nvSpPr>
        <p:spPr>
          <a:xfrm>
            <a:off x="0" y="682955"/>
            <a:ext cx="6096000" cy="1569660"/>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Sơ</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đồ</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nguyên</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lí</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khối</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cảm</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biến</a:t>
            </a:r>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algn="l"/>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7EA0052C-5577-6168-95C2-B0C89D3461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59366" y="1897964"/>
            <a:ext cx="2556950" cy="4277081"/>
          </a:xfrm>
          <a:prstGeom prst="rect">
            <a:avLst/>
          </a:prstGeom>
        </p:spPr>
      </p:pic>
      <p:pic>
        <p:nvPicPr>
          <p:cNvPr id="6" name="Picture 5">
            <a:extLst>
              <a:ext uri="{FF2B5EF4-FFF2-40B4-BE49-F238E27FC236}">
                <a16:creationId xmlns:a16="http://schemas.microsoft.com/office/drawing/2014/main" id="{21C9264A-EDD5-BD9D-5558-1AE384518F7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79856" y="1118937"/>
            <a:ext cx="3067027" cy="5503040"/>
          </a:xfrm>
          <a:prstGeom prst="rect">
            <a:avLst/>
          </a:prstGeom>
        </p:spPr>
      </p:pic>
      <p:pic>
        <p:nvPicPr>
          <p:cNvPr id="9" name="Picture 8">
            <a:extLst>
              <a:ext uri="{FF2B5EF4-FFF2-40B4-BE49-F238E27FC236}">
                <a16:creationId xmlns:a16="http://schemas.microsoft.com/office/drawing/2014/main" id="{527EFC0E-E5BA-980D-1E60-7E46DC25D8B1}"/>
              </a:ext>
            </a:extLst>
          </p:cNvPr>
          <p:cNvPicPr>
            <a:picLocks noChangeAspect="1"/>
          </p:cNvPicPr>
          <p:nvPr/>
        </p:nvPicPr>
        <p:blipFill>
          <a:blip r:embed="rId7"/>
          <a:srcRect l="20281" t="32997" r="19038" b="51881"/>
          <a:stretch>
            <a:fillRect/>
          </a:stretch>
        </p:blipFill>
        <p:spPr>
          <a:xfrm>
            <a:off x="-40479" y="3101251"/>
            <a:ext cx="3554263" cy="371716"/>
          </a:xfrm>
          <a:prstGeom prst="rect">
            <a:avLst/>
          </a:prstGeom>
        </p:spPr>
      </p:pic>
      <p:pic>
        <p:nvPicPr>
          <p:cNvPr id="3" name="Picture 2">
            <a:extLst>
              <a:ext uri="{FF2B5EF4-FFF2-40B4-BE49-F238E27FC236}">
                <a16:creationId xmlns:a16="http://schemas.microsoft.com/office/drawing/2014/main" id="{E4F7819B-9644-2A52-776E-498975785555}"/>
              </a:ext>
            </a:extLst>
          </p:cNvPr>
          <p:cNvPicPr>
            <a:picLocks noChangeAspect="1"/>
          </p:cNvPicPr>
          <p:nvPr/>
        </p:nvPicPr>
        <p:blipFill>
          <a:blip r:embed="rId7"/>
          <a:srcRect l="26510" t="81808" r="33474" b="1761"/>
          <a:stretch>
            <a:fillRect/>
          </a:stretch>
        </p:blipFill>
        <p:spPr>
          <a:xfrm>
            <a:off x="425307" y="5055475"/>
            <a:ext cx="2622693" cy="451946"/>
          </a:xfrm>
          <a:prstGeom prst="rect">
            <a:avLst/>
          </a:prstGeom>
        </p:spPr>
      </p:pic>
      <p:sp>
        <p:nvSpPr>
          <p:cNvPr id="12" name="TextBox 11">
            <a:extLst>
              <a:ext uri="{FF2B5EF4-FFF2-40B4-BE49-F238E27FC236}">
                <a16:creationId xmlns:a16="http://schemas.microsoft.com/office/drawing/2014/main" id="{8E75794C-167C-0CA4-7142-6E1339B55C41}"/>
              </a:ext>
            </a:extLst>
          </p:cNvPr>
          <p:cNvSpPr txBox="1"/>
          <p:nvPr/>
        </p:nvSpPr>
        <p:spPr>
          <a:xfrm>
            <a:off x="334539" y="4716921"/>
            <a:ext cx="3237186" cy="338554"/>
          </a:xfrm>
          <a:prstGeom prst="rect">
            <a:avLst/>
          </a:prstGeom>
          <a:noFill/>
        </p:spPr>
        <p:txBody>
          <a:bodyPr wrap="square" rtlCol="0">
            <a:spAutoFit/>
          </a:bodyPr>
          <a:lstStyle/>
          <a:p>
            <a:pPr algn="l"/>
            <a:r>
              <a:rPr lang="en-US" sz="16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Thời</a:t>
            </a:r>
            <a:r>
              <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16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gian</a:t>
            </a:r>
            <a:r>
              <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16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quét</a:t>
            </a:r>
            <a:r>
              <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16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toàn</a:t>
            </a:r>
            <a:r>
              <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16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bộ</a:t>
            </a:r>
            <a:r>
              <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ma </a:t>
            </a:r>
            <a:r>
              <a:rPr lang="en-US" sz="16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trận</a:t>
            </a:r>
            <a:r>
              <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a:t>
            </a:r>
            <a:endPar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EC25B695-D00F-0C76-D2D6-1EB60079A3FF}"/>
              </a:ext>
            </a:extLst>
          </p:cNvPr>
          <p:cNvSpPr txBox="1"/>
          <p:nvPr/>
        </p:nvSpPr>
        <p:spPr>
          <a:xfrm>
            <a:off x="334539" y="2722582"/>
            <a:ext cx="3237186" cy="338554"/>
          </a:xfrm>
          <a:prstGeom prst="rect">
            <a:avLst/>
          </a:prstGeom>
          <a:noFill/>
        </p:spPr>
        <p:txBody>
          <a:bodyPr wrap="square" rtlCol="0">
            <a:spAutoFit/>
          </a:bodyPr>
          <a:lstStyle/>
          <a:p>
            <a:pPr algn="l"/>
            <a:r>
              <a:rPr lang="en-US" sz="16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Thời</a:t>
            </a:r>
            <a:r>
              <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16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gian</a:t>
            </a:r>
            <a:r>
              <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16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cho</a:t>
            </a:r>
            <a:r>
              <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1 </a:t>
            </a:r>
            <a:r>
              <a:rPr lang="en-US" sz="16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lần</a:t>
            </a:r>
            <a:r>
              <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16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đọc</a:t>
            </a:r>
            <a:r>
              <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ADC</a:t>
            </a:r>
            <a:endPar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78855985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12A16-53FA-3A82-F094-F1C07F4F5E54}"/>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B80363FC-A7A4-0E57-07F7-4D36210D8840}"/>
              </a:ext>
            </a:extLst>
          </p:cNvPr>
          <p:cNvSpPr/>
          <p:nvPr/>
        </p:nvSpPr>
        <p:spPr bwMode="auto">
          <a:xfrm>
            <a:off x="1239163" y="-1"/>
            <a:ext cx="9713675" cy="1000695"/>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6A8CCBEB-F306-40CD-DF94-75554256F1E6}"/>
              </a:ext>
            </a:extLst>
          </p:cNvPr>
          <p:cNvSpPr txBox="1"/>
          <p:nvPr/>
        </p:nvSpPr>
        <p:spPr>
          <a:xfrm>
            <a:off x="812800" y="-23047"/>
            <a:ext cx="10566400" cy="1077218"/>
          </a:xfrm>
          <a:prstGeom prst="rect">
            <a:avLst/>
          </a:prstGeom>
          <a:noFill/>
        </p:spPr>
        <p:txBody>
          <a:bodyPr wrap="square" rtlCol="0">
            <a:spAutoFit/>
          </a:bodyPr>
          <a:lstStyle/>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HỆ THỐNG:</a:t>
            </a:r>
          </a:p>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PHẦN CỨNG</a:t>
            </a:r>
          </a:p>
        </p:txBody>
      </p:sp>
      <p:sp>
        <p:nvSpPr>
          <p:cNvPr id="7" name="Freeform 30">
            <a:extLst>
              <a:ext uri="{FF2B5EF4-FFF2-40B4-BE49-F238E27FC236}">
                <a16:creationId xmlns:a16="http://schemas.microsoft.com/office/drawing/2014/main" id="{C4A913BD-0B3A-C3BC-5AA5-895557D44FAC}"/>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A96D17C5-73F6-7343-255E-1A1F510FAEFA}"/>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EA9094F7-D79D-801B-084E-3B522E4363B1}"/>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20F3632A-0146-D9E4-9B91-004409412D28}"/>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14</a:t>
            </a:r>
          </a:p>
        </p:txBody>
      </p:sp>
      <p:sp>
        <p:nvSpPr>
          <p:cNvPr id="26" name="TextBox 25">
            <a:extLst>
              <a:ext uri="{FF2B5EF4-FFF2-40B4-BE49-F238E27FC236}">
                <a16:creationId xmlns:a16="http://schemas.microsoft.com/office/drawing/2014/main" id="{9C2E0C9D-B96E-8F4D-1179-812B98C777D0}"/>
              </a:ext>
            </a:extLst>
          </p:cNvPr>
          <p:cNvSpPr txBox="1"/>
          <p:nvPr/>
        </p:nvSpPr>
        <p:spPr>
          <a:xfrm>
            <a:off x="0" y="682955"/>
            <a:ext cx="6096000" cy="1569660"/>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Sơ</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đồ</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nguyên</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lí</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khối</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động</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cơ</a:t>
            </a:r>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algn="l"/>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31F91030-CF6F-9058-525E-44D63AA4A7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78126" y="1760173"/>
            <a:ext cx="7716623" cy="4561615"/>
          </a:xfrm>
          <a:prstGeom prst="rect">
            <a:avLst/>
          </a:prstGeom>
        </p:spPr>
      </p:pic>
    </p:spTree>
    <p:extLst>
      <p:ext uri="{BB962C8B-B14F-4D97-AF65-F5344CB8AC3E}">
        <p14:creationId xmlns:p14="http://schemas.microsoft.com/office/powerpoint/2010/main" val="140602638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289D5-B522-1518-49BA-DC94C3C8C9CD}"/>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098196B5-9119-4D09-56D4-6FE4668B4DE3}"/>
              </a:ext>
            </a:extLst>
          </p:cNvPr>
          <p:cNvSpPr/>
          <p:nvPr/>
        </p:nvSpPr>
        <p:spPr bwMode="auto">
          <a:xfrm>
            <a:off x="1239163" y="-1"/>
            <a:ext cx="9713675" cy="1000695"/>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9BA2FF6E-80E7-CDDD-578D-11D2B48C4CB6}"/>
              </a:ext>
            </a:extLst>
          </p:cNvPr>
          <p:cNvSpPr txBox="1"/>
          <p:nvPr/>
        </p:nvSpPr>
        <p:spPr>
          <a:xfrm>
            <a:off x="812800" y="-23047"/>
            <a:ext cx="10566400" cy="1077218"/>
          </a:xfrm>
          <a:prstGeom prst="rect">
            <a:avLst/>
          </a:prstGeom>
          <a:noFill/>
        </p:spPr>
        <p:txBody>
          <a:bodyPr wrap="square" rtlCol="0">
            <a:spAutoFit/>
          </a:bodyPr>
          <a:lstStyle/>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HỆ THỐNG:</a:t>
            </a:r>
          </a:p>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PHẦN CỨNG</a:t>
            </a:r>
          </a:p>
        </p:txBody>
      </p:sp>
      <p:sp>
        <p:nvSpPr>
          <p:cNvPr id="7" name="Freeform 30">
            <a:extLst>
              <a:ext uri="{FF2B5EF4-FFF2-40B4-BE49-F238E27FC236}">
                <a16:creationId xmlns:a16="http://schemas.microsoft.com/office/drawing/2014/main" id="{EA63BC60-71B6-C3D7-9F7B-EF739415A1E1}"/>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A2F35F03-D53F-80D2-9485-8DD79D2370D6}"/>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180BB413-5517-3291-69F0-44EF48CF2BCF}"/>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317C9393-7DB9-FDE7-4A39-92EC50AAC00C}"/>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15</a:t>
            </a:r>
          </a:p>
        </p:txBody>
      </p:sp>
      <p:sp>
        <p:nvSpPr>
          <p:cNvPr id="26" name="TextBox 25">
            <a:extLst>
              <a:ext uri="{FF2B5EF4-FFF2-40B4-BE49-F238E27FC236}">
                <a16:creationId xmlns:a16="http://schemas.microsoft.com/office/drawing/2014/main" id="{2076AC8F-FB84-BFDC-0E24-EA0215EA2141}"/>
              </a:ext>
            </a:extLst>
          </p:cNvPr>
          <p:cNvSpPr txBox="1"/>
          <p:nvPr/>
        </p:nvSpPr>
        <p:spPr>
          <a:xfrm>
            <a:off x="0" y="682955"/>
            <a:ext cx="7074568" cy="1569660"/>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Sơ</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đồ</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nguyên</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lí</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khối</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xử</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lí</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trung</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tâm</a:t>
            </a:r>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algn="l"/>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A32A78BC-01B6-744B-57F1-D36870C999C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70639" y="1760173"/>
            <a:ext cx="4595712" cy="4779109"/>
          </a:xfrm>
          <a:prstGeom prst="rect">
            <a:avLst/>
          </a:prstGeom>
        </p:spPr>
      </p:pic>
    </p:spTree>
    <p:extLst>
      <p:ext uri="{BB962C8B-B14F-4D97-AF65-F5344CB8AC3E}">
        <p14:creationId xmlns:p14="http://schemas.microsoft.com/office/powerpoint/2010/main" val="174072212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7825D-CDA4-7E94-36A2-82AFBFB59DC8}"/>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FD66099A-3868-CEFB-C99B-AE2169F58C20}"/>
              </a:ext>
            </a:extLst>
          </p:cNvPr>
          <p:cNvSpPr/>
          <p:nvPr/>
        </p:nvSpPr>
        <p:spPr bwMode="auto">
          <a:xfrm>
            <a:off x="1239163" y="-1"/>
            <a:ext cx="9713675" cy="1000695"/>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85C1DEFD-38F9-01B1-D127-804B321E894A}"/>
              </a:ext>
            </a:extLst>
          </p:cNvPr>
          <p:cNvSpPr txBox="1"/>
          <p:nvPr/>
        </p:nvSpPr>
        <p:spPr>
          <a:xfrm>
            <a:off x="812800" y="-23047"/>
            <a:ext cx="10566400" cy="1077218"/>
          </a:xfrm>
          <a:prstGeom prst="rect">
            <a:avLst/>
          </a:prstGeom>
          <a:noFill/>
        </p:spPr>
        <p:txBody>
          <a:bodyPr wrap="square" rtlCol="0">
            <a:spAutoFit/>
          </a:bodyPr>
          <a:lstStyle/>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HỆ THỐNG:</a:t>
            </a:r>
          </a:p>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PHẦN CỨNG</a:t>
            </a:r>
          </a:p>
        </p:txBody>
      </p:sp>
      <p:sp>
        <p:nvSpPr>
          <p:cNvPr id="7" name="Freeform 30">
            <a:extLst>
              <a:ext uri="{FF2B5EF4-FFF2-40B4-BE49-F238E27FC236}">
                <a16:creationId xmlns:a16="http://schemas.microsoft.com/office/drawing/2014/main" id="{BABDDBB8-21DA-8B80-7984-C2EECF5621B4}"/>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AC6133DE-E93B-0078-E1C1-C1975D2AE3D2}"/>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48702D26-08CD-8B3D-C630-56F040AE505C}"/>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DDC2D5CF-C397-4519-6D2C-6109241478DC}"/>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16</a:t>
            </a:r>
          </a:p>
        </p:txBody>
      </p:sp>
      <p:sp>
        <p:nvSpPr>
          <p:cNvPr id="26" name="TextBox 25">
            <a:extLst>
              <a:ext uri="{FF2B5EF4-FFF2-40B4-BE49-F238E27FC236}">
                <a16:creationId xmlns:a16="http://schemas.microsoft.com/office/drawing/2014/main" id="{ECB6E3C0-4B75-E896-3497-B3675C9E029F}"/>
              </a:ext>
            </a:extLst>
          </p:cNvPr>
          <p:cNvSpPr txBox="1"/>
          <p:nvPr/>
        </p:nvSpPr>
        <p:spPr>
          <a:xfrm>
            <a:off x="152398" y="3280764"/>
            <a:ext cx="11562347" cy="1569660"/>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Phương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án</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khối</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camera:</a:t>
            </a:r>
          </a:p>
          <a:p>
            <a:pPr algn="l"/>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DD3307B5-C9E9-E580-AFFB-CC81BF8E60B2}"/>
              </a:ext>
            </a:extLst>
          </p:cNvPr>
          <p:cNvSpPr txBox="1"/>
          <p:nvPr/>
        </p:nvSpPr>
        <p:spPr>
          <a:xfrm>
            <a:off x="152399" y="835355"/>
            <a:ext cx="11562347" cy="3046988"/>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Phương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án</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khối</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hiển</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thị</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a:t>
            </a:r>
          </a:p>
          <a:p>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Xây</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dựng</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trực</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tiếp</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trên</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Raspberry Pi 4. Do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đó</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hệ</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thống</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không</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cần</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thiết</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kế</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thêm</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mạch</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giao</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tiếp</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UART, USB hay module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hiển</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thị</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rời</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cho</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khối</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này</a:t>
            </a:r>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algn="l"/>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1FCECA4F-0928-69B9-71F8-76450E775D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09673" y="3638592"/>
            <a:ext cx="3049824" cy="2689160"/>
          </a:xfrm>
          <a:prstGeom prst="rect">
            <a:avLst/>
          </a:prstGeom>
        </p:spPr>
      </p:pic>
      <p:sp>
        <p:nvSpPr>
          <p:cNvPr id="9" name="TextBox 8">
            <a:extLst>
              <a:ext uri="{FF2B5EF4-FFF2-40B4-BE49-F238E27FC236}">
                <a16:creationId xmlns:a16="http://schemas.microsoft.com/office/drawing/2014/main" id="{E02308F8-46D2-1B60-EFD6-EAA6840AF2FC}"/>
              </a:ext>
            </a:extLst>
          </p:cNvPr>
          <p:cNvSpPr txBox="1"/>
          <p:nvPr/>
        </p:nvSpPr>
        <p:spPr>
          <a:xfrm>
            <a:off x="5071562" y="6150477"/>
            <a:ext cx="3187936" cy="861774"/>
          </a:xfrm>
          <a:prstGeom prst="rect">
            <a:avLst/>
          </a:prstGeom>
          <a:noFill/>
        </p:spPr>
        <p:txBody>
          <a:bodyPr wrap="square" rtlCol="0">
            <a:spAutoFit/>
          </a:bodyPr>
          <a:lstStyle/>
          <a:p>
            <a:pPr algn="l"/>
            <a:endParaRPr lang="en-US" sz="16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Hình: Camera </a:t>
            </a:r>
            <a:r>
              <a:rPr lang="en-US" sz="16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Huddly</a:t>
            </a:r>
            <a:r>
              <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GO 1.0</a:t>
            </a:r>
          </a:p>
          <a:p>
            <a:pPr algn="l"/>
            <a:endParaRPr lang="en-US" sz="16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65474686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06662-BD60-051F-CCE9-4CBEAC36815E}"/>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6C43CE86-50F7-CD61-6D98-8FFFBD0AE982}"/>
              </a:ext>
            </a:extLst>
          </p:cNvPr>
          <p:cNvSpPr/>
          <p:nvPr/>
        </p:nvSpPr>
        <p:spPr bwMode="auto">
          <a:xfrm>
            <a:off x="1239163" y="-1"/>
            <a:ext cx="9713675" cy="1000695"/>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A64150D8-8CAA-9B53-BB33-70F589C3940B}"/>
              </a:ext>
            </a:extLst>
          </p:cNvPr>
          <p:cNvSpPr txBox="1"/>
          <p:nvPr/>
        </p:nvSpPr>
        <p:spPr>
          <a:xfrm>
            <a:off x="812800" y="-23047"/>
            <a:ext cx="10566400" cy="1077218"/>
          </a:xfrm>
          <a:prstGeom prst="rect">
            <a:avLst/>
          </a:prstGeom>
          <a:noFill/>
        </p:spPr>
        <p:txBody>
          <a:bodyPr wrap="square" rtlCol="0">
            <a:spAutoFit/>
          </a:bodyPr>
          <a:lstStyle/>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HỆ THỐNG:</a:t>
            </a:r>
          </a:p>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PHẦN CỨNG</a:t>
            </a:r>
          </a:p>
        </p:txBody>
      </p:sp>
      <p:sp>
        <p:nvSpPr>
          <p:cNvPr id="7" name="Freeform 30">
            <a:extLst>
              <a:ext uri="{FF2B5EF4-FFF2-40B4-BE49-F238E27FC236}">
                <a16:creationId xmlns:a16="http://schemas.microsoft.com/office/drawing/2014/main" id="{CF5F4AE8-B353-0739-7937-3AAAFCBFB0DC}"/>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71C19D86-D9B7-5A52-8F2C-AE6260F6E9B9}"/>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A6E9E4A1-E169-2521-5FD3-CD4581646D53}"/>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19802869-847C-5F9B-8644-20F6613CE321}"/>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17</a:t>
            </a:r>
          </a:p>
        </p:txBody>
      </p:sp>
      <p:sp>
        <p:nvSpPr>
          <p:cNvPr id="3" name="TextBox 2">
            <a:extLst>
              <a:ext uri="{FF2B5EF4-FFF2-40B4-BE49-F238E27FC236}">
                <a16:creationId xmlns:a16="http://schemas.microsoft.com/office/drawing/2014/main" id="{1766D679-3BE0-3C4B-95AC-796A9E9BFF2C}"/>
              </a:ext>
            </a:extLst>
          </p:cNvPr>
          <p:cNvSpPr txBox="1"/>
          <p:nvPr/>
        </p:nvSpPr>
        <p:spPr>
          <a:xfrm>
            <a:off x="152399" y="835355"/>
            <a:ext cx="11562347" cy="1569660"/>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Phương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án</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khối</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nhận</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diện</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và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dự</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đoán</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a:t>
            </a:r>
          </a:p>
          <a:p>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Triển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khai</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với</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các</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chemeClr val="tx1"/>
                </a:solidFill>
                <a:latin typeface="Times New Roman" panose="02020603050405020304" pitchFamily="18" charset="0"/>
                <a:ea typeface="Open Sans" panose="020B0606030504020204" pitchFamily="34" charset="0"/>
                <a:cs typeface="Times New Roman" panose="02020603050405020304" pitchFamily="18" charset="0"/>
              </a:rPr>
              <a:t>mô</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hình YOLOV8 và MLP</a:t>
            </a:r>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422BF7E2-FCC2-445D-8535-B3804C022856}"/>
              </a:ext>
            </a:extLst>
          </p:cNvPr>
          <p:cNvSpPr txBox="1"/>
          <p:nvPr/>
        </p:nvSpPr>
        <p:spPr>
          <a:xfrm>
            <a:off x="152398" y="2088595"/>
            <a:ext cx="12104293" cy="3046988"/>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Phương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án</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khối</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nguồn</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p>
          <a:p>
            <a:pPr marL="457200" indent="-457200">
              <a:buFontTx/>
              <a:buChar char="-"/>
            </a:pPr>
            <a:r>
              <a:rPr lang="vi-VN"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Raspberry Pi 4 sử dụng adapter model CTD-050300A</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vi-VN"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điện áp</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vi-VN"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ngõ ra 5 V và dòng tối đa 3000 mA. </a:t>
            </a:r>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marL="457200" indent="-457200">
              <a:buFontTx/>
              <a:buChar char="-"/>
            </a:pPr>
            <a:r>
              <a:rPr lang="en-US" sz="3200" b="1" dirty="0">
                <a:latin typeface="Times New Roman" panose="02020603050405020304" pitchFamily="18" charset="0"/>
                <a:ea typeface="Open Sans" panose="020B0606030504020204" pitchFamily="34" charset="0"/>
                <a:cs typeface="Times New Roman" panose="02020603050405020304" pitchFamily="18" charset="0"/>
              </a:rPr>
              <a:t>2</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 </a:t>
            </a:r>
            <a:r>
              <a:rPr lang="vi-VN"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servo sử dụng adapter riêng</a:t>
            </a:r>
            <a:r>
              <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a:t>
            </a:r>
            <a:r>
              <a:rPr lang="vi-VN"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điện áp ngõ ra 6 V và dòng tối đa 5A.</a:t>
            </a:r>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97647962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573FB-3D7A-BFCE-2FEB-11A94C2D0F19}"/>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5E9E471A-5522-CFC5-FA5F-05D7969CF33A}"/>
              </a:ext>
            </a:extLst>
          </p:cNvPr>
          <p:cNvSpPr/>
          <p:nvPr/>
        </p:nvSpPr>
        <p:spPr bwMode="auto">
          <a:xfrm>
            <a:off x="1239163" y="-1"/>
            <a:ext cx="9713675" cy="1000695"/>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2ADB943C-17BE-F157-BB60-DF583581E0EC}"/>
              </a:ext>
            </a:extLst>
          </p:cNvPr>
          <p:cNvSpPr txBox="1"/>
          <p:nvPr/>
        </p:nvSpPr>
        <p:spPr>
          <a:xfrm>
            <a:off x="812800" y="-23047"/>
            <a:ext cx="10566400" cy="1077218"/>
          </a:xfrm>
          <a:prstGeom prst="rect">
            <a:avLst/>
          </a:prstGeom>
          <a:noFill/>
        </p:spPr>
        <p:txBody>
          <a:bodyPr wrap="square" rtlCol="0">
            <a:spAutoFit/>
          </a:bodyPr>
          <a:lstStyle/>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HỆ THỐNG:</a:t>
            </a:r>
          </a:p>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PHẦN MỀM</a:t>
            </a:r>
          </a:p>
        </p:txBody>
      </p:sp>
      <p:sp>
        <p:nvSpPr>
          <p:cNvPr id="7" name="Freeform 30">
            <a:extLst>
              <a:ext uri="{FF2B5EF4-FFF2-40B4-BE49-F238E27FC236}">
                <a16:creationId xmlns:a16="http://schemas.microsoft.com/office/drawing/2014/main" id="{FEC5D645-D0CA-A2B7-4901-E9763F34344F}"/>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6181F19F-9AEC-7658-1D27-3D4197CD6BE5}"/>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E32133C7-87F2-9023-E4A5-50A4934ED677}"/>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FD3D121E-6CDF-ECD4-A936-8F13F3BD1F0C}"/>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18</a:t>
            </a:r>
          </a:p>
        </p:txBody>
      </p:sp>
      <p:sp>
        <p:nvSpPr>
          <p:cNvPr id="26" name="TextBox 25">
            <a:extLst>
              <a:ext uri="{FF2B5EF4-FFF2-40B4-BE49-F238E27FC236}">
                <a16:creationId xmlns:a16="http://schemas.microsoft.com/office/drawing/2014/main" id="{90C6065C-656F-629A-38BA-9D44F1E1129D}"/>
              </a:ext>
            </a:extLst>
          </p:cNvPr>
          <p:cNvSpPr txBox="1"/>
          <p:nvPr/>
        </p:nvSpPr>
        <p:spPr>
          <a:xfrm>
            <a:off x="0" y="682955"/>
            <a:ext cx="7074568" cy="1569660"/>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Lưu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đồ</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tổng</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quát</a:t>
            </a:r>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algn="l"/>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C70E77FB-078C-2662-A0D6-27E7C4D5FE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16379" y="1021144"/>
            <a:ext cx="3344323" cy="5836855"/>
          </a:xfrm>
          <a:prstGeom prst="rect">
            <a:avLst/>
          </a:prstGeom>
        </p:spPr>
      </p:pic>
    </p:spTree>
    <p:extLst>
      <p:ext uri="{BB962C8B-B14F-4D97-AF65-F5344CB8AC3E}">
        <p14:creationId xmlns:p14="http://schemas.microsoft.com/office/powerpoint/2010/main" val="316223980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40C50-2B62-017A-CA3E-7CD7C7B23B5E}"/>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C57196E9-CF64-CAE6-53D1-FF8437198FD4}"/>
              </a:ext>
            </a:extLst>
          </p:cNvPr>
          <p:cNvSpPr/>
          <p:nvPr/>
        </p:nvSpPr>
        <p:spPr bwMode="auto">
          <a:xfrm>
            <a:off x="1239163" y="-1"/>
            <a:ext cx="9713675" cy="1000695"/>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6F397F19-2A78-1A2D-EA48-D6D359CA8286}"/>
              </a:ext>
            </a:extLst>
          </p:cNvPr>
          <p:cNvSpPr txBox="1"/>
          <p:nvPr/>
        </p:nvSpPr>
        <p:spPr>
          <a:xfrm>
            <a:off x="812800" y="-23047"/>
            <a:ext cx="10566400" cy="1077218"/>
          </a:xfrm>
          <a:prstGeom prst="rect">
            <a:avLst/>
          </a:prstGeom>
          <a:noFill/>
        </p:spPr>
        <p:txBody>
          <a:bodyPr wrap="square" rtlCol="0">
            <a:spAutoFit/>
          </a:bodyPr>
          <a:lstStyle/>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HỆ THỐNG:</a:t>
            </a:r>
          </a:p>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PHẦN MỀM</a:t>
            </a:r>
          </a:p>
        </p:txBody>
      </p:sp>
      <p:sp>
        <p:nvSpPr>
          <p:cNvPr id="7" name="Freeform 30">
            <a:extLst>
              <a:ext uri="{FF2B5EF4-FFF2-40B4-BE49-F238E27FC236}">
                <a16:creationId xmlns:a16="http://schemas.microsoft.com/office/drawing/2014/main" id="{8B5A99C9-E3EC-1228-F8F1-632EE8C01003}"/>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64B9510F-B7BF-5EF9-B6BF-ADD0896EDE69}"/>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42ABCB21-CFE5-6507-B137-39064F86D7EA}"/>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6EF91F54-8287-0D45-2794-32DCA4911165}"/>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19</a:t>
            </a:r>
          </a:p>
        </p:txBody>
      </p:sp>
      <p:sp>
        <p:nvSpPr>
          <p:cNvPr id="26" name="TextBox 25">
            <a:extLst>
              <a:ext uri="{FF2B5EF4-FFF2-40B4-BE49-F238E27FC236}">
                <a16:creationId xmlns:a16="http://schemas.microsoft.com/office/drawing/2014/main" id="{A57B5BBB-5CD7-D8A8-C41B-C7D2452229CD}"/>
              </a:ext>
            </a:extLst>
          </p:cNvPr>
          <p:cNvSpPr txBox="1"/>
          <p:nvPr/>
        </p:nvSpPr>
        <p:spPr>
          <a:xfrm>
            <a:off x="0" y="682955"/>
            <a:ext cx="4027127" cy="2062103"/>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vi-VN"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Lưu đồ thu thập dữ liệu cho mô hình YOLO</a:t>
            </a:r>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1E36D694-A6A5-59AC-B31B-C88E8FDDD2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71471" y="1023740"/>
            <a:ext cx="4027127" cy="5769244"/>
          </a:xfrm>
          <a:prstGeom prst="rect">
            <a:avLst/>
          </a:prstGeom>
        </p:spPr>
      </p:pic>
    </p:spTree>
    <p:extLst>
      <p:ext uri="{BB962C8B-B14F-4D97-AF65-F5344CB8AC3E}">
        <p14:creationId xmlns:p14="http://schemas.microsoft.com/office/powerpoint/2010/main" val="179021869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1BBE5-AD68-970A-3647-D747D41162CE}"/>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F1251E2E-DE44-850A-00AF-F0D64F2A1CE3}"/>
              </a:ext>
            </a:extLst>
          </p:cNvPr>
          <p:cNvSpPr/>
          <p:nvPr/>
        </p:nvSpPr>
        <p:spPr bwMode="auto">
          <a:xfrm>
            <a:off x="1239163" y="-1"/>
            <a:ext cx="9713675" cy="1000695"/>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DF11A954-06A9-7367-0322-F8E3477E29B8}"/>
              </a:ext>
            </a:extLst>
          </p:cNvPr>
          <p:cNvSpPr txBox="1"/>
          <p:nvPr/>
        </p:nvSpPr>
        <p:spPr>
          <a:xfrm>
            <a:off x="812800" y="-23047"/>
            <a:ext cx="10566400" cy="1077218"/>
          </a:xfrm>
          <a:prstGeom prst="rect">
            <a:avLst/>
          </a:prstGeom>
          <a:noFill/>
        </p:spPr>
        <p:txBody>
          <a:bodyPr wrap="square" rtlCol="0">
            <a:spAutoFit/>
          </a:bodyPr>
          <a:lstStyle/>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HỆ THỐNG:</a:t>
            </a:r>
          </a:p>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PHẦN MỀM</a:t>
            </a:r>
          </a:p>
        </p:txBody>
      </p:sp>
      <p:sp>
        <p:nvSpPr>
          <p:cNvPr id="7" name="Freeform 30">
            <a:extLst>
              <a:ext uri="{FF2B5EF4-FFF2-40B4-BE49-F238E27FC236}">
                <a16:creationId xmlns:a16="http://schemas.microsoft.com/office/drawing/2014/main" id="{2AA94AE2-4514-DF37-39A3-287701D2639F}"/>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6EB50A17-C49B-D30E-6FEB-7F14527BE8B2}"/>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6F1DDB9B-732D-B0A2-2F74-0188FB32083B}"/>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C710C312-A4FA-B8F0-8CBB-F73E69B5ACDD}"/>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20</a:t>
            </a:r>
          </a:p>
        </p:txBody>
      </p:sp>
      <p:pic>
        <p:nvPicPr>
          <p:cNvPr id="3" name="Picture 2">
            <a:extLst>
              <a:ext uri="{FF2B5EF4-FFF2-40B4-BE49-F238E27FC236}">
                <a16:creationId xmlns:a16="http://schemas.microsoft.com/office/drawing/2014/main" id="{8504B7F5-D149-BFCC-434C-D8D055B278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69149" y="1946896"/>
            <a:ext cx="3253701" cy="4911104"/>
          </a:xfrm>
          <a:prstGeom prst="rect">
            <a:avLst/>
          </a:prstGeom>
        </p:spPr>
      </p:pic>
      <p:sp>
        <p:nvSpPr>
          <p:cNvPr id="6" name="TextBox 5">
            <a:extLst>
              <a:ext uri="{FF2B5EF4-FFF2-40B4-BE49-F238E27FC236}">
                <a16:creationId xmlns:a16="http://schemas.microsoft.com/office/drawing/2014/main" id="{638FD2BA-55F7-94AD-3EFF-B06B4F05B285}"/>
              </a:ext>
            </a:extLst>
          </p:cNvPr>
          <p:cNvSpPr txBox="1"/>
          <p:nvPr/>
        </p:nvSpPr>
        <p:spPr>
          <a:xfrm>
            <a:off x="0" y="500346"/>
            <a:ext cx="10324723" cy="1446550"/>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vi-VN"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Lưu đồ huấn luyện mô hình YOLO</a:t>
            </a:r>
            <a:endPar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r>
              <a:rPr lang="vi-VN" sz="2400" dirty="0">
                <a:latin typeface="Times New Roman" panose="02020603050405020304" pitchFamily="18" charset="0"/>
                <a:cs typeface="Times New Roman" panose="02020603050405020304" pitchFamily="18" charset="0"/>
              </a:rPr>
              <a:t>yolo detect train model=yolov8n.pt epochs=100 imgsz=640 batch=8 device=0</a:t>
            </a:r>
            <a:endPar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271152532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5FE6F-441B-DC2B-67F0-3C1803035CB4}"/>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64472877-8C6C-10C2-0788-F80FA8208F17}"/>
              </a:ext>
            </a:extLst>
          </p:cNvPr>
          <p:cNvSpPr/>
          <p:nvPr/>
        </p:nvSpPr>
        <p:spPr bwMode="auto">
          <a:xfrm>
            <a:off x="1239163" y="-1"/>
            <a:ext cx="9713675" cy="1000695"/>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6CC49902-906A-309A-D732-CA400E79C19E}"/>
              </a:ext>
            </a:extLst>
          </p:cNvPr>
          <p:cNvSpPr txBox="1"/>
          <p:nvPr/>
        </p:nvSpPr>
        <p:spPr>
          <a:xfrm>
            <a:off x="812800" y="-23047"/>
            <a:ext cx="10566400" cy="1077218"/>
          </a:xfrm>
          <a:prstGeom prst="rect">
            <a:avLst/>
          </a:prstGeom>
          <a:noFill/>
        </p:spPr>
        <p:txBody>
          <a:bodyPr wrap="square" rtlCol="0">
            <a:spAutoFit/>
          </a:bodyPr>
          <a:lstStyle/>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HỆ THỐNG:</a:t>
            </a:r>
          </a:p>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PHẦN MỀM</a:t>
            </a:r>
          </a:p>
        </p:txBody>
      </p:sp>
      <p:sp>
        <p:nvSpPr>
          <p:cNvPr id="7" name="Freeform 30">
            <a:extLst>
              <a:ext uri="{FF2B5EF4-FFF2-40B4-BE49-F238E27FC236}">
                <a16:creationId xmlns:a16="http://schemas.microsoft.com/office/drawing/2014/main" id="{2803F461-8423-FB58-D919-BFD6E9A8D91F}"/>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02421ABA-28B4-2035-C9BF-BAD7C8BBAB58}"/>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64A8E933-A4E9-65DB-5EB6-DB9521EE3665}"/>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C00F854E-7856-88D6-EA18-6F502EFA88AC}"/>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21</a:t>
            </a:r>
          </a:p>
        </p:txBody>
      </p:sp>
      <p:sp>
        <p:nvSpPr>
          <p:cNvPr id="26" name="TextBox 25">
            <a:extLst>
              <a:ext uri="{FF2B5EF4-FFF2-40B4-BE49-F238E27FC236}">
                <a16:creationId xmlns:a16="http://schemas.microsoft.com/office/drawing/2014/main" id="{FC0BB3E2-A3F9-4D52-6637-8B988C0EF528}"/>
              </a:ext>
            </a:extLst>
          </p:cNvPr>
          <p:cNvSpPr txBox="1"/>
          <p:nvPr/>
        </p:nvSpPr>
        <p:spPr>
          <a:xfrm>
            <a:off x="0" y="682955"/>
            <a:ext cx="4379495" cy="1569660"/>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vi-VN"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Lưu đồ thu thập dữ liệu cho mô hình MLP</a:t>
            </a:r>
            <a:endPar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10742605-959B-F92C-5AC6-E0CDA2ED94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68912" y="1023740"/>
            <a:ext cx="3946705" cy="5834260"/>
          </a:xfrm>
          <a:prstGeom prst="rect">
            <a:avLst/>
          </a:prstGeom>
        </p:spPr>
      </p:pic>
    </p:spTree>
    <p:extLst>
      <p:ext uri="{BB962C8B-B14F-4D97-AF65-F5344CB8AC3E}">
        <p14:creationId xmlns:p14="http://schemas.microsoft.com/office/powerpoint/2010/main" val="174843469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CC6DE-8BA9-D4EC-8E29-E3A99CD57CE0}"/>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11ADC719-74DE-2000-A686-44EB77234CD6}"/>
              </a:ext>
            </a:extLst>
          </p:cNvPr>
          <p:cNvSpPr/>
          <p:nvPr/>
        </p:nvSpPr>
        <p:spPr bwMode="auto">
          <a:xfrm>
            <a:off x="1239163" y="-1"/>
            <a:ext cx="9713675" cy="1000695"/>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3D9548BD-6CE7-5A0D-7A65-8F23A59EB028}"/>
              </a:ext>
            </a:extLst>
          </p:cNvPr>
          <p:cNvSpPr txBox="1"/>
          <p:nvPr/>
        </p:nvSpPr>
        <p:spPr>
          <a:xfrm>
            <a:off x="812800" y="-23047"/>
            <a:ext cx="10566400" cy="1077218"/>
          </a:xfrm>
          <a:prstGeom prst="rect">
            <a:avLst/>
          </a:prstGeom>
          <a:noFill/>
        </p:spPr>
        <p:txBody>
          <a:bodyPr wrap="square" rtlCol="0">
            <a:spAutoFit/>
          </a:bodyPr>
          <a:lstStyle/>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HỆ THỐNG:</a:t>
            </a:r>
          </a:p>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PHẦN MỀM</a:t>
            </a:r>
          </a:p>
        </p:txBody>
      </p:sp>
      <p:sp>
        <p:nvSpPr>
          <p:cNvPr id="7" name="Freeform 30">
            <a:extLst>
              <a:ext uri="{FF2B5EF4-FFF2-40B4-BE49-F238E27FC236}">
                <a16:creationId xmlns:a16="http://schemas.microsoft.com/office/drawing/2014/main" id="{14B7273E-F3BA-B52F-F8F7-D551C6363548}"/>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B96BA310-F05C-E186-0743-E42C3B54AF8D}"/>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0523723E-140B-8C61-CAE9-C40984465C99}"/>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ACBAFADE-CC77-3891-A787-AB94DF20D030}"/>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22</a:t>
            </a:r>
          </a:p>
        </p:txBody>
      </p:sp>
      <p:sp>
        <p:nvSpPr>
          <p:cNvPr id="26" name="TextBox 25">
            <a:extLst>
              <a:ext uri="{FF2B5EF4-FFF2-40B4-BE49-F238E27FC236}">
                <a16:creationId xmlns:a16="http://schemas.microsoft.com/office/drawing/2014/main" id="{8998A85B-C79C-4299-8F92-BD00E248E9D8}"/>
              </a:ext>
            </a:extLst>
          </p:cNvPr>
          <p:cNvSpPr txBox="1"/>
          <p:nvPr/>
        </p:nvSpPr>
        <p:spPr>
          <a:xfrm>
            <a:off x="0" y="682955"/>
            <a:ext cx="4379495" cy="1569660"/>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vi-VN"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Lưu đồ huấn luyện mô hình MLP</a:t>
            </a:r>
            <a:endPar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EC5CB6BD-C3CC-08E9-6B79-3544F18C4C8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07595" y="1000694"/>
            <a:ext cx="2143700" cy="5859446"/>
          </a:xfrm>
          <a:prstGeom prst="rect">
            <a:avLst/>
          </a:prstGeom>
        </p:spPr>
      </p:pic>
    </p:spTree>
    <p:extLst>
      <p:ext uri="{BB962C8B-B14F-4D97-AF65-F5344CB8AC3E}">
        <p14:creationId xmlns:p14="http://schemas.microsoft.com/office/powerpoint/2010/main" val="395286912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41B13-E0BF-2D85-5AE3-5CE53FE18EEF}"/>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5FFA836B-D4D7-FE1B-4701-4F48844F235D}"/>
              </a:ext>
            </a:extLst>
          </p:cNvPr>
          <p:cNvSpPr/>
          <p:nvPr/>
        </p:nvSpPr>
        <p:spPr bwMode="auto">
          <a:xfrm>
            <a:off x="1239163" y="-1"/>
            <a:ext cx="9713675" cy="1000695"/>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C8BD093E-D13E-5900-DA23-57B884F9793A}"/>
              </a:ext>
            </a:extLst>
          </p:cNvPr>
          <p:cNvSpPr txBox="1"/>
          <p:nvPr/>
        </p:nvSpPr>
        <p:spPr>
          <a:xfrm>
            <a:off x="812800" y="-23047"/>
            <a:ext cx="10566400" cy="1077218"/>
          </a:xfrm>
          <a:prstGeom prst="rect">
            <a:avLst/>
          </a:prstGeom>
          <a:noFill/>
        </p:spPr>
        <p:txBody>
          <a:bodyPr wrap="square" rtlCol="0">
            <a:spAutoFit/>
          </a:bodyPr>
          <a:lstStyle/>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HỆ THỐNG:</a:t>
            </a:r>
          </a:p>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PHẦN MỀM</a:t>
            </a:r>
          </a:p>
        </p:txBody>
      </p:sp>
      <p:sp>
        <p:nvSpPr>
          <p:cNvPr id="7" name="Freeform 30">
            <a:extLst>
              <a:ext uri="{FF2B5EF4-FFF2-40B4-BE49-F238E27FC236}">
                <a16:creationId xmlns:a16="http://schemas.microsoft.com/office/drawing/2014/main" id="{88874152-7E56-ED8D-57CE-A79A9A97B35A}"/>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47936BB7-E0AF-2C4F-8FDC-504BFB9F9235}"/>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B0B25B24-9614-8100-E3AA-73FDBF382078}"/>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4A60355F-DB65-6EA9-517C-BD51CC90D022}"/>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23</a:t>
            </a:r>
          </a:p>
        </p:txBody>
      </p:sp>
      <p:sp>
        <p:nvSpPr>
          <p:cNvPr id="26" name="TextBox 25">
            <a:extLst>
              <a:ext uri="{FF2B5EF4-FFF2-40B4-BE49-F238E27FC236}">
                <a16:creationId xmlns:a16="http://schemas.microsoft.com/office/drawing/2014/main" id="{A16E60CA-B64D-893F-1C1F-5DDFC062B853}"/>
              </a:ext>
            </a:extLst>
          </p:cNvPr>
          <p:cNvSpPr txBox="1"/>
          <p:nvPr/>
        </p:nvSpPr>
        <p:spPr>
          <a:xfrm>
            <a:off x="0" y="682955"/>
            <a:ext cx="4379495" cy="2062103"/>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vi-VN"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Lưu đồ nhận diện vật thể và dự đoán lực gắp ban đầu</a:t>
            </a:r>
            <a:endPar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589D662E-B4B3-2854-6DFB-06B0397E79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56481" y="996930"/>
            <a:ext cx="3710101" cy="5861069"/>
          </a:xfrm>
          <a:prstGeom prst="rect">
            <a:avLst/>
          </a:prstGeom>
        </p:spPr>
      </p:pic>
    </p:spTree>
    <p:extLst>
      <p:ext uri="{BB962C8B-B14F-4D97-AF65-F5344CB8AC3E}">
        <p14:creationId xmlns:p14="http://schemas.microsoft.com/office/powerpoint/2010/main" val="398602491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03653-2983-4D48-5F80-F0C94125D15A}"/>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403FCC3A-A4A1-2C8B-5A4B-5397A2EAE271}"/>
              </a:ext>
            </a:extLst>
          </p:cNvPr>
          <p:cNvSpPr/>
          <p:nvPr/>
        </p:nvSpPr>
        <p:spPr bwMode="auto">
          <a:xfrm>
            <a:off x="1239163" y="-1"/>
            <a:ext cx="9713675" cy="1000695"/>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090A9176-934E-3942-3968-FBEDAF8BB4C5}"/>
              </a:ext>
            </a:extLst>
          </p:cNvPr>
          <p:cNvSpPr txBox="1"/>
          <p:nvPr/>
        </p:nvSpPr>
        <p:spPr>
          <a:xfrm>
            <a:off x="812800" y="-23047"/>
            <a:ext cx="10566400" cy="1077218"/>
          </a:xfrm>
          <a:prstGeom prst="rect">
            <a:avLst/>
          </a:prstGeom>
          <a:noFill/>
        </p:spPr>
        <p:txBody>
          <a:bodyPr wrap="square" rtlCol="0">
            <a:spAutoFit/>
          </a:bodyPr>
          <a:lstStyle/>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HỆ THỐNG:</a:t>
            </a:r>
          </a:p>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PHẦN MỀM</a:t>
            </a:r>
          </a:p>
        </p:txBody>
      </p:sp>
      <p:sp>
        <p:nvSpPr>
          <p:cNvPr id="7" name="Freeform 30">
            <a:extLst>
              <a:ext uri="{FF2B5EF4-FFF2-40B4-BE49-F238E27FC236}">
                <a16:creationId xmlns:a16="http://schemas.microsoft.com/office/drawing/2014/main" id="{B4DBFA49-8809-0DD3-3FDA-5262FA20527A}"/>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CB1960B5-3C2A-85AC-6EA0-EBD286C58FAC}"/>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4625CC03-F4C6-749C-BABB-DAD676BD1CAE}"/>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3019DF0C-2B06-B87E-C81E-A3852CFEFB5C}"/>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24</a:t>
            </a:r>
          </a:p>
        </p:txBody>
      </p:sp>
      <p:sp>
        <p:nvSpPr>
          <p:cNvPr id="26" name="TextBox 25">
            <a:extLst>
              <a:ext uri="{FF2B5EF4-FFF2-40B4-BE49-F238E27FC236}">
                <a16:creationId xmlns:a16="http://schemas.microsoft.com/office/drawing/2014/main" id="{59187553-E27F-7116-BA62-B069BD047FB5}"/>
              </a:ext>
            </a:extLst>
          </p:cNvPr>
          <p:cNvSpPr txBox="1"/>
          <p:nvPr/>
        </p:nvSpPr>
        <p:spPr>
          <a:xfrm>
            <a:off x="0" y="682955"/>
            <a:ext cx="4379495" cy="2062103"/>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vi-VN"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Lưu đồ đọc cảm biến xúc giác và điều khiển thích nghi</a:t>
            </a:r>
            <a:endPar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F533A91A-F57F-4E48-959A-322CC66B89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72999" y="1054172"/>
            <a:ext cx="4944001" cy="5803828"/>
          </a:xfrm>
          <a:prstGeom prst="rect">
            <a:avLst/>
          </a:prstGeom>
        </p:spPr>
      </p:pic>
    </p:spTree>
    <p:extLst>
      <p:ext uri="{BB962C8B-B14F-4D97-AF65-F5344CB8AC3E}">
        <p14:creationId xmlns:p14="http://schemas.microsoft.com/office/powerpoint/2010/main" val="327651688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3F97D-EBD6-18B2-F39C-8F9102E4CD9F}"/>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8FF85943-D00B-1532-81D7-A45200CBF2BF}"/>
              </a:ext>
            </a:extLst>
          </p:cNvPr>
          <p:cNvSpPr/>
          <p:nvPr/>
        </p:nvSpPr>
        <p:spPr bwMode="auto">
          <a:xfrm>
            <a:off x="1239163" y="-1"/>
            <a:ext cx="9713675" cy="1000695"/>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9C8422F6-733A-FA55-3D6B-186A3BBAD686}"/>
              </a:ext>
            </a:extLst>
          </p:cNvPr>
          <p:cNvSpPr txBox="1"/>
          <p:nvPr/>
        </p:nvSpPr>
        <p:spPr>
          <a:xfrm>
            <a:off x="812800" y="-23047"/>
            <a:ext cx="10566400" cy="1077218"/>
          </a:xfrm>
          <a:prstGeom prst="rect">
            <a:avLst/>
          </a:prstGeom>
          <a:noFill/>
        </p:spPr>
        <p:txBody>
          <a:bodyPr wrap="square" rtlCol="0">
            <a:spAutoFit/>
          </a:bodyPr>
          <a:lstStyle/>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HỆ THỐNG:</a:t>
            </a:r>
          </a:p>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PHẦN MỀM</a:t>
            </a:r>
          </a:p>
        </p:txBody>
      </p:sp>
      <p:sp>
        <p:nvSpPr>
          <p:cNvPr id="7" name="Freeform 30">
            <a:extLst>
              <a:ext uri="{FF2B5EF4-FFF2-40B4-BE49-F238E27FC236}">
                <a16:creationId xmlns:a16="http://schemas.microsoft.com/office/drawing/2014/main" id="{6C071604-3B6D-C3A6-232D-BBDF126B2ABD}"/>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4C73D64C-457C-8C78-4071-EC3FA562E1A6}"/>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0F4EF071-CBB5-CB83-2221-DC61324441B8}"/>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80564E1F-C839-29C6-09D2-5360A1E02B41}"/>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25</a:t>
            </a:r>
          </a:p>
        </p:txBody>
      </p:sp>
      <p:sp>
        <p:nvSpPr>
          <p:cNvPr id="26" name="TextBox 25">
            <a:extLst>
              <a:ext uri="{FF2B5EF4-FFF2-40B4-BE49-F238E27FC236}">
                <a16:creationId xmlns:a16="http://schemas.microsoft.com/office/drawing/2014/main" id="{C587BFD7-5DD6-915A-232E-62FE77879127}"/>
              </a:ext>
            </a:extLst>
          </p:cNvPr>
          <p:cNvSpPr txBox="1"/>
          <p:nvPr/>
        </p:nvSpPr>
        <p:spPr>
          <a:xfrm>
            <a:off x="0" y="682955"/>
            <a:ext cx="4379495" cy="1569660"/>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vi-VN"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Lưu đồ giải thuật của giao diện</a:t>
            </a:r>
            <a:endPar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E2576D67-77A0-AA91-DEFE-4A6B36ED46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70611" y="1118937"/>
            <a:ext cx="3250778" cy="5234303"/>
          </a:xfrm>
          <a:prstGeom prst="rect">
            <a:avLst/>
          </a:prstGeom>
        </p:spPr>
      </p:pic>
    </p:spTree>
    <p:extLst>
      <p:ext uri="{BB962C8B-B14F-4D97-AF65-F5344CB8AC3E}">
        <p14:creationId xmlns:p14="http://schemas.microsoft.com/office/powerpoint/2010/main" val="3898940015"/>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1C54A-9BB0-7B7C-B5C2-412156E86ED4}"/>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090076FE-D168-5524-3431-7BA8B60CF10B}"/>
              </a:ext>
            </a:extLst>
          </p:cNvPr>
          <p:cNvSpPr/>
          <p:nvPr/>
        </p:nvSpPr>
        <p:spPr bwMode="auto">
          <a:xfrm>
            <a:off x="1239163" y="-1"/>
            <a:ext cx="9713675" cy="1000695"/>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796CA339-76BE-396B-8F91-D663A22DA407}"/>
              </a:ext>
            </a:extLst>
          </p:cNvPr>
          <p:cNvSpPr txBox="1"/>
          <p:nvPr/>
        </p:nvSpPr>
        <p:spPr>
          <a:xfrm>
            <a:off x="812800" y="-23047"/>
            <a:ext cx="10566400" cy="1077218"/>
          </a:xfrm>
          <a:prstGeom prst="rect">
            <a:avLst/>
          </a:prstGeom>
          <a:noFill/>
        </p:spPr>
        <p:txBody>
          <a:bodyPr wrap="square" rtlCol="0">
            <a:spAutoFit/>
          </a:bodyPr>
          <a:lstStyle/>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HỆ THỐNG:</a:t>
            </a:r>
          </a:p>
          <a:p>
            <a:pPr algn="ctr" defTabSz="1219170" fontAlgn="base">
              <a:spcBef>
                <a:spcPct val="0"/>
              </a:spcBef>
              <a:spcAft>
                <a:spcPct val="0"/>
              </a:spcAft>
            </a:pPr>
            <a:r>
              <a:rPr lang="en-US" sz="32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THIẾT KẾ PHẦN MỀM</a:t>
            </a:r>
          </a:p>
        </p:txBody>
      </p:sp>
      <p:sp>
        <p:nvSpPr>
          <p:cNvPr id="7" name="Freeform 30">
            <a:extLst>
              <a:ext uri="{FF2B5EF4-FFF2-40B4-BE49-F238E27FC236}">
                <a16:creationId xmlns:a16="http://schemas.microsoft.com/office/drawing/2014/main" id="{6BB5B9B2-42D1-66EC-C3A5-E22ED664328B}"/>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BD498053-E14B-E562-4E77-83A115A4FE2E}"/>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E3274909-03BC-F234-931B-FACC0862929F}"/>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7C81D6F9-4789-3695-5430-959C44FBFA84}"/>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26</a:t>
            </a:r>
          </a:p>
        </p:txBody>
      </p:sp>
      <p:sp>
        <p:nvSpPr>
          <p:cNvPr id="26" name="TextBox 25">
            <a:extLst>
              <a:ext uri="{FF2B5EF4-FFF2-40B4-BE49-F238E27FC236}">
                <a16:creationId xmlns:a16="http://schemas.microsoft.com/office/drawing/2014/main" id="{0F7CDE88-510A-C700-8282-5A078958E06C}"/>
              </a:ext>
            </a:extLst>
          </p:cNvPr>
          <p:cNvSpPr txBox="1"/>
          <p:nvPr/>
        </p:nvSpPr>
        <p:spPr>
          <a:xfrm>
            <a:off x="9847178" y="1002767"/>
            <a:ext cx="2362200" cy="3539430"/>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vi-VN"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Giao diện điều khiển và giám sát hoạt động của hệ thống</a:t>
            </a:r>
            <a:endPar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AB0C965F-BC9B-2EED-BA66-943458A0C4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295" y="1084524"/>
            <a:ext cx="9717505" cy="5466096"/>
          </a:xfrm>
          <a:prstGeom prst="rect">
            <a:avLst/>
          </a:prstGeom>
        </p:spPr>
      </p:pic>
    </p:spTree>
    <p:extLst>
      <p:ext uri="{BB962C8B-B14F-4D97-AF65-F5344CB8AC3E}">
        <p14:creationId xmlns:p14="http://schemas.microsoft.com/office/powerpoint/2010/main" val="882609294"/>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D7545E-D03E-328E-DB22-BD0F93564825}"/>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86123D86-F8D2-6C98-08D6-DB63B3A73215}"/>
              </a:ext>
            </a:extLst>
          </p:cNvPr>
          <p:cNvSpPr/>
          <p:nvPr/>
        </p:nvSpPr>
        <p:spPr bwMode="auto">
          <a:xfrm>
            <a:off x="1239163" y="0"/>
            <a:ext cx="9713675" cy="724286"/>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722DEF4D-7DFE-11D2-4E55-4160184CEBE7}"/>
              </a:ext>
            </a:extLst>
          </p:cNvPr>
          <p:cNvSpPr txBox="1"/>
          <p:nvPr/>
        </p:nvSpPr>
        <p:spPr>
          <a:xfrm>
            <a:off x="812800" y="3431"/>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KẾT QUẢ</a:t>
            </a:r>
          </a:p>
        </p:txBody>
      </p:sp>
      <p:sp>
        <p:nvSpPr>
          <p:cNvPr id="7" name="Freeform 30">
            <a:extLst>
              <a:ext uri="{FF2B5EF4-FFF2-40B4-BE49-F238E27FC236}">
                <a16:creationId xmlns:a16="http://schemas.microsoft.com/office/drawing/2014/main" id="{7A360A63-8E0D-F2A9-BF56-4A81F0116F44}"/>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224171BD-F721-99E4-5F29-628FCA3B1862}"/>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BB131F53-CD11-5AD4-4FCB-549401031C08}"/>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4AC1D8DA-4684-A929-CE85-5092A1C81881}"/>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27</a:t>
            </a:r>
          </a:p>
        </p:txBody>
      </p:sp>
      <p:sp>
        <p:nvSpPr>
          <p:cNvPr id="26" name="TextBox 25">
            <a:extLst>
              <a:ext uri="{FF2B5EF4-FFF2-40B4-BE49-F238E27FC236}">
                <a16:creationId xmlns:a16="http://schemas.microsoft.com/office/drawing/2014/main" id="{EC6295C9-3E3B-A685-7F1D-B5FC2AE73E53}"/>
              </a:ext>
            </a:extLst>
          </p:cNvPr>
          <p:cNvSpPr txBox="1"/>
          <p:nvPr/>
        </p:nvSpPr>
        <p:spPr>
          <a:xfrm>
            <a:off x="0" y="682955"/>
            <a:ext cx="4379495" cy="1077218"/>
          </a:xfrm>
          <a:prstGeom prst="rect">
            <a:avLst/>
          </a:prstGeom>
          <a:noFill/>
        </p:spPr>
        <p:txBody>
          <a:bodyPr wrap="square" rtlCol="0">
            <a:spAutoFit/>
          </a:bodyPr>
          <a:lstStyle/>
          <a:p>
            <a:pPr algn="l"/>
            <a:endParaRPr lang="en-US" sz="3200" b="1"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endParaRPr>
          </a:p>
          <a:p>
            <a:pPr algn="l"/>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Hoạt</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động</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của</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hệ</a:t>
            </a:r>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32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thống</a:t>
            </a:r>
            <a:endPar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EE36F1C0-84B7-469C-B692-DB0E3640BAE1}"/>
              </a:ext>
            </a:extLst>
          </p:cNvPr>
          <p:cNvSpPr/>
          <p:nvPr/>
        </p:nvSpPr>
        <p:spPr bwMode="auto">
          <a:xfrm>
            <a:off x="1357562" y="2384530"/>
            <a:ext cx="1624263" cy="1287379"/>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9" name="TextBox 8">
            <a:extLst>
              <a:ext uri="{FF2B5EF4-FFF2-40B4-BE49-F238E27FC236}">
                <a16:creationId xmlns:a16="http://schemas.microsoft.com/office/drawing/2014/main" id="{FEF94A53-794A-0695-703F-05264C99B161}"/>
              </a:ext>
            </a:extLst>
          </p:cNvPr>
          <p:cNvSpPr txBox="1"/>
          <p:nvPr/>
        </p:nvSpPr>
        <p:spPr>
          <a:xfrm>
            <a:off x="1252618" y="2718020"/>
            <a:ext cx="1753270" cy="646331"/>
          </a:xfrm>
          <a:prstGeom prst="rect">
            <a:avLst/>
          </a:prstGeom>
          <a:noFill/>
        </p:spPr>
        <p:txBody>
          <a:bodyPr wrap="square" rtlCol="0">
            <a:spAutoFit/>
          </a:bodyPr>
          <a:lstStyle/>
          <a:p>
            <a:pPr marL="342900" indent="-342900" algn="ctr" defTabSz="1219170" fontAlgn="base">
              <a:spcBef>
                <a:spcPct val="0"/>
              </a:spcBef>
              <a:spcAft>
                <a:spcPct val="0"/>
              </a:spcAft>
              <a:buAutoNum type="arabicPeriod"/>
            </a:pP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Nhận</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diện</a:t>
            </a:r>
            <a:endPar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endParaRPr>
          </a:p>
          <a:p>
            <a:pPr algn="ctr" defTabSz="1219170" fontAlgn="base">
              <a:spcBef>
                <a:spcPct val="0"/>
              </a:spcBef>
              <a:spcAft>
                <a:spcPct val="0"/>
              </a:spcAft>
            </a:pP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vật</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thể</a:t>
            </a:r>
            <a:endPar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endParaRPr>
          </a:p>
        </p:txBody>
      </p:sp>
      <p:sp>
        <p:nvSpPr>
          <p:cNvPr id="12" name="Rectangle 11">
            <a:extLst>
              <a:ext uri="{FF2B5EF4-FFF2-40B4-BE49-F238E27FC236}">
                <a16:creationId xmlns:a16="http://schemas.microsoft.com/office/drawing/2014/main" id="{DAA23D19-DFBF-7ACD-7343-7E8D418140FB}"/>
              </a:ext>
            </a:extLst>
          </p:cNvPr>
          <p:cNvSpPr/>
          <p:nvPr/>
        </p:nvSpPr>
        <p:spPr bwMode="auto">
          <a:xfrm>
            <a:off x="3593096" y="2384530"/>
            <a:ext cx="2001588" cy="1287379"/>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5" name="TextBox 14">
            <a:extLst>
              <a:ext uri="{FF2B5EF4-FFF2-40B4-BE49-F238E27FC236}">
                <a16:creationId xmlns:a16="http://schemas.microsoft.com/office/drawing/2014/main" id="{D01B2669-2B06-C779-38C9-E0C801AC2B02}"/>
              </a:ext>
            </a:extLst>
          </p:cNvPr>
          <p:cNvSpPr txBox="1"/>
          <p:nvPr/>
        </p:nvSpPr>
        <p:spPr>
          <a:xfrm>
            <a:off x="2981825" y="2579521"/>
            <a:ext cx="3310691" cy="923330"/>
          </a:xfrm>
          <a:prstGeom prst="rect">
            <a:avLst/>
          </a:prstGeom>
          <a:noFill/>
        </p:spPr>
        <p:txBody>
          <a:bodyPr wrap="square" rtlCol="0">
            <a:spAutoFit/>
          </a:bodyPr>
          <a:lstStyle/>
          <a:p>
            <a:pPr algn="ctr" defTabSz="1219170" fontAlgn="base">
              <a:spcBef>
                <a:spcPct val="0"/>
              </a:spcBef>
              <a:spcAft>
                <a:spcPct val="0"/>
              </a:spcAft>
            </a:pP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2.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Dự</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đoán</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lực</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gắp</a:t>
            </a:r>
            <a:endPar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endParaRPr>
          </a:p>
          <a:p>
            <a:pPr algn="ctr" defTabSz="1219170" fontAlgn="base">
              <a:spcBef>
                <a:spcPct val="0"/>
              </a:spcBef>
              <a:spcAft>
                <a:spcPct val="0"/>
              </a:spcAft>
            </a:pP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ban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đầu</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bằng</a:t>
            </a:r>
            <a:endPar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endParaRPr>
          </a:p>
          <a:p>
            <a:pPr algn="ctr" defTabSz="1219170" fontAlgn="base">
              <a:spcBef>
                <a:spcPct val="0"/>
              </a:spcBef>
              <a:spcAft>
                <a:spcPct val="0"/>
              </a:spcAft>
            </a:pP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MLPRegressor</a:t>
            </a:r>
            <a:endPar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endParaRPr>
          </a:p>
        </p:txBody>
      </p:sp>
      <p:sp>
        <p:nvSpPr>
          <p:cNvPr id="19" name="Rectangle 18">
            <a:extLst>
              <a:ext uri="{FF2B5EF4-FFF2-40B4-BE49-F238E27FC236}">
                <a16:creationId xmlns:a16="http://schemas.microsoft.com/office/drawing/2014/main" id="{2033789C-7B9A-8159-00D2-69AEC8D3F095}"/>
              </a:ext>
            </a:extLst>
          </p:cNvPr>
          <p:cNvSpPr/>
          <p:nvPr/>
        </p:nvSpPr>
        <p:spPr bwMode="auto">
          <a:xfrm>
            <a:off x="6181892" y="2384529"/>
            <a:ext cx="2001588" cy="1287379"/>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21" name="TextBox 20">
            <a:extLst>
              <a:ext uri="{FF2B5EF4-FFF2-40B4-BE49-F238E27FC236}">
                <a16:creationId xmlns:a16="http://schemas.microsoft.com/office/drawing/2014/main" id="{38ADB203-443F-4916-B35A-DB830390A13C}"/>
              </a:ext>
            </a:extLst>
          </p:cNvPr>
          <p:cNvSpPr txBox="1"/>
          <p:nvPr/>
        </p:nvSpPr>
        <p:spPr>
          <a:xfrm>
            <a:off x="1899486" y="2566553"/>
            <a:ext cx="10566400" cy="923330"/>
          </a:xfrm>
          <a:prstGeom prst="rect">
            <a:avLst/>
          </a:prstGeom>
          <a:noFill/>
        </p:spPr>
        <p:txBody>
          <a:bodyPr wrap="square" rtlCol="0">
            <a:spAutoFit/>
          </a:bodyPr>
          <a:lstStyle/>
          <a:p>
            <a:pPr algn="ctr" defTabSz="1219170" fontAlgn="base">
              <a:spcBef>
                <a:spcPct val="0"/>
              </a:spcBef>
              <a:spcAft>
                <a:spcPct val="0"/>
              </a:spcAft>
            </a:pP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3.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Đọc</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dữ</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liệu</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p>
          <a:p>
            <a:pPr algn="ctr" defTabSz="1219170" fontAlgn="base">
              <a:spcBef>
                <a:spcPct val="0"/>
              </a:spcBef>
              <a:spcAft>
                <a:spcPct val="0"/>
              </a:spcAft>
            </a:pP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cảm</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biến</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p>
          <a:p>
            <a:pPr algn="ctr" defTabSz="1219170" fontAlgn="base">
              <a:spcBef>
                <a:spcPct val="0"/>
              </a:spcBef>
              <a:spcAft>
                <a:spcPct val="0"/>
              </a:spcAft>
            </a:pP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liên</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tục</a:t>
            </a:r>
            <a:endPar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endParaRPr>
          </a:p>
        </p:txBody>
      </p:sp>
      <p:sp>
        <p:nvSpPr>
          <p:cNvPr id="23" name="Rectangle 22">
            <a:extLst>
              <a:ext uri="{FF2B5EF4-FFF2-40B4-BE49-F238E27FC236}">
                <a16:creationId xmlns:a16="http://schemas.microsoft.com/office/drawing/2014/main" id="{A924927A-4D52-62AE-1A53-C6E21315449B}"/>
              </a:ext>
            </a:extLst>
          </p:cNvPr>
          <p:cNvSpPr/>
          <p:nvPr/>
        </p:nvSpPr>
        <p:spPr bwMode="auto">
          <a:xfrm>
            <a:off x="8770688" y="2384528"/>
            <a:ext cx="2001588" cy="1287379"/>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27" name="TextBox 26">
            <a:extLst>
              <a:ext uri="{FF2B5EF4-FFF2-40B4-BE49-F238E27FC236}">
                <a16:creationId xmlns:a16="http://schemas.microsoft.com/office/drawing/2014/main" id="{17FCF289-AD20-87C4-353F-AE104069CB73}"/>
              </a:ext>
            </a:extLst>
          </p:cNvPr>
          <p:cNvSpPr txBox="1"/>
          <p:nvPr/>
        </p:nvSpPr>
        <p:spPr>
          <a:xfrm>
            <a:off x="4488282" y="2562678"/>
            <a:ext cx="10566400" cy="923330"/>
          </a:xfrm>
          <a:prstGeom prst="rect">
            <a:avLst/>
          </a:prstGeom>
          <a:noFill/>
        </p:spPr>
        <p:txBody>
          <a:bodyPr wrap="square" rtlCol="0">
            <a:spAutoFit/>
          </a:bodyPr>
          <a:lstStyle/>
          <a:p>
            <a:pPr algn="ctr" defTabSz="1219170" fontAlgn="base">
              <a:spcBef>
                <a:spcPct val="0"/>
              </a:spcBef>
              <a:spcAft>
                <a:spcPct val="0"/>
              </a:spcAft>
            </a:pP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4.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Điều</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chỉnh</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lực</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p>
          <a:p>
            <a:pPr algn="ctr" defTabSz="1219170" fontAlgn="base">
              <a:spcBef>
                <a:spcPct val="0"/>
              </a:spcBef>
              <a:spcAft>
                <a:spcPct val="0"/>
              </a:spcAft>
            </a:pP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gắp</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bằng</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p>
          <a:p>
            <a:pPr algn="ctr" defTabSz="1219170" fontAlgn="base">
              <a:spcBef>
                <a:spcPct val="0"/>
              </a:spcBef>
              <a:spcAft>
                <a:spcPct val="0"/>
              </a:spcAft>
            </a:pP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MLPClassifier</a:t>
            </a:r>
            <a:endPar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endParaRPr>
          </a:p>
        </p:txBody>
      </p:sp>
      <p:sp>
        <p:nvSpPr>
          <p:cNvPr id="29" name="Rectangle 28">
            <a:extLst>
              <a:ext uri="{FF2B5EF4-FFF2-40B4-BE49-F238E27FC236}">
                <a16:creationId xmlns:a16="http://schemas.microsoft.com/office/drawing/2014/main" id="{37842ADA-B34D-5517-2EE6-D225DADEB8CD}"/>
              </a:ext>
            </a:extLst>
          </p:cNvPr>
          <p:cNvSpPr/>
          <p:nvPr/>
        </p:nvSpPr>
        <p:spPr bwMode="auto">
          <a:xfrm>
            <a:off x="5000793" y="4343680"/>
            <a:ext cx="2001588" cy="1287379"/>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31" name="TextBox 30">
            <a:extLst>
              <a:ext uri="{FF2B5EF4-FFF2-40B4-BE49-F238E27FC236}">
                <a16:creationId xmlns:a16="http://schemas.microsoft.com/office/drawing/2014/main" id="{D3FD42BC-A330-8314-5FF9-9698A6E4644B}"/>
              </a:ext>
            </a:extLst>
          </p:cNvPr>
          <p:cNvSpPr txBox="1"/>
          <p:nvPr/>
        </p:nvSpPr>
        <p:spPr>
          <a:xfrm>
            <a:off x="718387" y="4542547"/>
            <a:ext cx="10566400" cy="923330"/>
          </a:xfrm>
          <a:prstGeom prst="rect">
            <a:avLst/>
          </a:prstGeom>
          <a:noFill/>
        </p:spPr>
        <p:txBody>
          <a:bodyPr wrap="square" rtlCol="0">
            <a:spAutoFit/>
          </a:bodyPr>
          <a:lstStyle/>
          <a:p>
            <a:pPr algn="ctr" defTabSz="1219170" fontAlgn="base">
              <a:spcBef>
                <a:spcPct val="0"/>
              </a:spcBef>
              <a:spcAft>
                <a:spcPct val="0"/>
              </a:spcAft>
            </a:pP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5.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Cập</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nhật</a:t>
            </a:r>
            <a:endPar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endParaRPr>
          </a:p>
          <a:p>
            <a:pPr algn="ctr" defTabSz="1219170" fontAlgn="base">
              <a:spcBef>
                <a:spcPct val="0"/>
              </a:spcBef>
              <a:spcAft>
                <a:spcPct val="0"/>
              </a:spcAft>
            </a:pP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trạng</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thái</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liên</a:t>
            </a:r>
            <a:endPar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endParaRPr>
          </a:p>
          <a:p>
            <a:pPr algn="ctr" defTabSz="1219170" fontAlgn="base">
              <a:spcBef>
                <a:spcPct val="0"/>
              </a:spcBef>
              <a:spcAft>
                <a:spcPct val="0"/>
              </a:spcAft>
            </a:pP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tục</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gửi</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về</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giao</a:t>
            </a:r>
            <a:r>
              <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 </a:t>
            </a:r>
            <a:r>
              <a:rPr lang="en-US" b="1" dirty="0" err="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diện</a:t>
            </a:r>
            <a:endParaRPr lang="en-US"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endParaRPr>
          </a:p>
        </p:txBody>
      </p:sp>
    </p:spTree>
    <p:extLst>
      <p:ext uri="{BB962C8B-B14F-4D97-AF65-F5344CB8AC3E}">
        <p14:creationId xmlns:p14="http://schemas.microsoft.com/office/powerpoint/2010/main" val="309836667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9FDAA-081A-EE92-6534-480098733A1E}"/>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B39FD990-C70E-0DFC-1A6A-B55CFC2EEA1C}"/>
              </a:ext>
            </a:extLst>
          </p:cNvPr>
          <p:cNvSpPr/>
          <p:nvPr/>
        </p:nvSpPr>
        <p:spPr bwMode="auto">
          <a:xfrm>
            <a:off x="1239163" y="0"/>
            <a:ext cx="9713675" cy="724286"/>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EFA64823-77D0-70D8-5AC9-E662385E3B2D}"/>
              </a:ext>
            </a:extLst>
          </p:cNvPr>
          <p:cNvSpPr txBox="1"/>
          <p:nvPr/>
        </p:nvSpPr>
        <p:spPr>
          <a:xfrm>
            <a:off x="812800" y="3431"/>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KẾT QUẢ</a:t>
            </a:r>
          </a:p>
        </p:txBody>
      </p:sp>
      <p:sp>
        <p:nvSpPr>
          <p:cNvPr id="7" name="Freeform 30">
            <a:extLst>
              <a:ext uri="{FF2B5EF4-FFF2-40B4-BE49-F238E27FC236}">
                <a16:creationId xmlns:a16="http://schemas.microsoft.com/office/drawing/2014/main" id="{D566748F-3611-2238-7732-E0A01B844D4F}"/>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8FC17526-75F7-3CE1-B6DA-95AF0680A0DF}"/>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1EECFCBC-1F32-A38D-D8E7-FFE0CA8C5CF8}"/>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67F31DFC-E403-BADB-067E-94BCBDE1BB5F}"/>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27</a:t>
            </a:r>
          </a:p>
        </p:txBody>
      </p:sp>
      <p:sp>
        <p:nvSpPr>
          <p:cNvPr id="26" name="TextBox 25">
            <a:extLst>
              <a:ext uri="{FF2B5EF4-FFF2-40B4-BE49-F238E27FC236}">
                <a16:creationId xmlns:a16="http://schemas.microsoft.com/office/drawing/2014/main" id="{593D01BF-EAA6-F4F3-1352-9659ED708EF0}"/>
              </a:ext>
            </a:extLst>
          </p:cNvPr>
          <p:cNvSpPr txBox="1"/>
          <p:nvPr/>
        </p:nvSpPr>
        <p:spPr>
          <a:xfrm>
            <a:off x="0" y="933107"/>
            <a:ext cx="5149515" cy="584775"/>
          </a:xfrm>
          <a:prstGeom prst="rect">
            <a:avLst/>
          </a:prstGeom>
          <a:noFill/>
        </p:spPr>
        <p:txBody>
          <a:bodyPr wrap="square" rtlCol="0">
            <a:spAutoFit/>
          </a:bodyPr>
          <a:lstStyle/>
          <a:p>
            <a:pPr algn="l"/>
            <a:r>
              <a:rPr lang="en-US" sz="32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KẾT QUẢ THI CÔNG</a:t>
            </a:r>
            <a:endPar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0DFDEB38-CE2C-FACF-2D0C-84D09E2FB9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70844" y="933107"/>
            <a:ext cx="4331369" cy="5775158"/>
          </a:xfrm>
          <a:prstGeom prst="rect">
            <a:avLst/>
          </a:prstGeom>
        </p:spPr>
      </p:pic>
      <p:pic>
        <p:nvPicPr>
          <p:cNvPr id="5" name="Picture 4">
            <a:extLst>
              <a:ext uri="{FF2B5EF4-FFF2-40B4-BE49-F238E27FC236}">
                <a16:creationId xmlns:a16="http://schemas.microsoft.com/office/drawing/2014/main" id="{A2844A43-62C7-3663-A254-78AD1F119B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85224" y="1739672"/>
            <a:ext cx="2842888" cy="2132166"/>
          </a:xfrm>
          <a:prstGeom prst="rect">
            <a:avLst/>
          </a:prstGeom>
        </p:spPr>
      </p:pic>
      <p:pic>
        <p:nvPicPr>
          <p:cNvPr id="10" name="Picture 9">
            <a:extLst>
              <a:ext uri="{FF2B5EF4-FFF2-40B4-BE49-F238E27FC236}">
                <a16:creationId xmlns:a16="http://schemas.microsoft.com/office/drawing/2014/main" id="{11560AA7-0FFC-BAB0-0211-3B25128F905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5346" y="1739672"/>
            <a:ext cx="2842888" cy="2132166"/>
          </a:xfrm>
          <a:prstGeom prst="rect">
            <a:avLst/>
          </a:prstGeom>
        </p:spPr>
      </p:pic>
      <p:pic>
        <p:nvPicPr>
          <p:cNvPr id="22" name="Picture 21">
            <a:extLst>
              <a:ext uri="{FF2B5EF4-FFF2-40B4-BE49-F238E27FC236}">
                <a16:creationId xmlns:a16="http://schemas.microsoft.com/office/drawing/2014/main" id="{10C86962-BB89-E03F-EA34-92384C4EC72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83744" y="4338533"/>
            <a:ext cx="2844368" cy="2132166"/>
          </a:xfrm>
          <a:prstGeom prst="rect">
            <a:avLst/>
          </a:prstGeom>
        </p:spPr>
      </p:pic>
      <p:pic>
        <p:nvPicPr>
          <p:cNvPr id="4" name="Picture 3">
            <a:extLst>
              <a:ext uri="{FF2B5EF4-FFF2-40B4-BE49-F238E27FC236}">
                <a16:creationId xmlns:a16="http://schemas.microsoft.com/office/drawing/2014/main" id="{1759CD1C-9912-5A69-50FF-53166ED67A2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3866" y="4564053"/>
            <a:ext cx="2844368" cy="1704399"/>
          </a:xfrm>
          <a:prstGeom prst="rect">
            <a:avLst/>
          </a:prstGeom>
        </p:spPr>
      </p:pic>
    </p:spTree>
    <p:extLst>
      <p:ext uri="{BB962C8B-B14F-4D97-AF65-F5344CB8AC3E}">
        <p14:creationId xmlns:p14="http://schemas.microsoft.com/office/powerpoint/2010/main" val="147892315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AAF60-72CF-E2B2-E340-DD1AEC746426}"/>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3D0061DF-60C5-1E59-A8BA-3A5414D235FA}"/>
              </a:ext>
            </a:extLst>
          </p:cNvPr>
          <p:cNvSpPr/>
          <p:nvPr/>
        </p:nvSpPr>
        <p:spPr bwMode="auto">
          <a:xfrm>
            <a:off x="1239163" y="0"/>
            <a:ext cx="9713675" cy="724286"/>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E501798A-0D30-F2DA-9949-85FA4A1D82D8}"/>
              </a:ext>
            </a:extLst>
          </p:cNvPr>
          <p:cNvSpPr txBox="1"/>
          <p:nvPr/>
        </p:nvSpPr>
        <p:spPr>
          <a:xfrm>
            <a:off x="812800" y="3431"/>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KẾT QUẢ</a:t>
            </a:r>
          </a:p>
        </p:txBody>
      </p:sp>
      <p:sp>
        <p:nvSpPr>
          <p:cNvPr id="7" name="Freeform 30">
            <a:extLst>
              <a:ext uri="{FF2B5EF4-FFF2-40B4-BE49-F238E27FC236}">
                <a16:creationId xmlns:a16="http://schemas.microsoft.com/office/drawing/2014/main" id="{6E8154C3-DCC3-06BA-5904-0A1FF1856FF7}"/>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594015F1-895A-3D97-537E-61B26EC03358}"/>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23BF7F22-DAD0-4D9B-EA88-317997666EC3}"/>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347E4441-3FAD-9A7F-2DCF-A8F2AF97921B}"/>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28</a:t>
            </a:r>
          </a:p>
        </p:txBody>
      </p:sp>
      <p:sp>
        <p:nvSpPr>
          <p:cNvPr id="26" name="TextBox 25">
            <a:extLst>
              <a:ext uri="{FF2B5EF4-FFF2-40B4-BE49-F238E27FC236}">
                <a16:creationId xmlns:a16="http://schemas.microsoft.com/office/drawing/2014/main" id="{7D28EB4A-703B-3C26-1364-F986DD2F57BE}"/>
              </a:ext>
            </a:extLst>
          </p:cNvPr>
          <p:cNvSpPr txBox="1"/>
          <p:nvPr/>
        </p:nvSpPr>
        <p:spPr>
          <a:xfrm>
            <a:off x="0" y="1118937"/>
            <a:ext cx="5835316" cy="461665"/>
          </a:xfrm>
          <a:prstGeom prst="rect">
            <a:avLst/>
          </a:prstGeom>
          <a:noFill/>
        </p:spPr>
        <p:txBody>
          <a:bodyPr wrap="square" rtlCol="0">
            <a:spAutoFit/>
          </a:bodyPr>
          <a:lstStyle/>
          <a:p>
            <a:pPr algn="l"/>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Kết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quả</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huấn</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luyện</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mô</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hình YOLOv8</a:t>
            </a:r>
          </a:p>
        </p:txBody>
      </p:sp>
      <p:pic>
        <p:nvPicPr>
          <p:cNvPr id="4" name="Picture 3">
            <a:extLst>
              <a:ext uri="{FF2B5EF4-FFF2-40B4-BE49-F238E27FC236}">
                <a16:creationId xmlns:a16="http://schemas.microsoft.com/office/drawing/2014/main" id="{1755E1DD-88CF-C4C0-02F9-58974A4A08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22106" y="1975253"/>
            <a:ext cx="6757599" cy="3378800"/>
          </a:xfrm>
          <a:prstGeom prst="rect">
            <a:avLst/>
          </a:prstGeom>
        </p:spPr>
      </p:pic>
      <p:pic>
        <p:nvPicPr>
          <p:cNvPr id="8" name="Picture 7">
            <a:extLst>
              <a:ext uri="{FF2B5EF4-FFF2-40B4-BE49-F238E27FC236}">
                <a16:creationId xmlns:a16="http://schemas.microsoft.com/office/drawing/2014/main" id="{9FA4BA6C-E2EC-9D39-7396-AD7407FBB78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1988222"/>
            <a:ext cx="5145506" cy="3859129"/>
          </a:xfrm>
          <a:prstGeom prst="rect">
            <a:avLst/>
          </a:prstGeom>
        </p:spPr>
      </p:pic>
      <p:sp>
        <p:nvSpPr>
          <p:cNvPr id="12" name="TextBox 11">
            <a:extLst>
              <a:ext uri="{FF2B5EF4-FFF2-40B4-BE49-F238E27FC236}">
                <a16:creationId xmlns:a16="http://schemas.microsoft.com/office/drawing/2014/main" id="{F47C0A6F-2C94-B495-FF7B-07922403C688}"/>
              </a:ext>
            </a:extLst>
          </p:cNvPr>
          <p:cNvSpPr txBox="1"/>
          <p:nvPr/>
        </p:nvSpPr>
        <p:spPr>
          <a:xfrm>
            <a:off x="112295" y="5579827"/>
            <a:ext cx="4471737" cy="923330"/>
          </a:xfrm>
          <a:prstGeom prst="rect">
            <a:avLst/>
          </a:prstGeom>
          <a:noFill/>
        </p:spPr>
        <p:txBody>
          <a:bodyPr wrap="square">
            <a:spAutoFit/>
          </a:bodyPr>
          <a:lstStyle/>
          <a:p>
            <a:r>
              <a:rPr lang="vi-VN" dirty="0">
                <a:latin typeface="Times New Roman" panose="02020603050405020304" pitchFamily="18" charset="0"/>
                <a:cs typeface="Times New Roman" panose="02020603050405020304" pitchFamily="18" charset="0"/>
              </a:rPr>
              <a:t>Độ nhận diện đúng của lớp ball đạt khoảng 0.83, lớp can đạt khoảng 0.91 và lớp bottle đạt khoảng 0.97.</a:t>
            </a:r>
          </a:p>
        </p:txBody>
      </p:sp>
      <p:sp>
        <p:nvSpPr>
          <p:cNvPr id="15" name="TextBox 14">
            <a:extLst>
              <a:ext uri="{FF2B5EF4-FFF2-40B4-BE49-F238E27FC236}">
                <a16:creationId xmlns:a16="http://schemas.microsoft.com/office/drawing/2014/main" id="{B4AF6491-F209-08E7-611C-881744E8E545}"/>
              </a:ext>
            </a:extLst>
          </p:cNvPr>
          <p:cNvSpPr txBox="1"/>
          <p:nvPr/>
        </p:nvSpPr>
        <p:spPr>
          <a:xfrm>
            <a:off x="5762458" y="5579827"/>
            <a:ext cx="6178216" cy="923330"/>
          </a:xfrm>
          <a:prstGeom prst="rect">
            <a:avLst/>
          </a:prstGeom>
          <a:noFill/>
        </p:spPr>
        <p:txBody>
          <a:bodyPr wrap="square">
            <a:spAutoFit/>
          </a:bodyPr>
          <a:lstStyle/>
          <a:p>
            <a:r>
              <a:rPr lang="vi-VN" dirty="0">
                <a:latin typeface="Times New Roman" panose="02020603050405020304" pitchFamily="18" charset="0"/>
                <a:cs typeface="Times New Roman" panose="02020603050405020304" pitchFamily="18" charset="0"/>
              </a:rPr>
              <a:t>Chỉ số mAP50 đạt khoảng 0.94 và mAP50-95 đạt trên 0.90, cho thấy mô hình có khả năng nhận diện và định vị vật thể tương đối tốt </a:t>
            </a:r>
          </a:p>
        </p:txBody>
      </p:sp>
    </p:spTree>
    <p:extLst>
      <p:ext uri="{BB962C8B-B14F-4D97-AF65-F5344CB8AC3E}">
        <p14:creationId xmlns:p14="http://schemas.microsoft.com/office/powerpoint/2010/main" val="1476723630"/>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99BA6-A10F-33B8-9E8A-48E33DA754E0}"/>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C487887E-DCC5-D679-EE37-87FD998E551E}"/>
              </a:ext>
            </a:extLst>
          </p:cNvPr>
          <p:cNvSpPr/>
          <p:nvPr/>
        </p:nvSpPr>
        <p:spPr bwMode="auto">
          <a:xfrm>
            <a:off x="1239163" y="0"/>
            <a:ext cx="9713675" cy="724286"/>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7C29F911-D87A-7D38-6286-80D891C04027}"/>
              </a:ext>
            </a:extLst>
          </p:cNvPr>
          <p:cNvSpPr txBox="1"/>
          <p:nvPr/>
        </p:nvSpPr>
        <p:spPr>
          <a:xfrm>
            <a:off x="812800" y="3431"/>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KẾT QUẢ</a:t>
            </a:r>
          </a:p>
        </p:txBody>
      </p:sp>
      <p:sp>
        <p:nvSpPr>
          <p:cNvPr id="7" name="Freeform 30">
            <a:extLst>
              <a:ext uri="{FF2B5EF4-FFF2-40B4-BE49-F238E27FC236}">
                <a16:creationId xmlns:a16="http://schemas.microsoft.com/office/drawing/2014/main" id="{F6CAC755-D3A7-1419-7714-2B2B12D5CE76}"/>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585AD736-4581-870B-B40B-BC91365032B9}"/>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FA196980-516B-4558-A8B4-01B6364F69DB}"/>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CB7D7A4B-7E64-0B38-AFB7-DEE81DD540FA}"/>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29</a:t>
            </a:r>
          </a:p>
        </p:txBody>
      </p:sp>
      <p:sp>
        <p:nvSpPr>
          <p:cNvPr id="26" name="TextBox 25">
            <a:extLst>
              <a:ext uri="{FF2B5EF4-FFF2-40B4-BE49-F238E27FC236}">
                <a16:creationId xmlns:a16="http://schemas.microsoft.com/office/drawing/2014/main" id="{19AA03F0-BD3F-51F5-0251-4F4FEEF2194F}"/>
              </a:ext>
            </a:extLst>
          </p:cNvPr>
          <p:cNvSpPr txBox="1"/>
          <p:nvPr/>
        </p:nvSpPr>
        <p:spPr>
          <a:xfrm>
            <a:off x="3740107" y="711317"/>
            <a:ext cx="5835316" cy="461665"/>
          </a:xfrm>
          <a:prstGeom prst="rect">
            <a:avLst/>
          </a:prstGeom>
          <a:noFill/>
        </p:spPr>
        <p:txBody>
          <a:bodyPr wrap="square" rtlCol="0">
            <a:spAutoFit/>
          </a:bodyPr>
          <a:lstStyle/>
          <a:p>
            <a:pPr algn="l"/>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Kết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quả</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huấn</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luyện</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mô</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hình MLP</a:t>
            </a:r>
          </a:p>
        </p:txBody>
      </p:sp>
      <p:pic>
        <p:nvPicPr>
          <p:cNvPr id="3" name="Picture 2">
            <a:extLst>
              <a:ext uri="{FF2B5EF4-FFF2-40B4-BE49-F238E27FC236}">
                <a16:creationId xmlns:a16="http://schemas.microsoft.com/office/drawing/2014/main" id="{3C503423-2B12-E875-ED58-B83BF366DA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7575" y="1118937"/>
            <a:ext cx="4108780" cy="4135176"/>
          </a:xfrm>
          <a:prstGeom prst="rect">
            <a:avLst/>
          </a:prstGeom>
        </p:spPr>
      </p:pic>
      <p:pic>
        <p:nvPicPr>
          <p:cNvPr id="6" name="Picture 5">
            <a:extLst>
              <a:ext uri="{FF2B5EF4-FFF2-40B4-BE49-F238E27FC236}">
                <a16:creationId xmlns:a16="http://schemas.microsoft.com/office/drawing/2014/main" id="{59B5096B-41DA-3B68-5646-FF0108811E0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03861" y="1118937"/>
            <a:ext cx="4548977" cy="4073588"/>
          </a:xfrm>
          <a:prstGeom prst="rect">
            <a:avLst/>
          </a:prstGeom>
        </p:spPr>
      </p:pic>
      <p:pic>
        <p:nvPicPr>
          <p:cNvPr id="10" name="Picture 9">
            <a:extLst>
              <a:ext uri="{FF2B5EF4-FFF2-40B4-BE49-F238E27FC236}">
                <a16:creationId xmlns:a16="http://schemas.microsoft.com/office/drawing/2014/main" id="{FDECFD5E-EE0A-37D8-DE0B-ECDD802BCEF8}"/>
              </a:ext>
            </a:extLst>
          </p:cNvPr>
          <p:cNvPicPr>
            <a:picLocks noChangeAspect="1"/>
          </p:cNvPicPr>
          <p:nvPr/>
        </p:nvPicPr>
        <p:blipFill>
          <a:blip r:embed="rId7"/>
          <a:stretch>
            <a:fillRect/>
          </a:stretch>
        </p:blipFill>
        <p:spPr>
          <a:xfrm>
            <a:off x="1418495" y="5285988"/>
            <a:ext cx="2781688" cy="1448002"/>
          </a:xfrm>
          <a:prstGeom prst="rect">
            <a:avLst/>
          </a:prstGeom>
        </p:spPr>
      </p:pic>
      <p:pic>
        <p:nvPicPr>
          <p:cNvPr id="17" name="Picture 16">
            <a:extLst>
              <a:ext uri="{FF2B5EF4-FFF2-40B4-BE49-F238E27FC236}">
                <a16:creationId xmlns:a16="http://schemas.microsoft.com/office/drawing/2014/main" id="{F61A4113-910C-2C01-B305-8639BE38C3A9}"/>
              </a:ext>
            </a:extLst>
          </p:cNvPr>
          <p:cNvPicPr>
            <a:picLocks noChangeAspect="1"/>
          </p:cNvPicPr>
          <p:nvPr/>
        </p:nvPicPr>
        <p:blipFill>
          <a:blip r:embed="rId8"/>
          <a:stretch>
            <a:fillRect/>
          </a:stretch>
        </p:blipFill>
        <p:spPr>
          <a:xfrm>
            <a:off x="7291137" y="5120944"/>
            <a:ext cx="3482368" cy="1667091"/>
          </a:xfrm>
          <a:prstGeom prst="rect">
            <a:avLst/>
          </a:prstGeom>
        </p:spPr>
      </p:pic>
      <p:sp>
        <p:nvSpPr>
          <p:cNvPr id="19" name="Rectangle 18">
            <a:extLst>
              <a:ext uri="{FF2B5EF4-FFF2-40B4-BE49-F238E27FC236}">
                <a16:creationId xmlns:a16="http://schemas.microsoft.com/office/drawing/2014/main" id="{C9E1B878-B884-F903-0B89-1D526361CD98}"/>
              </a:ext>
            </a:extLst>
          </p:cNvPr>
          <p:cNvSpPr/>
          <p:nvPr/>
        </p:nvSpPr>
        <p:spPr bwMode="auto">
          <a:xfrm>
            <a:off x="7276968" y="5176443"/>
            <a:ext cx="700682" cy="219089"/>
          </a:xfrm>
          <a:prstGeom prst="rect">
            <a:avLst/>
          </a:prstGeom>
          <a:solidFill>
            <a:schemeClr val="bg1"/>
          </a:solidFill>
          <a:ln w="254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Tree>
    <p:extLst>
      <p:ext uri="{BB962C8B-B14F-4D97-AF65-F5344CB8AC3E}">
        <p14:creationId xmlns:p14="http://schemas.microsoft.com/office/powerpoint/2010/main" val="163293564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F6239-4B9F-8BC5-3B8F-39FF5E917B53}"/>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05555E5C-F33E-3ABD-3D9C-DE5B41B9FEC8}"/>
              </a:ext>
            </a:extLst>
          </p:cNvPr>
          <p:cNvSpPr/>
          <p:nvPr/>
        </p:nvSpPr>
        <p:spPr bwMode="auto">
          <a:xfrm>
            <a:off x="1239163" y="0"/>
            <a:ext cx="9713675" cy="724286"/>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94F9214A-C68A-B4A3-6765-2F0B8D8BC9F0}"/>
              </a:ext>
            </a:extLst>
          </p:cNvPr>
          <p:cNvSpPr txBox="1"/>
          <p:nvPr/>
        </p:nvSpPr>
        <p:spPr>
          <a:xfrm>
            <a:off x="812800" y="3431"/>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KẾT QUẢ</a:t>
            </a:r>
          </a:p>
        </p:txBody>
      </p:sp>
      <p:sp>
        <p:nvSpPr>
          <p:cNvPr id="7" name="Freeform 30">
            <a:extLst>
              <a:ext uri="{FF2B5EF4-FFF2-40B4-BE49-F238E27FC236}">
                <a16:creationId xmlns:a16="http://schemas.microsoft.com/office/drawing/2014/main" id="{13472A60-811C-8270-C1EC-94B4901B111B}"/>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412D8BA0-8D0A-B23B-A167-D57442D487FD}"/>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1095A40F-EE59-BE64-7A62-ABB4CC6FE935}"/>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68493A8C-F2EA-3F06-CAC4-F4F9C121E5C1}"/>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30</a:t>
            </a:r>
          </a:p>
        </p:txBody>
      </p:sp>
      <p:sp>
        <p:nvSpPr>
          <p:cNvPr id="26" name="TextBox 25">
            <a:extLst>
              <a:ext uri="{FF2B5EF4-FFF2-40B4-BE49-F238E27FC236}">
                <a16:creationId xmlns:a16="http://schemas.microsoft.com/office/drawing/2014/main" id="{7C2338AB-9E6A-29A8-3280-80F06B76C5DA}"/>
              </a:ext>
            </a:extLst>
          </p:cNvPr>
          <p:cNvSpPr txBox="1"/>
          <p:nvPr/>
        </p:nvSpPr>
        <p:spPr>
          <a:xfrm>
            <a:off x="3006179" y="721947"/>
            <a:ext cx="6955967" cy="461665"/>
          </a:xfrm>
          <a:prstGeom prst="rect">
            <a:avLst/>
          </a:prstGeom>
          <a:noFill/>
        </p:spPr>
        <p:txBody>
          <a:bodyPr wrap="square" rtlCol="0">
            <a:spAutoFit/>
          </a:bodyPr>
          <a:lstStyle/>
          <a:p>
            <a:pPr algn="l"/>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Quá</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trình</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vận</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hành</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với</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vật</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thể</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thuộc</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lớp</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ball</a:t>
            </a:r>
          </a:p>
        </p:txBody>
      </p:sp>
      <p:sp>
        <p:nvSpPr>
          <p:cNvPr id="19" name="Rectangle 18">
            <a:extLst>
              <a:ext uri="{FF2B5EF4-FFF2-40B4-BE49-F238E27FC236}">
                <a16:creationId xmlns:a16="http://schemas.microsoft.com/office/drawing/2014/main" id="{A7DBFE3A-D920-E730-5886-72C9D3B9638F}"/>
              </a:ext>
            </a:extLst>
          </p:cNvPr>
          <p:cNvSpPr/>
          <p:nvPr/>
        </p:nvSpPr>
        <p:spPr bwMode="auto">
          <a:xfrm>
            <a:off x="7276968" y="5176443"/>
            <a:ext cx="700682" cy="219089"/>
          </a:xfrm>
          <a:prstGeom prst="rect">
            <a:avLst/>
          </a:prstGeom>
          <a:solidFill>
            <a:schemeClr val="bg1"/>
          </a:solidFill>
          <a:ln w="254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pic>
        <p:nvPicPr>
          <p:cNvPr id="8" name="Picture 7">
            <a:extLst>
              <a:ext uri="{FF2B5EF4-FFF2-40B4-BE49-F238E27FC236}">
                <a16:creationId xmlns:a16="http://schemas.microsoft.com/office/drawing/2014/main" id="{2F98EAF4-0C64-B16A-2109-B91118F072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5439" y="1151340"/>
            <a:ext cx="2533429" cy="2541371"/>
          </a:xfrm>
          <a:prstGeom prst="rect">
            <a:avLst/>
          </a:prstGeom>
        </p:spPr>
      </p:pic>
      <p:pic>
        <p:nvPicPr>
          <p:cNvPr id="12" name="Picture 11">
            <a:extLst>
              <a:ext uri="{FF2B5EF4-FFF2-40B4-BE49-F238E27FC236}">
                <a16:creationId xmlns:a16="http://schemas.microsoft.com/office/drawing/2014/main" id="{BEDD67CE-5294-64C8-8BF0-31040D5FF75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96949" y="1447557"/>
            <a:ext cx="7382756" cy="4373767"/>
          </a:xfrm>
          <a:prstGeom prst="rect">
            <a:avLst/>
          </a:prstGeom>
        </p:spPr>
      </p:pic>
      <p:sp>
        <p:nvSpPr>
          <p:cNvPr id="15" name="TextBox 14">
            <a:extLst>
              <a:ext uri="{FF2B5EF4-FFF2-40B4-BE49-F238E27FC236}">
                <a16:creationId xmlns:a16="http://schemas.microsoft.com/office/drawing/2014/main" id="{23BF36F9-37AA-3BF2-75B6-16BB21CDDB24}"/>
              </a:ext>
            </a:extLst>
          </p:cNvPr>
          <p:cNvSpPr txBox="1"/>
          <p:nvPr/>
        </p:nvSpPr>
        <p:spPr>
          <a:xfrm>
            <a:off x="246898" y="3708467"/>
            <a:ext cx="5037826" cy="369332"/>
          </a:xfrm>
          <a:prstGeom prst="rect">
            <a:avLst/>
          </a:prstGeom>
          <a:noFill/>
        </p:spPr>
        <p:txBody>
          <a:bodyPr wrap="square">
            <a:spAutoFit/>
          </a:bodyPr>
          <a:lstStyle/>
          <a:p>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diện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lực</a:t>
            </a:r>
            <a:r>
              <a:rPr lang="vi-VN" dirty="0">
                <a:latin typeface="Times New Roman" panose="02020603050405020304" pitchFamily="18" charset="0"/>
                <a:cs typeface="Times New Roman" panose="02020603050405020304" pitchFamily="18" charset="0"/>
              </a:rPr>
              <a:t> lớp ball</a:t>
            </a:r>
            <a:r>
              <a:rPr lang="en-US" dirty="0">
                <a:latin typeface="Times New Roman" panose="02020603050405020304" pitchFamily="18" charset="0"/>
                <a:cs typeface="Times New Roman" panose="02020603050405020304" pitchFamily="18" charset="0"/>
              </a:rPr>
              <a:t> (0.7637)</a:t>
            </a:r>
            <a:endParaRPr lang="vi-VN"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A2C74D96-FAFF-B964-B3ED-53B0FBFC034C}"/>
              </a:ext>
            </a:extLst>
          </p:cNvPr>
          <p:cNvSpPr txBox="1"/>
          <p:nvPr/>
        </p:nvSpPr>
        <p:spPr>
          <a:xfrm>
            <a:off x="5699960" y="5838362"/>
            <a:ext cx="6154152" cy="369332"/>
          </a:xfrm>
          <a:prstGeom prst="rect">
            <a:avLst/>
          </a:prstGeom>
          <a:noFill/>
        </p:spPr>
        <p:txBody>
          <a:bodyPr wrap="square">
            <a:spAutoFit/>
          </a:bodyPr>
          <a:lstStyle/>
          <a:p>
            <a:r>
              <a:rPr lang="vi-VN" dirty="0">
                <a:latin typeface="Times New Roman" panose="02020603050405020304" pitchFamily="18" charset="0"/>
                <a:cs typeface="Times New Roman" panose="02020603050405020304" pitchFamily="18" charset="0"/>
              </a:rPr>
              <a:t>Giao diện hệ thống khi tay gắp giữ vật thể ball thành công</a:t>
            </a:r>
          </a:p>
        </p:txBody>
      </p:sp>
      <p:pic>
        <p:nvPicPr>
          <p:cNvPr id="23" name="Picture 22">
            <a:extLst>
              <a:ext uri="{FF2B5EF4-FFF2-40B4-BE49-F238E27FC236}">
                <a16:creationId xmlns:a16="http://schemas.microsoft.com/office/drawing/2014/main" id="{DF5E505B-2190-C537-E264-D40024ED63B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4618" y="4107746"/>
            <a:ext cx="2140295" cy="2140295"/>
          </a:xfrm>
          <a:prstGeom prst="rect">
            <a:avLst/>
          </a:prstGeom>
        </p:spPr>
      </p:pic>
      <p:sp>
        <p:nvSpPr>
          <p:cNvPr id="27" name="TextBox 26">
            <a:extLst>
              <a:ext uri="{FF2B5EF4-FFF2-40B4-BE49-F238E27FC236}">
                <a16:creationId xmlns:a16="http://schemas.microsoft.com/office/drawing/2014/main" id="{62F1F397-1259-55E9-492C-6F8EA9DF4A5A}"/>
              </a:ext>
            </a:extLst>
          </p:cNvPr>
          <p:cNvSpPr txBox="1"/>
          <p:nvPr/>
        </p:nvSpPr>
        <p:spPr>
          <a:xfrm>
            <a:off x="354074" y="6334489"/>
            <a:ext cx="6130088" cy="286360"/>
          </a:xfrm>
          <a:prstGeom prst="rect">
            <a:avLst/>
          </a:prstGeom>
          <a:noFill/>
        </p:spPr>
        <p:txBody>
          <a:bodyPr wrap="square">
            <a:spAutoFit/>
          </a:bodyPr>
          <a:lstStyle/>
          <a:p>
            <a:pPr>
              <a:lnSpc>
                <a:spcPts val="1425"/>
              </a:lnSpc>
              <a:buNone/>
            </a:pPr>
            <a:r>
              <a:rPr lang="vi-VN" sz="1800" b="0" dirty="0">
                <a:solidFill>
                  <a:srgbClr val="000000"/>
                </a:solidFill>
                <a:effectLst/>
                <a:latin typeface="Times New Roman" panose="02020603050405020304" pitchFamily="18" charset="0"/>
                <a:cs typeface="Times New Roman" panose="02020603050405020304" pitchFamily="18" charset="0"/>
              </a:rPr>
              <a:t>Hình ảnh thực tế tay gắp giữ vật thể ball.</a:t>
            </a:r>
          </a:p>
        </p:txBody>
      </p:sp>
    </p:spTree>
    <p:extLst>
      <p:ext uri="{BB962C8B-B14F-4D97-AF65-F5344CB8AC3E}">
        <p14:creationId xmlns:p14="http://schemas.microsoft.com/office/powerpoint/2010/main" val="40279120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30FBD-3FFB-5BF7-14DD-CCF44B3C58F2}"/>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24E78FB7-F98C-0566-73E3-C79C82702BD3}"/>
              </a:ext>
            </a:extLst>
          </p:cNvPr>
          <p:cNvSpPr/>
          <p:nvPr/>
        </p:nvSpPr>
        <p:spPr bwMode="auto">
          <a:xfrm>
            <a:off x="1239163" y="0"/>
            <a:ext cx="9713675" cy="724286"/>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6C804F5C-BDA9-89C1-91C7-E8784DFCE33F}"/>
              </a:ext>
            </a:extLst>
          </p:cNvPr>
          <p:cNvSpPr txBox="1"/>
          <p:nvPr/>
        </p:nvSpPr>
        <p:spPr>
          <a:xfrm>
            <a:off x="812800" y="3431"/>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KẾT QUẢ</a:t>
            </a:r>
          </a:p>
        </p:txBody>
      </p:sp>
      <p:sp>
        <p:nvSpPr>
          <p:cNvPr id="7" name="Freeform 30">
            <a:extLst>
              <a:ext uri="{FF2B5EF4-FFF2-40B4-BE49-F238E27FC236}">
                <a16:creationId xmlns:a16="http://schemas.microsoft.com/office/drawing/2014/main" id="{6C4E0894-D2F4-DF84-C6E0-EE38821016F1}"/>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094F07E6-097B-497B-9EC0-C83F8E0D0C95}"/>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5CFA89F0-07E0-1331-64EE-1F794D4CEE06}"/>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86C6BD47-0FC7-D299-A484-38250BE6EA12}"/>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31</a:t>
            </a:r>
          </a:p>
        </p:txBody>
      </p:sp>
      <p:sp>
        <p:nvSpPr>
          <p:cNvPr id="26" name="TextBox 25">
            <a:extLst>
              <a:ext uri="{FF2B5EF4-FFF2-40B4-BE49-F238E27FC236}">
                <a16:creationId xmlns:a16="http://schemas.microsoft.com/office/drawing/2014/main" id="{A8BAE035-3D74-C7A3-5206-60CA0FBCE363}"/>
              </a:ext>
            </a:extLst>
          </p:cNvPr>
          <p:cNvSpPr txBox="1"/>
          <p:nvPr/>
        </p:nvSpPr>
        <p:spPr>
          <a:xfrm>
            <a:off x="3006179" y="721947"/>
            <a:ext cx="6955967" cy="461665"/>
          </a:xfrm>
          <a:prstGeom prst="rect">
            <a:avLst/>
          </a:prstGeom>
          <a:noFill/>
        </p:spPr>
        <p:txBody>
          <a:bodyPr wrap="square" rtlCol="0">
            <a:spAutoFit/>
          </a:bodyPr>
          <a:lstStyle/>
          <a:p>
            <a:pPr algn="l"/>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Quá</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trình</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vận</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hành</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với</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vật</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thể</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thuộc</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lớp</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ball</a:t>
            </a:r>
          </a:p>
        </p:txBody>
      </p:sp>
      <p:sp>
        <p:nvSpPr>
          <p:cNvPr id="19" name="Rectangle 18">
            <a:extLst>
              <a:ext uri="{FF2B5EF4-FFF2-40B4-BE49-F238E27FC236}">
                <a16:creationId xmlns:a16="http://schemas.microsoft.com/office/drawing/2014/main" id="{DEFC9223-EEC0-D307-04D5-14D93620B3CE}"/>
              </a:ext>
            </a:extLst>
          </p:cNvPr>
          <p:cNvSpPr/>
          <p:nvPr/>
        </p:nvSpPr>
        <p:spPr bwMode="auto">
          <a:xfrm>
            <a:off x="7276968" y="5176443"/>
            <a:ext cx="700682" cy="219089"/>
          </a:xfrm>
          <a:prstGeom prst="rect">
            <a:avLst/>
          </a:prstGeom>
          <a:solidFill>
            <a:schemeClr val="bg1"/>
          </a:solidFill>
          <a:ln w="254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27" name="TextBox 26">
            <a:extLst>
              <a:ext uri="{FF2B5EF4-FFF2-40B4-BE49-F238E27FC236}">
                <a16:creationId xmlns:a16="http://schemas.microsoft.com/office/drawing/2014/main" id="{C1BCF737-6D40-B022-EDB9-739C048F2512}"/>
              </a:ext>
            </a:extLst>
          </p:cNvPr>
          <p:cNvSpPr txBox="1"/>
          <p:nvPr/>
        </p:nvSpPr>
        <p:spPr>
          <a:xfrm>
            <a:off x="855070" y="5125010"/>
            <a:ext cx="6130088" cy="286360"/>
          </a:xfrm>
          <a:prstGeom prst="rect">
            <a:avLst/>
          </a:prstGeom>
          <a:noFill/>
        </p:spPr>
        <p:txBody>
          <a:bodyPr wrap="square">
            <a:spAutoFit/>
          </a:bodyPr>
          <a:lstStyle/>
          <a:p>
            <a:pPr>
              <a:lnSpc>
                <a:spcPts val="1425"/>
              </a:lnSpc>
              <a:buNone/>
            </a:pPr>
            <a:r>
              <a:rPr lang="en-US" dirty="0" err="1">
                <a:solidFill>
                  <a:srgbClr val="000000"/>
                </a:solidFill>
                <a:latin typeface="Times New Roman" panose="02020603050405020304" pitchFamily="18" charset="0"/>
                <a:cs typeface="Times New Roman" panose="02020603050405020304" pitchFamily="18" charset="0"/>
              </a:rPr>
              <a:t>Phát</a:t>
            </a:r>
            <a:r>
              <a:rPr lang="en-US" dirty="0">
                <a:solidFill>
                  <a:srgbClr val="000000"/>
                </a:solidFill>
                <a:latin typeface="Times New Roman" panose="02020603050405020304" pitchFamily="18" charset="0"/>
                <a:cs typeface="Times New Roman" panose="02020603050405020304" pitchFamily="18" charset="0"/>
              </a:rPr>
              <a:t> </a:t>
            </a:r>
            <a:r>
              <a:rPr lang="vi-VN" sz="1800" b="0" dirty="0">
                <a:solidFill>
                  <a:srgbClr val="000000"/>
                </a:solidFill>
                <a:effectLst/>
                <a:latin typeface="Times New Roman" panose="02020603050405020304" pitchFamily="18" charset="0"/>
                <a:cs typeface="Times New Roman" panose="02020603050405020304" pitchFamily="18" charset="0"/>
              </a:rPr>
              <a:t>hiện trạng thái trượt của vật thể ball</a:t>
            </a:r>
          </a:p>
        </p:txBody>
      </p:sp>
      <p:pic>
        <p:nvPicPr>
          <p:cNvPr id="3" name="Picture 2">
            <a:extLst>
              <a:ext uri="{FF2B5EF4-FFF2-40B4-BE49-F238E27FC236}">
                <a16:creationId xmlns:a16="http://schemas.microsoft.com/office/drawing/2014/main" id="{926120E8-ECB5-E7F8-7BBD-99385F657D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295" y="1456502"/>
            <a:ext cx="5776941" cy="3431846"/>
          </a:xfrm>
          <a:prstGeom prst="rect">
            <a:avLst/>
          </a:prstGeom>
        </p:spPr>
      </p:pic>
      <p:pic>
        <p:nvPicPr>
          <p:cNvPr id="5" name="Picture 4">
            <a:extLst>
              <a:ext uri="{FF2B5EF4-FFF2-40B4-BE49-F238E27FC236}">
                <a16:creationId xmlns:a16="http://schemas.microsoft.com/office/drawing/2014/main" id="{B1013CD5-1654-7ECE-385F-1FA22F7536F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36733" y="1456502"/>
            <a:ext cx="5976915" cy="3537024"/>
          </a:xfrm>
          <a:prstGeom prst="rect">
            <a:avLst/>
          </a:prstGeom>
        </p:spPr>
      </p:pic>
      <p:sp>
        <p:nvSpPr>
          <p:cNvPr id="9" name="TextBox 8">
            <a:extLst>
              <a:ext uri="{FF2B5EF4-FFF2-40B4-BE49-F238E27FC236}">
                <a16:creationId xmlns:a16="http://schemas.microsoft.com/office/drawing/2014/main" id="{A2D2518F-1380-8BD9-DD5F-1FE8D42D2289}"/>
              </a:ext>
            </a:extLst>
          </p:cNvPr>
          <p:cNvSpPr txBox="1"/>
          <p:nvPr/>
        </p:nvSpPr>
        <p:spPr>
          <a:xfrm>
            <a:off x="6693348" y="5125010"/>
            <a:ext cx="6130088" cy="286360"/>
          </a:xfrm>
          <a:prstGeom prst="rect">
            <a:avLst/>
          </a:prstGeom>
          <a:noFill/>
        </p:spPr>
        <p:txBody>
          <a:bodyPr wrap="square">
            <a:spAutoFit/>
          </a:bodyPr>
          <a:lstStyle/>
          <a:p>
            <a:pPr>
              <a:lnSpc>
                <a:spcPts val="1425"/>
              </a:lnSpc>
              <a:buNone/>
            </a:pPr>
            <a:r>
              <a:rPr lang="en-US" dirty="0">
                <a:solidFill>
                  <a:srgbClr val="000000"/>
                </a:solidFill>
                <a:latin typeface="Times New Roman" panose="02020603050405020304" pitchFamily="18" charset="0"/>
                <a:cs typeface="Times New Roman" panose="02020603050405020304" pitchFamily="18" charset="0"/>
              </a:rPr>
              <a:t>S</a:t>
            </a:r>
            <a:r>
              <a:rPr lang="vi-VN" sz="1800" b="0" dirty="0">
                <a:solidFill>
                  <a:srgbClr val="000000"/>
                </a:solidFill>
                <a:effectLst/>
                <a:latin typeface="Times New Roman" panose="02020603050405020304" pitchFamily="18" charset="0"/>
                <a:cs typeface="Times New Roman" panose="02020603050405020304" pitchFamily="18" charset="0"/>
              </a:rPr>
              <a:t>au khi điều chỉnh và giữ lại vật thể ball thành công</a:t>
            </a:r>
          </a:p>
        </p:txBody>
      </p:sp>
    </p:spTree>
    <p:extLst>
      <p:ext uri="{BB962C8B-B14F-4D97-AF65-F5344CB8AC3E}">
        <p14:creationId xmlns:p14="http://schemas.microsoft.com/office/powerpoint/2010/main" val="51285222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8615C-EBC8-440F-662A-4EA65CE7A40B}"/>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D7F8652C-7BF6-CFC7-166A-84BB6BAF630A}"/>
              </a:ext>
            </a:extLst>
          </p:cNvPr>
          <p:cNvSpPr/>
          <p:nvPr/>
        </p:nvSpPr>
        <p:spPr bwMode="auto">
          <a:xfrm>
            <a:off x="1239163" y="0"/>
            <a:ext cx="9713675" cy="724286"/>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A808EA9F-31AC-0D38-1C0D-3A41F18048C4}"/>
              </a:ext>
            </a:extLst>
          </p:cNvPr>
          <p:cNvSpPr txBox="1"/>
          <p:nvPr/>
        </p:nvSpPr>
        <p:spPr>
          <a:xfrm>
            <a:off x="812800" y="3431"/>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KẾT QUẢ</a:t>
            </a:r>
          </a:p>
        </p:txBody>
      </p:sp>
      <p:sp>
        <p:nvSpPr>
          <p:cNvPr id="7" name="Freeform 30">
            <a:extLst>
              <a:ext uri="{FF2B5EF4-FFF2-40B4-BE49-F238E27FC236}">
                <a16:creationId xmlns:a16="http://schemas.microsoft.com/office/drawing/2014/main" id="{0C6208B6-8F95-6DE2-92FB-7D982EFD51DE}"/>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E6A8DAB8-BA62-9E45-300D-728BDFDA1E62}"/>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7CC3CB4F-B504-2CEC-F602-DF151DF7825B}"/>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A11FC6DD-3DB1-DDEE-F5F2-57E98239929B}"/>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32</a:t>
            </a:r>
          </a:p>
        </p:txBody>
      </p:sp>
      <p:sp>
        <p:nvSpPr>
          <p:cNvPr id="26" name="TextBox 25">
            <a:extLst>
              <a:ext uri="{FF2B5EF4-FFF2-40B4-BE49-F238E27FC236}">
                <a16:creationId xmlns:a16="http://schemas.microsoft.com/office/drawing/2014/main" id="{E4DFBF75-421A-2C14-2972-63B68408D9D5}"/>
              </a:ext>
            </a:extLst>
          </p:cNvPr>
          <p:cNvSpPr txBox="1"/>
          <p:nvPr/>
        </p:nvSpPr>
        <p:spPr>
          <a:xfrm>
            <a:off x="3006179" y="721947"/>
            <a:ext cx="6955967" cy="461665"/>
          </a:xfrm>
          <a:prstGeom prst="rect">
            <a:avLst/>
          </a:prstGeom>
          <a:noFill/>
        </p:spPr>
        <p:txBody>
          <a:bodyPr wrap="square" rtlCol="0">
            <a:spAutoFit/>
          </a:bodyPr>
          <a:lstStyle/>
          <a:p>
            <a:pPr algn="l"/>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Quá</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trình</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vận</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hành</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với</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vật</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thể</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thuộc</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lớp</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bottle</a:t>
            </a:r>
          </a:p>
        </p:txBody>
      </p:sp>
      <p:sp>
        <p:nvSpPr>
          <p:cNvPr id="19" name="Rectangle 18">
            <a:extLst>
              <a:ext uri="{FF2B5EF4-FFF2-40B4-BE49-F238E27FC236}">
                <a16:creationId xmlns:a16="http://schemas.microsoft.com/office/drawing/2014/main" id="{74E79543-5AAE-45BB-DB87-63FABA4AE185}"/>
              </a:ext>
            </a:extLst>
          </p:cNvPr>
          <p:cNvSpPr/>
          <p:nvPr/>
        </p:nvSpPr>
        <p:spPr bwMode="auto">
          <a:xfrm>
            <a:off x="7276968" y="5176443"/>
            <a:ext cx="700682" cy="219089"/>
          </a:xfrm>
          <a:prstGeom prst="rect">
            <a:avLst/>
          </a:prstGeom>
          <a:solidFill>
            <a:schemeClr val="bg1"/>
          </a:solidFill>
          <a:ln w="254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15" name="TextBox 14">
            <a:extLst>
              <a:ext uri="{FF2B5EF4-FFF2-40B4-BE49-F238E27FC236}">
                <a16:creationId xmlns:a16="http://schemas.microsoft.com/office/drawing/2014/main" id="{81E297E8-6F17-F3EA-525D-3064CFF87E23}"/>
              </a:ext>
            </a:extLst>
          </p:cNvPr>
          <p:cNvSpPr txBox="1"/>
          <p:nvPr/>
        </p:nvSpPr>
        <p:spPr>
          <a:xfrm>
            <a:off x="0" y="3653173"/>
            <a:ext cx="5699960" cy="369332"/>
          </a:xfrm>
          <a:prstGeom prst="rect">
            <a:avLst/>
          </a:prstGeom>
          <a:noFill/>
        </p:spPr>
        <p:txBody>
          <a:bodyPr wrap="square">
            <a:spAutoFit/>
          </a:bodyPr>
          <a:lstStyle/>
          <a:p>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diện </a:t>
            </a:r>
            <a:r>
              <a:rPr lang="en-US" dirty="0">
                <a:latin typeface="Times New Roman" panose="02020603050405020304" pitchFamily="18" charset="0"/>
                <a:cs typeface="Times New Roman" panose="02020603050405020304" pitchFamily="18" charset="0"/>
              </a:rPr>
              <a:t>và </a:t>
            </a:r>
            <a:r>
              <a:rPr lang="en-US" dirty="0" err="1">
                <a:latin typeface="Times New Roman" panose="02020603050405020304" pitchFamily="18" charset="0"/>
                <a:cs typeface="Times New Roman" panose="02020603050405020304" pitchFamily="18" charset="0"/>
              </a:rPr>
              <a:t>dự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lực</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lớp b</a:t>
            </a:r>
            <a:r>
              <a:rPr lang="en-US" dirty="0" err="1">
                <a:latin typeface="Times New Roman" panose="02020603050405020304" pitchFamily="18" charset="0"/>
                <a:cs typeface="Times New Roman" panose="02020603050405020304" pitchFamily="18" charset="0"/>
              </a:rPr>
              <a:t>ottle</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0.5831</a:t>
            </a:r>
            <a:r>
              <a:rPr lang="en-US" dirty="0">
                <a:latin typeface="Times New Roman" panose="02020603050405020304" pitchFamily="18" charset="0"/>
                <a:cs typeface="Times New Roman" panose="02020603050405020304" pitchFamily="18" charset="0"/>
              </a:rPr>
              <a:t>)</a:t>
            </a:r>
            <a:endParaRPr lang="vi-VN"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CC617A6B-9F8C-1B98-395C-D1C85C43948D}"/>
              </a:ext>
            </a:extLst>
          </p:cNvPr>
          <p:cNvSpPr txBox="1"/>
          <p:nvPr/>
        </p:nvSpPr>
        <p:spPr>
          <a:xfrm>
            <a:off x="5699960" y="5838362"/>
            <a:ext cx="6154152" cy="369332"/>
          </a:xfrm>
          <a:prstGeom prst="rect">
            <a:avLst/>
          </a:prstGeom>
          <a:noFill/>
        </p:spPr>
        <p:txBody>
          <a:bodyPr wrap="square">
            <a:spAutoFit/>
          </a:bodyPr>
          <a:lstStyle/>
          <a:p>
            <a:r>
              <a:rPr lang="vi-VN" dirty="0">
                <a:latin typeface="Times New Roman" panose="02020603050405020304" pitchFamily="18" charset="0"/>
                <a:cs typeface="Times New Roman" panose="02020603050405020304" pitchFamily="18" charset="0"/>
              </a:rPr>
              <a:t>Giao diện hệ thống khi tay gắp giữ vật thể </a:t>
            </a:r>
            <a:r>
              <a:rPr lang="en-US" dirty="0">
                <a:latin typeface="Times New Roman" panose="02020603050405020304" pitchFamily="18" charset="0"/>
                <a:cs typeface="Times New Roman" panose="02020603050405020304" pitchFamily="18" charset="0"/>
              </a:rPr>
              <a:t>bottle</a:t>
            </a:r>
            <a:r>
              <a:rPr lang="vi-VN" dirty="0">
                <a:latin typeface="Times New Roman" panose="02020603050405020304" pitchFamily="18" charset="0"/>
                <a:cs typeface="Times New Roman" panose="02020603050405020304" pitchFamily="18" charset="0"/>
              </a:rPr>
              <a:t> thành công</a:t>
            </a:r>
          </a:p>
        </p:txBody>
      </p:sp>
      <p:sp>
        <p:nvSpPr>
          <p:cNvPr id="27" name="TextBox 26">
            <a:extLst>
              <a:ext uri="{FF2B5EF4-FFF2-40B4-BE49-F238E27FC236}">
                <a16:creationId xmlns:a16="http://schemas.microsoft.com/office/drawing/2014/main" id="{BA8DBAA2-FE19-0905-F382-9F3E53C0B757}"/>
              </a:ext>
            </a:extLst>
          </p:cNvPr>
          <p:cNvSpPr txBox="1"/>
          <p:nvPr/>
        </p:nvSpPr>
        <p:spPr>
          <a:xfrm>
            <a:off x="354074" y="6334489"/>
            <a:ext cx="6130088" cy="286360"/>
          </a:xfrm>
          <a:prstGeom prst="rect">
            <a:avLst/>
          </a:prstGeom>
          <a:noFill/>
        </p:spPr>
        <p:txBody>
          <a:bodyPr wrap="square">
            <a:spAutoFit/>
          </a:bodyPr>
          <a:lstStyle/>
          <a:p>
            <a:pPr>
              <a:lnSpc>
                <a:spcPts val="1425"/>
              </a:lnSpc>
              <a:buNone/>
            </a:pPr>
            <a:r>
              <a:rPr lang="vi-VN" sz="1800" b="0" dirty="0">
                <a:solidFill>
                  <a:srgbClr val="000000"/>
                </a:solidFill>
                <a:effectLst/>
                <a:latin typeface="Times New Roman" panose="02020603050405020304" pitchFamily="18" charset="0"/>
                <a:cs typeface="Times New Roman" panose="02020603050405020304" pitchFamily="18" charset="0"/>
              </a:rPr>
              <a:t>Hình ảnh thực tế tay gắp giữ vật thể </a:t>
            </a:r>
            <a:r>
              <a:rPr lang="en-US" sz="1800" b="0" dirty="0">
                <a:solidFill>
                  <a:srgbClr val="000000"/>
                </a:solidFill>
                <a:effectLst/>
                <a:latin typeface="Times New Roman" panose="02020603050405020304" pitchFamily="18" charset="0"/>
                <a:cs typeface="Times New Roman" panose="02020603050405020304" pitchFamily="18" charset="0"/>
              </a:rPr>
              <a:t>bottle</a:t>
            </a:r>
            <a:endParaRPr lang="vi-VN" sz="1800" b="0" dirty="0">
              <a:solidFill>
                <a:srgbClr val="000000"/>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8F95871-86C5-C893-F059-5AEC58C6182D}"/>
              </a:ext>
            </a:extLst>
          </p:cNvPr>
          <p:cNvPicPr>
            <a:picLocks noChangeAspect="1"/>
          </p:cNvPicPr>
          <p:nvPr/>
        </p:nvPicPr>
        <p:blipFill>
          <a:blip r:embed="rId5">
            <a:extLst>
              <a:ext uri="{28A0092B-C50C-407E-A947-70E740481C1C}">
                <a14:useLocalDpi xmlns:a14="http://schemas.microsoft.com/office/drawing/2010/main" val="0"/>
              </a:ext>
            </a:extLst>
          </a:blip>
          <a:srcRect b="50000"/>
          <a:stretch>
            <a:fillRect/>
          </a:stretch>
        </p:blipFill>
        <p:spPr>
          <a:xfrm>
            <a:off x="636440" y="1129567"/>
            <a:ext cx="3231056" cy="2550695"/>
          </a:xfrm>
          <a:prstGeom prst="rect">
            <a:avLst/>
          </a:prstGeom>
        </p:spPr>
      </p:pic>
      <p:pic>
        <p:nvPicPr>
          <p:cNvPr id="5" name="Picture 4">
            <a:extLst>
              <a:ext uri="{FF2B5EF4-FFF2-40B4-BE49-F238E27FC236}">
                <a16:creationId xmlns:a16="http://schemas.microsoft.com/office/drawing/2014/main" id="{F9A157B9-AF1E-579F-B722-4203BB281A9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2821" y="4070159"/>
            <a:ext cx="2198293" cy="2198293"/>
          </a:xfrm>
          <a:prstGeom prst="rect">
            <a:avLst/>
          </a:prstGeom>
        </p:spPr>
      </p:pic>
      <p:pic>
        <p:nvPicPr>
          <p:cNvPr id="9" name="Picture 8">
            <a:extLst>
              <a:ext uri="{FF2B5EF4-FFF2-40B4-BE49-F238E27FC236}">
                <a16:creationId xmlns:a16="http://schemas.microsoft.com/office/drawing/2014/main" id="{077D056D-FE8F-1806-2D4A-AD6B06614A6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49351" y="1316730"/>
            <a:ext cx="7418321" cy="4394837"/>
          </a:xfrm>
          <a:prstGeom prst="rect">
            <a:avLst/>
          </a:prstGeom>
        </p:spPr>
      </p:pic>
    </p:spTree>
    <p:extLst>
      <p:ext uri="{BB962C8B-B14F-4D97-AF65-F5344CB8AC3E}">
        <p14:creationId xmlns:p14="http://schemas.microsoft.com/office/powerpoint/2010/main" val="280883942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133B9-5614-3268-218D-EC0246F70121}"/>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B473F294-062D-1C68-EDB3-F2A45C4F7779}"/>
              </a:ext>
            </a:extLst>
          </p:cNvPr>
          <p:cNvSpPr/>
          <p:nvPr/>
        </p:nvSpPr>
        <p:spPr bwMode="auto">
          <a:xfrm>
            <a:off x="1239163" y="0"/>
            <a:ext cx="9713675" cy="724286"/>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37B69668-ED0B-2F23-255B-AF75CBD4F56A}"/>
              </a:ext>
            </a:extLst>
          </p:cNvPr>
          <p:cNvSpPr txBox="1"/>
          <p:nvPr/>
        </p:nvSpPr>
        <p:spPr>
          <a:xfrm>
            <a:off x="812800" y="3431"/>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KẾT QUẢ</a:t>
            </a:r>
          </a:p>
        </p:txBody>
      </p:sp>
      <p:sp>
        <p:nvSpPr>
          <p:cNvPr id="7" name="Freeform 30">
            <a:extLst>
              <a:ext uri="{FF2B5EF4-FFF2-40B4-BE49-F238E27FC236}">
                <a16:creationId xmlns:a16="http://schemas.microsoft.com/office/drawing/2014/main" id="{93D71B27-B3FE-B2B8-4E4B-E57E0E7DB806}"/>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E5BBBFBC-69FE-F98B-E5C2-57C807828181}"/>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F62F6A42-0CAB-609B-7DB8-6BA605708289}"/>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A99FD69C-FAAD-63F5-2DB3-696D596CB129}"/>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33</a:t>
            </a:r>
          </a:p>
        </p:txBody>
      </p:sp>
      <p:sp>
        <p:nvSpPr>
          <p:cNvPr id="26" name="TextBox 25">
            <a:extLst>
              <a:ext uri="{FF2B5EF4-FFF2-40B4-BE49-F238E27FC236}">
                <a16:creationId xmlns:a16="http://schemas.microsoft.com/office/drawing/2014/main" id="{9A34062C-827B-2DAF-4254-2C0C5A7D267E}"/>
              </a:ext>
            </a:extLst>
          </p:cNvPr>
          <p:cNvSpPr txBox="1"/>
          <p:nvPr/>
        </p:nvSpPr>
        <p:spPr>
          <a:xfrm>
            <a:off x="3006179" y="721947"/>
            <a:ext cx="6955967" cy="461665"/>
          </a:xfrm>
          <a:prstGeom prst="rect">
            <a:avLst/>
          </a:prstGeom>
          <a:noFill/>
        </p:spPr>
        <p:txBody>
          <a:bodyPr wrap="square" rtlCol="0">
            <a:spAutoFit/>
          </a:bodyPr>
          <a:lstStyle/>
          <a:p>
            <a:pPr algn="l"/>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Quá</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trình</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vận</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hành</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với</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vật</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thể</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thuộc</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lớp</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bottle</a:t>
            </a:r>
          </a:p>
        </p:txBody>
      </p:sp>
      <p:sp>
        <p:nvSpPr>
          <p:cNvPr id="19" name="Rectangle 18">
            <a:extLst>
              <a:ext uri="{FF2B5EF4-FFF2-40B4-BE49-F238E27FC236}">
                <a16:creationId xmlns:a16="http://schemas.microsoft.com/office/drawing/2014/main" id="{39AD253B-28D6-6625-626D-5FCB6EA9A45A}"/>
              </a:ext>
            </a:extLst>
          </p:cNvPr>
          <p:cNvSpPr/>
          <p:nvPr/>
        </p:nvSpPr>
        <p:spPr bwMode="auto">
          <a:xfrm>
            <a:off x="7276968" y="5176443"/>
            <a:ext cx="700682" cy="219089"/>
          </a:xfrm>
          <a:prstGeom prst="rect">
            <a:avLst/>
          </a:prstGeom>
          <a:solidFill>
            <a:schemeClr val="bg1"/>
          </a:solidFill>
          <a:ln w="254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27" name="TextBox 26">
            <a:extLst>
              <a:ext uri="{FF2B5EF4-FFF2-40B4-BE49-F238E27FC236}">
                <a16:creationId xmlns:a16="http://schemas.microsoft.com/office/drawing/2014/main" id="{04A5E25E-9418-E1D0-8E9A-951F26C5A516}"/>
              </a:ext>
            </a:extLst>
          </p:cNvPr>
          <p:cNvSpPr txBox="1"/>
          <p:nvPr/>
        </p:nvSpPr>
        <p:spPr>
          <a:xfrm>
            <a:off x="855070" y="5125010"/>
            <a:ext cx="6130088" cy="286360"/>
          </a:xfrm>
          <a:prstGeom prst="rect">
            <a:avLst/>
          </a:prstGeom>
          <a:noFill/>
        </p:spPr>
        <p:txBody>
          <a:bodyPr wrap="square">
            <a:spAutoFit/>
          </a:bodyPr>
          <a:lstStyle/>
          <a:p>
            <a:pPr>
              <a:lnSpc>
                <a:spcPts val="1425"/>
              </a:lnSpc>
              <a:buNone/>
            </a:pPr>
            <a:r>
              <a:rPr lang="en-US" dirty="0" err="1">
                <a:solidFill>
                  <a:srgbClr val="000000"/>
                </a:solidFill>
                <a:latin typeface="Times New Roman" panose="02020603050405020304" pitchFamily="18" charset="0"/>
                <a:cs typeface="Times New Roman" panose="02020603050405020304" pitchFamily="18" charset="0"/>
              </a:rPr>
              <a:t>Phát</a:t>
            </a:r>
            <a:r>
              <a:rPr lang="en-US" dirty="0">
                <a:solidFill>
                  <a:srgbClr val="000000"/>
                </a:solidFill>
                <a:latin typeface="Times New Roman" panose="02020603050405020304" pitchFamily="18" charset="0"/>
                <a:cs typeface="Times New Roman" panose="02020603050405020304" pitchFamily="18" charset="0"/>
              </a:rPr>
              <a:t> </a:t>
            </a:r>
            <a:r>
              <a:rPr lang="vi-VN" sz="1800" b="0" dirty="0">
                <a:solidFill>
                  <a:srgbClr val="000000"/>
                </a:solidFill>
                <a:effectLst/>
                <a:latin typeface="Times New Roman" panose="02020603050405020304" pitchFamily="18" charset="0"/>
                <a:cs typeface="Times New Roman" panose="02020603050405020304" pitchFamily="18" charset="0"/>
              </a:rPr>
              <a:t>hiện trạng thái trượt của vật thể </a:t>
            </a:r>
            <a:r>
              <a:rPr lang="en-US" sz="1800" b="0" dirty="0">
                <a:solidFill>
                  <a:srgbClr val="000000"/>
                </a:solidFill>
                <a:effectLst/>
                <a:latin typeface="Times New Roman" panose="02020603050405020304" pitchFamily="18" charset="0"/>
                <a:cs typeface="Times New Roman" panose="02020603050405020304" pitchFamily="18" charset="0"/>
              </a:rPr>
              <a:t>bottle</a:t>
            </a:r>
            <a:endParaRPr lang="vi-VN" sz="1800" b="0" dirty="0">
              <a:solidFill>
                <a:srgbClr val="000000"/>
              </a:solidFill>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FA48798-5A38-757D-325D-0DEAC8420298}"/>
              </a:ext>
            </a:extLst>
          </p:cNvPr>
          <p:cNvSpPr txBox="1"/>
          <p:nvPr/>
        </p:nvSpPr>
        <p:spPr>
          <a:xfrm>
            <a:off x="6693348" y="5125010"/>
            <a:ext cx="6130088" cy="286360"/>
          </a:xfrm>
          <a:prstGeom prst="rect">
            <a:avLst/>
          </a:prstGeom>
          <a:noFill/>
        </p:spPr>
        <p:txBody>
          <a:bodyPr wrap="square">
            <a:spAutoFit/>
          </a:bodyPr>
          <a:lstStyle/>
          <a:p>
            <a:pPr>
              <a:lnSpc>
                <a:spcPts val="1425"/>
              </a:lnSpc>
              <a:buNone/>
            </a:pPr>
            <a:r>
              <a:rPr lang="en-US" dirty="0">
                <a:solidFill>
                  <a:srgbClr val="000000"/>
                </a:solidFill>
                <a:latin typeface="Times New Roman" panose="02020603050405020304" pitchFamily="18" charset="0"/>
                <a:cs typeface="Times New Roman" panose="02020603050405020304" pitchFamily="18" charset="0"/>
              </a:rPr>
              <a:t>S</a:t>
            </a:r>
            <a:r>
              <a:rPr lang="vi-VN" sz="1800" b="0" dirty="0">
                <a:solidFill>
                  <a:srgbClr val="000000"/>
                </a:solidFill>
                <a:effectLst/>
                <a:latin typeface="Times New Roman" panose="02020603050405020304" pitchFamily="18" charset="0"/>
                <a:cs typeface="Times New Roman" panose="02020603050405020304" pitchFamily="18" charset="0"/>
              </a:rPr>
              <a:t>au khi điều chỉnh và giữ lại vật thể </a:t>
            </a:r>
            <a:r>
              <a:rPr lang="en-US" sz="1800" b="0" dirty="0">
                <a:solidFill>
                  <a:srgbClr val="000000"/>
                </a:solidFill>
                <a:effectLst/>
                <a:latin typeface="Times New Roman" panose="02020603050405020304" pitchFamily="18" charset="0"/>
                <a:cs typeface="Times New Roman" panose="02020603050405020304" pitchFamily="18" charset="0"/>
              </a:rPr>
              <a:t>bottle</a:t>
            </a:r>
            <a:r>
              <a:rPr lang="vi-VN" sz="1800" b="0" dirty="0">
                <a:solidFill>
                  <a:srgbClr val="000000"/>
                </a:solidFill>
                <a:effectLst/>
                <a:latin typeface="Times New Roman" panose="02020603050405020304" pitchFamily="18" charset="0"/>
                <a:cs typeface="Times New Roman" panose="02020603050405020304" pitchFamily="18" charset="0"/>
              </a:rPr>
              <a:t> thành công</a:t>
            </a:r>
          </a:p>
        </p:txBody>
      </p:sp>
      <p:pic>
        <p:nvPicPr>
          <p:cNvPr id="4" name="Picture 3">
            <a:extLst>
              <a:ext uri="{FF2B5EF4-FFF2-40B4-BE49-F238E27FC236}">
                <a16:creationId xmlns:a16="http://schemas.microsoft.com/office/drawing/2014/main" id="{3B049DFC-CE24-393A-B222-45AC8D575B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721" y="1456502"/>
            <a:ext cx="5976916" cy="3537024"/>
          </a:xfrm>
          <a:prstGeom prst="rect">
            <a:avLst/>
          </a:prstGeom>
        </p:spPr>
      </p:pic>
      <p:pic>
        <p:nvPicPr>
          <p:cNvPr id="8" name="Picture 7">
            <a:extLst>
              <a:ext uri="{FF2B5EF4-FFF2-40B4-BE49-F238E27FC236}">
                <a16:creationId xmlns:a16="http://schemas.microsoft.com/office/drawing/2014/main" id="{47C4D052-063F-F60B-5E7E-C7CC2E0E3F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11145" y="1508241"/>
            <a:ext cx="5868560" cy="3467202"/>
          </a:xfrm>
          <a:prstGeom prst="rect">
            <a:avLst/>
          </a:prstGeom>
        </p:spPr>
      </p:pic>
    </p:spTree>
    <p:extLst>
      <p:ext uri="{BB962C8B-B14F-4D97-AF65-F5344CB8AC3E}">
        <p14:creationId xmlns:p14="http://schemas.microsoft.com/office/powerpoint/2010/main" val="477826234"/>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25E43-8D46-4F44-2CC6-2254DF8A6FC3}"/>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133B81D4-D0BB-6860-E0DB-EE543716E88D}"/>
              </a:ext>
            </a:extLst>
          </p:cNvPr>
          <p:cNvSpPr/>
          <p:nvPr/>
        </p:nvSpPr>
        <p:spPr bwMode="auto">
          <a:xfrm>
            <a:off x="1239163" y="0"/>
            <a:ext cx="9713675" cy="724286"/>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AECF1405-D2CE-6560-ED4C-3DD9376F3344}"/>
              </a:ext>
            </a:extLst>
          </p:cNvPr>
          <p:cNvSpPr txBox="1"/>
          <p:nvPr/>
        </p:nvSpPr>
        <p:spPr>
          <a:xfrm>
            <a:off x="812800" y="3431"/>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KẾT QUẢ</a:t>
            </a:r>
          </a:p>
        </p:txBody>
      </p:sp>
      <p:sp>
        <p:nvSpPr>
          <p:cNvPr id="7" name="Freeform 30">
            <a:extLst>
              <a:ext uri="{FF2B5EF4-FFF2-40B4-BE49-F238E27FC236}">
                <a16:creationId xmlns:a16="http://schemas.microsoft.com/office/drawing/2014/main" id="{C1BCF804-0B47-764B-05D1-A9DA1206F91B}"/>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618AB369-9DDD-9B29-5F8F-B042BD84F98F}"/>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C133FCA6-D299-0D24-694B-6729E0020949}"/>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B23090F8-5D5F-5F3D-E514-56BB4BB14518}"/>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34</a:t>
            </a:r>
          </a:p>
        </p:txBody>
      </p:sp>
      <p:sp>
        <p:nvSpPr>
          <p:cNvPr id="26" name="TextBox 25">
            <a:extLst>
              <a:ext uri="{FF2B5EF4-FFF2-40B4-BE49-F238E27FC236}">
                <a16:creationId xmlns:a16="http://schemas.microsoft.com/office/drawing/2014/main" id="{3900F7B8-ED5A-EBF6-D72C-0F6AA67FDB70}"/>
              </a:ext>
            </a:extLst>
          </p:cNvPr>
          <p:cNvSpPr txBox="1"/>
          <p:nvPr/>
        </p:nvSpPr>
        <p:spPr>
          <a:xfrm>
            <a:off x="3006179" y="721947"/>
            <a:ext cx="6955967" cy="461665"/>
          </a:xfrm>
          <a:prstGeom prst="rect">
            <a:avLst/>
          </a:prstGeom>
          <a:noFill/>
        </p:spPr>
        <p:txBody>
          <a:bodyPr wrap="square" rtlCol="0">
            <a:spAutoFit/>
          </a:bodyPr>
          <a:lstStyle/>
          <a:p>
            <a:pPr algn="l"/>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Quá</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trình</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vận</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hành</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với</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vật</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thể</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thuộc</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lớp</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can</a:t>
            </a:r>
          </a:p>
        </p:txBody>
      </p:sp>
      <p:sp>
        <p:nvSpPr>
          <p:cNvPr id="19" name="Rectangle 18">
            <a:extLst>
              <a:ext uri="{FF2B5EF4-FFF2-40B4-BE49-F238E27FC236}">
                <a16:creationId xmlns:a16="http://schemas.microsoft.com/office/drawing/2014/main" id="{B183E88B-BB93-C6D3-12A4-DF9E9DC730F8}"/>
              </a:ext>
            </a:extLst>
          </p:cNvPr>
          <p:cNvSpPr/>
          <p:nvPr/>
        </p:nvSpPr>
        <p:spPr bwMode="auto">
          <a:xfrm>
            <a:off x="7276968" y="5176443"/>
            <a:ext cx="700682" cy="219089"/>
          </a:xfrm>
          <a:prstGeom prst="rect">
            <a:avLst/>
          </a:prstGeom>
          <a:solidFill>
            <a:schemeClr val="bg1"/>
          </a:solidFill>
          <a:ln w="254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15" name="TextBox 14">
            <a:extLst>
              <a:ext uri="{FF2B5EF4-FFF2-40B4-BE49-F238E27FC236}">
                <a16:creationId xmlns:a16="http://schemas.microsoft.com/office/drawing/2014/main" id="{9F0ADD33-CC7E-293D-BE26-4CF96D7A53B4}"/>
              </a:ext>
            </a:extLst>
          </p:cNvPr>
          <p:cNvSpPr txBox="1"/>
          <p:nvPr/>
        </p:nvSpPr>
        <p:spPr>
          <a:xfrm>
            <a:off x="0" y="6268452"/>
            <a:ext cx="5699960" cy="369332"/>
          </a:xfrm>
          <a:prstGeom prst="rect">
            <a:avLst/>
          </a:prstGeom>
          <a:noFill/>
        </p:spPr>
        <p:txBody>
          <a:bodyPr wrap="square">
            <a:spAutoFit/>
          </a:bodyPr>
          <a:lstStyle/>
          <a:p>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diện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lực</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lớp </a:t>
            </a:r>
            <a:r>
              <a:rPr lang="en-US" dirty="0">
                <a:latin typeface="Times New Roman" panose="02020603050405020304" pitchFamily="18" charset="0"/>
                <a:cs typeface="Times New Roman" panose="02020603050405020304" pitchFamily="18" charset="0"/>
              </a:rPr>
              <a:t>can (0.9028) </a:t>
            </a:r>
          </a:p>
        </p:txBody>
      </p:sp>
      <p:sp>
        <p:nvSpPr>
          <p:cNvPr id="21" name="TextBox 20">
            <a:extLst>
              <a:ext uri="{FF2B5EF4-FFF2-40B4-BE49-F238E27FC236}">
                <a16:creationId xmlns:a16="http://schemas.microsoft.com/office/drawing/2014/main" id="{C4777267-D5EA-1453-6785-75802A25F509}"/>
              </a:ext>
            </a:extLst>
          </p:cNvPr>
          <p:cNvSpPr txBox="1"/>
          <p:nvPr/>
        </p:nvSpPr>
        <p:spPr>
          <a:xfrm>
            <a:off x="5225048" y="6248237"/>
            <a:ext cx="6154152" cy="369332"/>
          </a:xfrm>
          <a:prstGeom prst="rect">
            <a:avLst/>
          </a:prstGeom>
          <a:noFill/>
        </p:spPr>
        <p:txBody>
          <a:bodyPr wrap="square">
            <a:spAutoFit/>
          </a:bodyPr>
          <a:lstStyle/>
          <a:p>
            <a:r>
              <a:rPr lang="vi-VN" dirty="0">
                <a:latin typeface="Times New Roman" panose="02020603050405020304" pitchFamily="18" charset="0"/>
                <a:cs typeface="Times New Roman" panose="02020603050405020304" pitchFamily="18" charset="0"/>
              </a:rPr>
              <a:t>Giao diện hệ thống khi tay gắp giữ vật thể </a:t>
            </a:r>
            <a:r>
              <a:rPr lang="en-US" dirty="0">
                <a:latin typeface="Times New Roman" panose="02020603050405020304" pitchFamily="18" charset="0"/>
                <a:cs typeface="Times New Roman" panose="02020603050405020304" pitchFamily="18" charset="0"/>
              </a:rPr>
              <a:t>can</a:t>
            </a:r>
            <a:r>
              <a:rPr lang="vi-VN"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đang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lực</a:t>
            </a:r>
            <a:endParaRPr lang="vi-V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A4307DE6-3D41-3E90-F001-7F7C0FBACF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61682" y="1450115"/>
            <a:ext cx="8018023" cy="4055448"/>
          </a:xfrm>
          <a:prstGeom prst="rect">
            <a:avLst/>
          </a:prstGeom>
        </p:spPr>
      </p:pic>
      <p:pic>
        <p:nvPicPr>
          <p:cNvPr id="3" name="Picture 2">
            <a:extLst>
              <a:ext uri="{FF2B5EF4-FFF2-40B4-BE49-F238E27FC236}">
                <a16:creationId xmlns:a16="http://schemas.microsoft.com/office/drawing/2014/main" id="{9FA3F6E9-1BCA-F5D2-8854-E8AA34E0D18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7386" y="1310124"/>
            <a:ext cx="3137009" cy="4746926"/>
          </a:xfrm>
          <a:prstGeom prst="rect">
            <a:avLst/>
          </a:prstGeom>
        </p:spPr>
      </p:pic>
    </p:spTree>
    <p:extLst>
      <p:ext uri="{BB962C8B-B14F-4D97-AF65-F5344CB8AC3E}">
        <p14:creationId xmlns:p14="http://schemas.microsoft.com/office/powerpoint/2010/main" val="3280450390"/>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EB01-AAFD-F515-7694-217BC41A0FE5}"/>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40ED9BA0-65AC-79C9-0146-EC0654C24B00}"/>
              </a:ext>
            </a:extLst>
          </p:cNvPr>
          <p:cNvSpPr/>
          <p:nvPr/>
        </p:nvSpPr>
        <p:spPr bwMode="auto">
          <a:xfrm>
            <a:off x="1239163" y="0"/>
            <a:ext cx="9713675" cy="724286"/>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34F93D77-BE0A-97A4-E2C6-7D2731FC74DE}"/>
              </a:ext>
            </a:extLst>
          </p:cNvPr>
          <p:cNvSpPr txBox="1"/>
          <p:nvPr/>
        </p:nvSpPr>
        <p:spPr>
          <a:xfrm>
            <a:off x="812800" y="3431"/>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KẾT QUẢ</a:t>
            </a:r>
          </a:p>
        </p:txBody>
      </p:sp>
      <p:sp>
        <p:nvSpPr>
          <p:cNvPr id="7" name="Freeform 30">
            <a:extLst>
              <a:ext uri="{FF2B5EF4-FFF2-40B4-BE49-F238E27FC236}">
                <a16:creationId xmlns:a16="http://schemas.microsoft.com/office/drawing/2014/main" id="{BE629A56-4FBD-2A94-0418-D4355F2586FF}"/>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772247EC-B753-C471-BA36-4AB44634BD21}"/>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6C527736-E3B2-B70C-B012-76397B832769}"/>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66557DA4-E62B-7814-4D84-D4FDBEAB709D}"/>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35</a:t>
            </a:r>
          </a:p>
        </p:txBody>
      </p:sp>
      <p:sp>
        <p:nvSpPr>
          <p:cNvPr id="26" name="TextBox 25">
            <a:extLst>
              <a:ext uri="{FF2B5EF4-FFF2-40B4-BE49-F238E27FC236}">
                <a16:creationId xmlns:a16="http://schemas.microsoft.com/office/drawing/2014/main" id="{A2CF4750-1512-DBA2-8C87-CD2E1E0A0087}"/>
              </a:ext>
            </a:extLst>
          </p:cNvPr>
          <p:cNvSpPr txBox="1"/>
          <p:nvPr/>
        </p:nvSpPr>
        <p:spPr>
          <a:xfrm>
            <a:off x="3006179" y="721947"/>
            <a:ext cx="6955967" cy="461665"/>
          </a:xfrm>
          <a:prstGeom prst="rect">
            <a:avLst/>
          </a:prstGeom>
          <a:noFill/>
        </p:spPr>
        <p:txBody>
          <a:bodyPr wrap="square" rtlCol="0">
            <a:spAutoFit/>
          </a:bodyPr>
          <a:lstStyle/>
          <a:p>
            <a:pPr algn="l"/>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Quá</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trình</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vận</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hành</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với</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vật</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thể</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thuộc</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lớp</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can</a:t>
            </a:r>
          </a:p>
        </p:txBody>
      </p:sp>
      <p:sp>
        <p:nvSpPr>
          <p:cNvPr id="19" name="Rectangle 18">
            <a:extLst>
              <a:ext uri="{FF2B5EF4-FFF2-40B4-BE49-F238E27FC236}">
                <a16:creationId xmlns:a16="http://schemas.microsoft.com/office/drawing/2014/main" id="{1C5B2349-FBB8-6040-B40D-A1EDA876F736}"/>
              </a:ext>
            </a:extLst>
          </p:cNvPr>
          <p:cNvSpPr/>
          <p:nvPr/>
        </p:nvSpPr>
        <p:spPr bwMode="auto">
          <a:xfrm>
            <a:off x="7276968" y="5176443"/>
            <a:ext cx="700682" cy="219089"/>
          </a:xfrm>
          <a:prstGeom prst="rect">
            <a:avLst/>
          </a:prstGeom>
          <a:solidFill>
            <a:schemeClr val="bg1"/>
          </a:solidFill>
          <a:ln w="254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15" name="TextBox 14">
            <a:extLst>
              <a:ext uri="{FF2B5EF4-FFF2-40B4-BE49-F238E27FC236}">
                <a16:creationId xmlns:a16="http://schemas.microsoft.com/office/drawing/2014/main" id="{7A0DF255-1771-5723-C330-B6A1A0CA9EDC}"/>
              </a:ext>
            </a:extLst>
          </p:cNvPr>
          <p:cNvSpPr txBox="1"/>
          <p:nvPr/>
        </p:nvSpPr>
        <p:spPr>
          <a:xfrm>
            <a:off x="1134728" y="5500310"/>
            <a:ext cx="5699960" cy="369332"/>
          </a:xfrm>
          <a:prstGeom prst="rect">
            <a:avLst/>
          </a:prstGeom>
          <a:noFill/>
        </p:spPr>
        <p:txBody>
          <a:bodyPr wrap="square">
            <a:spAutoFit/>
          </a:bodyPr>
          <a:lstStyle/>
          <a:p>
            <a:r>
              <a:rPr lang="en-US" dirty="0" err="1">
                <a:latin typeface="Times New Roman" panose="02020603050405020304" pitchFamily="18" charset="0"/>
                <a:cs typeface="Times New Roman" panose="02020603050405020304" pitchFamily="18" charset="0"/>
              </a:rPr>
              <a:t>Gắp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thành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endParaRPr lang="en-US"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E1FCABFB-95D8-372A-E762-D19F90B9B70A}"/>
              </a:ext>
            </a:extLst>
          </p:cNvPr>
          <p:cNvSpPr txBox="1"/>
          <p:nvPr/>
        </p:nvSpPr>
        <p:spPr>
          <a:xfrm>
            <a:off x="6037848" y="5883327"/>
            <a:ext cx="6154152" cy="369332"/>
          </a:xfrm>
          <a:prstGeom prst="rect">
            <a:avLst/>
          </a:prstGeom>
          <a:noFill/>
        </p:spPr>
        <p:txBody>
          <a:bodyPr wrap="square">
            <a:spAutoFit/>
          </a:bodyPr>
          <a:lstStyle/>
          <a:p>
            <a:r>
              <a:rPr lang="vi-V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a:t>
            </a:r>
            <a:r>
              <a:rPr lang="vi-VN" dirty="0">
                <a:latin typeface="Times New Roman" panose="02020603050405020304" pitchFamily="18" charset="0"/>
                <a:cs typeface="Times New Roman" panose="02020603050405020304" pitchFamily="18" charset="0"/>
              </a:rPr>
              <a:t>au khi điều chỉnh về trạng thái thành công</a:t>
            </a:r>
          </a:p>
        </p:txBody>
      </p:sp>
      <p:pic>
        <p:nvPicPr>
          <p:cNvPr id="3" name="Picture 2">
            <a:extLst>
              <a:ext uri="{FF2B5EF4-FFF2-40B4-BE49-F238E27FC236}">
                <a16:creationId xmlns:a16="http://schemas.microsoft.com/office/drawing/2014/main" id="{5C865D5F-12ED-0CE8-0638-6208E59A31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6898" y="1657722"/>
            <a:ext cx="3737810" cy="3737810"/>
          </a:xfrm>
          <a:prstGeom prst="rect">
            <a:avLst/>
          </a:prstGeom>
        </p:spPr>
      </p:pic>
      <p:pic>
        <p:nvPicPr>
          <p:cNvPr id="6" name="Picture 5">
            <a:extLst>
              <a:ext uri="{FF2B5EF4-FFF2-40B4-BE49-F238E27FC236}">
                <a16:creationId xmlns:a16="http://schemas.microsoft.com/office/drawing/2014/main" id="{CC9207F9-CE30-D58C-8E64-821798D9E6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32297" y="1245055"/>
            <a:ext cx="7712805" cy="4576829"/>
          </a:xfrm>
          <a:prstGeom prst="rect">
            <a:avLst/>
          </a:prstGeom>
        </p:spPr>
      </p:pic>
    </p:spTree>
    <p:extLst>
      <p:ext uri="{BB962C8B-B14F-4D97-AF65-F5344CB8AC3E}">
        <p14:creationId xmlns:p14="http://schemas.microsoft.com/office/powerpoint/2010/main" val="787311322"/>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F936C-0D95-2D1B-D6DE-B707C6643A13}"/>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93FD13DF-EE8B-E76F-B424-113E4BB7A1CC}"/>
              </a:ext>
            </a:extLst>
          </p:cNvPr>
          <p:cNvSpPr/>
          <p:nvPr/>
        </p:nvSpPr>
        <p:spPr bwMode="auto">
          <a:xfrm>
            <a:off x="1239163" y="0"/>
            <a:ext cx="9713675" cy="724286"/>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DE729C4E-8092-E18B-9957-2A170B03E171}"/>
              </a:ext>
            </a:extLst>
          </p:cNvPr>
          <p:cNvSpPr txBox="1"/>
          <p:nvPr/>
        </p:nvSpPr>
        <p:spPr>
          <a:xfrm>
            <a:off x="812800" y="3431"/>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KẾT QUẢ</a:t>
            </a:r>
          </a:p>
        </p:txBody>
      </p:sp>
      <p:sp>
        <p:nvSpPr>
          <p:cNvPr id="7" name="Freeform 30">
            <a:extLst>
              <a:ext uri="{FF2B5EF4-FFF2-40B4-BE49-F238E27FC236}">
                <a16:creationId xmlns:a16="http://schemas.microsoft.com/office/drawing/2014/main" id="{37680025-16BF-160E-9428-64E8B4639097}"/>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55391C3B-9F64-9EF3-6745-EDF00C1EBC27}"/>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FA2A4FB4-F8F3-46CE-CAE7-4097B7286183}"/>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1A2CE853-8DEB-CC7D-B480-4FC2BD354419}"/>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36</a:t>
            </a:r>
          </a:p>
        </p:txBody>
      </p:sp>
      <p:sp>
        <p:nvSpPr>
          <p:cNvPr id="26" name="TextBox 25">
            <a:extLst>
              <a:ext uri="{FF2B5EF4-FFF2-40B4-BE49-F238E27FC236}">
                <a16:creationId xmlns:a16="http://schemas.microsoft.com/office/drawing/2014/main" id="{D57A171F-6756-AF78-D4D8-6A609EB681EE}"/>
              </a:ext>
            </a:extLst>
          </p:cNvPr>
          <p:cNvSpPr txBox="1"/>
          <p:nvPr/>
        </p:nvSpPr>
        <p:spPr>
          <a:xfrm>
            <a:off x="112295" y="1109297"/>
            <a:ext cx="6955967" cy="5139869"/>
          </a:xfrm>
          <a:prstGeom prst="rect">
            <a:avLst/>
          </a:prstGeom>
          <a:noFill/>
        </p:spPr>
        <p:txBody>
          <a:bodyPr wrap="square" rtlCol="0">
            <a:spAutoFit/>
          </a:bodyPr>
          <a:lstStyle/>
          <a:p>
            <a:pPr algn="l"/>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Đánh</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giá</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a:t>
            </a:r>
          </a:p>
          <a:p>
            <a:pPr algn="l"/>
            <a:endPar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marL="342900" indent="-342900">
              <a:buFontTx/>
              <a:buChar char="-"/>
            </a:pPr>
            <a:r>
              <a:rPr lang="vi-VN" sz="2800" dirty="0">
                <a:latin typeface="Times New Roman" panose="02020603050405020304" pitchFamily="18" charset="0"/>
                <a:cs typeface="Times New Roman" panose="02020603050405020304" pitchFamily="18" charset="0"/>
              </a:rPr>
              <a:t>Nhận diện được 3 lớp vật thể: </a:t>
            </a:r>
            <a:r>
              <a:rPr lang="vi-VN" sz="2800" b="1" dirty="0">
                <a:latin typeface="Times New Roman" panose="02020603050405020304" pitchFamily="18" charset="0"/>
                <a:cs typeface="Times New Roman" panose="02020603050405020304" pitchFamily="18" charset="0"/>
              </a:rPr>
              <a:t>ball, can, bottle</a:t>
            </a:r>
            <a:r>
              <a:rPr lang="vi-VN" sz="280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p>
            <a:pPr marL="342900" indent="-342900">
              <a:buFontTx/>
              <a:buChar char="-"/>
            </a:pPr>
            <a:r>
              <a:rPr lang="vi-VN" sz="2800" dirty="0">
                <a:latin typeface="Times New Roman" panose="02020603050405020304" pitchFamily="18" charset="0"/>
                <a:cs typeface="Times New Roman" panose="02020603050405020304" pitchFamily="18" charset="0"/>
              </a:rPr>
              <a:t>Dự đoán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lực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gắp</a:t>
            </a:r>
            <a:r>
              <a:rPr lang="vi-VN" sz="2800" dirty="0">
                <a:latin typeface="Times New Roman" panose="02020603050405020304" pitchFamily="18" charset="0"/>
                <a:cs typeface="Times New Roman" panose="02020603050405020304" pitchFamily="18" charset="0"/>
              </a:rPr>
              <a:t> ban đầu và phân loại trạng thái </a:t>
            </a:r>
            <a:r>
              <a:rPr lang="vi-VN" sz="2800" b="1" dirty="0">
                <a:latin typeface="Times New Roman" panose="02020603050405020304" pitchFamily="18" charset="0"/>
                <a:cs typeface="Times New Roman" panose="02020603050405020304" pitchFamily="18" charset="0"/>
              </a:rPr>
              <a:t>success / slip / overforce</a:t>
            </a:r>
            <a:r>
              <a:rPr lang="vi-VN" sz="280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p>
            <a:pPr marL="342900" indent="-342900">
              <a:buFontTx/>
              <a:buChar char="-"/>
            </a:pPr>
            <a:r>
              <a:rPr lang="vi-VN" sz="2800" dirty="0">
                <a:latin typeface="Times New Roman" panose="02020603050405020304" pitchFamily="18" charset="0"/>
                <a:cs typeface="Times New Roman" panose="02020603050405020304" pitchFamily="18" charset="0"/>
              </a:rPr>
              <a:t>Cảm biến xúc giác ghi nhận tiếp xúc và hiển thị qua </a:t>
            </a:r>
            <a:r>
              <a:rPr lang="vi-VN" sz="2800" b="1" dirty="0">
                <a:latin typeface="Times New Roman" panose="02020603050405020304" pitchFamily="18" charset="0"/>
                <a:cs typeface="Times New Roman" panose="02020603050405020304" pitchFamily="18" charset="0"/>
              </a:rPr>
              <a:t>heatmap</a:t>
            </a:r>
            <a:r>
              <a:rPr lang="vi-VN" sz="280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p>
            <a:pPr marL="342900" indent="-342900">
              <a:buFontTx/>
              <a:buChar char="-"/>
            </a:pPr>
            <a:r>
              <a:rPr lang="vi-VN" sz="2800" dirty="0">
                <a:latin typeface="Times New Roman" panose="02020603050405020304" pitchFamily="18" charset="0"/>
                <a:cs typeface="Times New Roman" panose="02020603050405020304" pitchFamily="18" charset="0"/>
              </a:rPr>
              <a:t>Tự điều chỉnh: </a:t>
            </a:r>
            <a:r>
              <a:rPr lang="vi-VN" sz="2800" b="1" dirty="0">
                <a:latin typeface="Times New Roman" panose="02020603050405020304" pitchFamily="18" charset="0"/>
                <a:cs typeface="Times New Roman" panose="02020603050405020304" pitchFamily="18" charset="0"/>
              </a:rPr>
              <a:t>slip → tăng lực</a:t>
            </a:r>
            <a:r>
              <a:rPr lang="vi-VN" sz="2800"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overforce → giảm lực</a:t>
            </a:r>
            <a:r>
              <a:rPr lang="vi-VN" sz="280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p>
            <a:pPr marL="342900" indent="-342900">
              <a:buFontTx/>
              <a:buChar char="-"/>
            </a:pPr>
            <a:r>
              <a:rPr lang="vi-VN" sz="2800" dirty="0">
                <a:latin typeface="Times New Roman" panose="02020603050405020304" pitchFamily="18" charset="0"/>
                <a:cs typeface="Times New Roman" panose="02020603050405020304" pitchFamily="18" charset="0"/>
              </a:rPr>
              <a:t>Giao diện hiển thị trạng thái hệ thống theo thời gian thực</a:t>
            </a:r>
            <a:r>
              <a:rPr lang="en-US" sz="2800" dirty="0">
                <a:latin typeface="Times New Roman" panose="02020603050405020304" pitchFamily="18" charset="0"/>
                <a:cs typeface="Times New Roman" panose="02020603050405020304" pitchFamily="18" charset="0"/>
              </a:rPr>
              <a:t>.</a:t>
            </a:r>
            <a:endParaRPr lang="en-US" sz="28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19" name="Rectangle 18">
            <a:extLst>
              <a:ext uri="{FF2B5EF4-FFF2-40B4-BE49-F238E27FC236}">
                <a16:creationId xmlns:a16="http://schemas.microsoft.com/office/drawing/2014/main" id="{30C0D6AB-D4FA-7567-FAC3-826ACB1370C5}"/>
              </a:ext>
            </a:extLst>
          </p:cNvPr>
          <p:cNvSpPr/>
          <p:nvPr/>
        </p:nvSpPr>
        <p:spPr bwMode="auto">
          <a:xfrm>
            <a:off x="7276968" y="5176443"/>
            <a:ext cx="700682" cy="219089"/>
          </a:xfrm>
          <a:prstGeom prst="rect">
            <a:avLst/>
          </a:prstGeom>
          <a:solidFill>
            <a:schemeClr val="bg1"/>
          </a:solidFill>
          <a:ln w="254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pic>
        <p:nvPicPr>
          <p:cNvPr id="4" name="Picture 3">
            <a:extLst>
              <a:ext uri="{FF2B5EF4-FFF2-40B4-BE49-F238E27FC236}">
                <a16:creationId xmlns:a16="http://schemas.microsoft.com/office/drawing/2014/main" id="{EECC9D49-783F-B2C7-7341-1DB7E9B4DA5E}"/>
              </a:ext>
            </a:extLst>
          </p:cNvPr>
          <p:cNvPicPr>
            <a:picLocks noChangeAspect="1"/>
          </p:cNvPicPr>
          <p:nvPr/>
        </p:nvPicPr>
        <p:blipFill>
          <a:blip r:embed="rId5"/>
          <a:stretch>
            <a:fillRect/>
          </a:stretch>
        </p:blipFill>
        <p:spPr>
          <a:xfrm>
            <a:off x="7221857" y="1000695"/>
            <a:ext cx="4029072" cy="1419570"/>
          </a:xfrm>
          <a:prstGeom prst="rect">
            <a:avLst/>
          </a:prstGeom>
        </p:spPr>
      </p:pic>
      <p:pic>
        <p:nvPicPr>
          <p:cNvPr id="8" name="Picture 7">
            <a:extLst>
              <a:ext uri="{FF2B5EF4-FFF2-40B4-BE49-F238E27FC236}">
                <a16:creationId xmlns:a16="http://schemas.microsoft.com/office/drawing/2014/main" id="{317AAA80-01AB-D487-2658-020E8240B5F2}"/>
              </a:ext>
            </a:extLst>
          </p:cNvPr>
          <p:cNvPicPr>
            <a:picLocks noChangeAspect="1"/>
          </p:cNvPicPr>
          <p:nvPr/>
        </p:nvPicPr>
        <p:blipFill>
          <a:blip r:embed="rId6"/>
          <a:stretch>
            <a:fillRect/>
          </a:stretch>
        </p:blipFill>
        <p:spPr>
          <a:xfrm>
            <a:off x="7221857" y="2591646"/>
            <a:ext cx="3928807" cy="1419569"/>
          </a:xfrm>
          <a:prstGeom prst="rect">
            <a:avLst/>
          </a:prstGeom>
        </p:spPr>
      </p:pic>
      <p:pic>
        <p:nvPicPr>
          <p:cNvPr id="10" name="Picture 9">
            <a:extLst>
              <a:ext uri="{FF2B5EF4-FFF2-40B4-BE49-F238E27FC236}">
                <a16:creationId xmlns:a16="http://schemas.microsoft.com/office/drawing/2014/main" id="{2C797C4C-148A-DD10-61BB-992B8A85F737}"/>
              </a:ext>
            </a:extLst>
          </p:cNvPr>
          <p:cNvPicPr>
            <a:picLocks noChangeAspect="1"/>
          </p:cNvPicPr>
          <p:nvPr/>
        </p:nvPicPr>
        <p:blipFill>
          <a:blip r:embed="rId7"/>
          <a:stretch>
            <a:fillRect/>
          </a:stretch>
        </p:blipFill>
        <p:spPr>
          <a:xfrm>
            <a:off x="7276968" y="4547672"/>
            <a:ext cx="3934426" cy="1119202"/>
          </a:xfrm>
          <a:prstGeom prst="rect">
            <a:avLst/>
          </a:prstGeom>
        </p:spPr>
      </p:pic>
      <p:sp>
        <p:nvSpPr>
          <p:cNvPr id="12" name="Rectangle 11">
            <a:extLst>
              <a:ext uri="{FF2B5EF4-FFF2-40B4-BE49-F238E27FC236}">
                <a16:creationId xmlns:a16="http://schemas.microsoft.com/office/drawing/2014/main" id="{40F28748-E2E0-E81A-F1CE-10493CFBD89A}"/>
              </a:ext>
            </a:extLst>
          </p:cNvPr>
          <p:cNvSpPr/>
          <p:nvPr/>
        </p:nvSpPr>
        <p:spPr bwMode="auto">
          <a:xfrm>
            <a:off x="7221857" y="1000695"/>
            <a:ext cx="634764" cy="238558"/>
          </a:xfrm>
          <a:prstGeom prst="rect">
            <a:avLst/>
          </a:prstGeom>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17" name="Rectangle 16">
            <a:extLst>
              <a:ext uri="{FF2B5EF4-FFF2-40B4-BE49-F238E27FC236}">
                <a16:creationId xmlns:a16="http://schemas.microsoft.com/office/drawing/2014/main" id="{C317F979-6D93-949C-6F6F-A4F577B27C35}"/>
              </a:ext>
            </a:extLst>
          </p:cNvPr>
          <p:cNvSpPr/>
          <p:nvPr/>
        </p:nvSpPr>
        <p:spPr bwMode="auto">
          <a:xfrm>
            <a:off x="7221857" y="2569214"/>
            <a:ext cx="634764" cy="238558"/>
          </a:xfrm>
          <a:prstGeom prst="rect">
            <a:avLst/>
          </a:prstGeom>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22" name="Rectangle 21">
            <a:extLst>
              <a:ext uri="{FF2B5EF4-FFF2-40B4-BE49-F238E27FC236}">
                <a16:creationId xmlns:a16="http://schemas.microsoft.com/office/drawing/2014/main" id="{729C444D-FD8F-E341-B8D7-A237D55F830F}"/>
              </a:ext>
            </a:extLst>
          </p:cNvPr>
          <p:cNvSpPr/>
          <p:nvPr/>
        </p:nvSpPr>
        <p:spPr bwMode="auto">
          <a:xfrm>
            <a:off x="7264224" y="4451713"/>
            <a:ext cx="634764" cy="238558"/>
          </a:xfrm>
          <a:prstGeom prst="rect">
            <a:avLst/>
          </a:prstGeom>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Tree>
    <p:extLst>
      <p:ext uri="{BB962C8B-B14F-4D97-AF65-F5344CB8AC3E}">
        <p14:creationId xmlns:p14="http://schemas.microsoft.com/office/powerpoint/2010/main" val="744598299"/>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2B784-B437-7426-146E-282473C372C5}"/>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0C50B1F5-F5A7-B869-5324-6A65EC6D4A4D}"/>
              </a:ext>
            </a:extLst>
          </p:cNvPr>
          <p:cNvSpPr/>
          <p:nvPr/>
        </p:nvSpPr>
        <p:spPr bwMode="auto">
          <a:xfrm>
            <a:off x="1239163" y="0"/>
            <a:ext cx="9713675" cy="724286"/>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11D4F48D-31A9-55EB-7FD4-73A79C3C3FEB}"/>
              </a:ext>
            </a:extLst>
          </p:cNvPr>
          <p:cNvSpPr txBox="1"/>
          <p:nvPr/>
        </p:nvSpPr>
        <p:spPr>
          <a:xfrm>
            <a:off x="812800" y="3431"/>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KẾT LUẬN VÀ HƯỚNG PHÁT TRIỂN</a:t>
            </a:r>
          </a:p>
        </p:txBody>
      </p:sp>
      <p:sp>
        <p:nvSpPr>
          <p:cNvPr id="7" name="Freeform 30">
            <a:extLst>
              <a:ext uri="{FF2B5EF4-FFF2-40B4-BE49-F238E27FC236}">
                <a16:creationId xmlns:a16="http://schemas.microsoft.com/office/drawing/2014/main" id="{DDD52A53-6322-CB28-6145-691436905CA6}"/>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1F3BC9D6-B8A5-FFC8-F675-6B4C1D8847F2}"/>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335EEE90-A00C-6B4F-8CA1-3679AF58F73C}"/>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1F8C3935-E2C7-647F-2936-2B634C8A46E4}"/>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37</a:t>
            </a:r>
          </a:p>
        </p:txBody>
      </p:sp>
      <p:sp>
        <p:nvSpPr>
          <p:cNvPr id="26" name="TextBox 25">
            <a:extLst>
              <a:ext uri="{FF2B5EF4-FFF2-40B4-BE49-F238E27FC236}">
                <a16:creationId xmlns:a16="http://schemas.microsoft.com/office/drawing/2014/main" id="{84B4C17F-D66E-E9F8-3204-F113068B25BF}"/>
              </a:ext>
            </a:extLst>
          </p:cNvPr>
          <p:cNvSpPr txBox="1"/>
          <p:nvPr/>
        </p:nvSpPr>
        <p:spPr>
          <a:xfrm>
            <a:off x="0" y="1363288"/>
            <a:ext cx="7221857" cy="4708981"/>
          </a:xfrm>
          <a:prstGeom prst="rect">
            <a:avLst/>
          </a:prstGeom>
          <a:noFill/>
        </p:spPr>
        <p:txBody>
          <a:bodyPr wrap="square" rtlCol="0">
            <a:spAutoFit/>
          </a:bodyPr>
          <a:lstStyle/>
          <a:p>
            <a:pPr algn="l"/>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Kết </a:t>
            </a:r>
            <a:r>
              <a:rPr lang="en-US" sz="24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luận</a:t>
            </a:r>
            <a:r>
              <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a:t>
            </a:r>
          </a:p>
          <a:p>
            <a:pPr algn="l"/>
            <a:endPar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marL="342900" indent="-342900">
              <a:buFontTx/>
              <a:buChar char="-"/>
            </a:pPr>
            <a:r>
              <a:rPr lang="vi-VN" sz="2800" dirty="0">
                <a:latin typeface="Times New Roman" panose="02020603050405020304" pitchFamily="18" charset="0"/>
                <a:cs typeface="Times New Roman" panose="02020603050405020304" pitchFamily="18" charset="0"/>
              </a:rPr>
              <a:t>Hoàn thành mô hình tay gắp hai ngón tích hợp camera, cảm biến xúc giác, AI và giao diện giám sát.</a:t>
            </a:r>
            <a:endParaRPr lang="en-US" sz="2800" dirty="0">
              <a:latin typeface="Times New Roman" panose="02020603050405020304" pitchFamily="18" charset="0"/>
              <a:cs typeface="Times New Roman" panose="02020603050405020304" pitchFamily="18" charset="0"/>
            </a:endParaRPr>
          </a:p>
          <a:p>
            <a:pPr marL="342900" indent="-342900">
              <a:buFontTx/>
              <a:buChar char="-"/>
            </a:pPr>
            <a:r>
              <a:rPr lang="vi-VN" sz="2800" dirty="0">
                <a:latin typeface="Times New Roman" panose="02020603050405020304" pitchFamily="18" charset="0"/>
                <a:cs typeface="Times New Roman" panose="02020603050405020304" pitchFamily="18" charset="0"/>
              </a:rPr>
              <a:t>Hệ thống nhận diện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được</a:t>
            </a:r>
            <a:r>
              <a:rPr lang="vi-VN" sz="2800" dirty="0">
                <a:latin typeface="Times New Roman" panose="02020603050405020304" pitchFamily="18" charset="0"/>
                <a:cs typeface="Times New Roman" panose="02020603050405020304" pitchFamily="18" charset="0"/>
              </a:rPr>
              <a:t> vật thể bằng YOLO.</a:t>
            </a:r>
            <a:endParaRPr lang="en-US" sz="2800" dirty="0">
              <a:latin typeface="Times New Roman" panose="02020603050405020304" pitchFamily="18" charset="0"/>
              <a:cs typeface="Times New Roman" panose="02020603050405020304" pitchFamily="18" charset="0"/>
            </a:endParaRPr>
          </a:p>
          <a:p>
            <a:pPr marL="342900" indent="-342900">
              <a:buFontTx/>
              <a:buChar char="-"/>
            </a:pPr>
            <a:r>
              <a:rPr lang="vi-VN" sz="2800" dirty="0">
                <a:latin typeface="Times New Roman" panose="02020603050405020304" pitchFamily="18" charset="0"/>
                <a:cs typeface="Times New Roman" panose="02020603050405020304" pitchFamily="18" charset="0"/>
              </a:rPr>
              <a:t>Dự đoán </a:t>
            </a:r>
            <a:r>
              <a:rPr lang="en-US" sz="2800" dirty="0" err="1">
                <a:latin typeface="Times New Roman" panose="02020603050405020304" pitchFamily="18" charset="0"/>
                <a:cs typeface="Times New Roman" panose="02020603050405020304" pitchFamily="18" charset="0"/>
              </a:rPr>
              <a:t>lực</a:t>
            </a:r>
            <a:r>
              <a:rPr lang="en-US" sz="2800" dirty="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gắp ban đầu bằng MLPRegressor.</a:t>
            </a:r>
            <a:endParaRPr lang="en-US" sz="2800" dirty="0">
              <a:latin typeface="Times New Roman" panose="02020603050405020304" pitchFamily="18" charset="0"/>
              <a:cs typeface="Times New Roman" panose="02020603050405020304" pitchFamily="18" charset="0"/>
            </a:endParaRPr>
          </a:p>
          <a:p>
            <a:pPr marL="342900" indent="-342900">
              <a:buFontTx/>
              <a:buChar char="-"/>
            </a:pPr>
            <a:r>
              <a:rPr lang="vi-VN" sz="2800" dirty="0">
                <a:latin typeface="Times New Roman" panose="02020603050405020304" pitchFamily="18" charset="0"/>
                <a:cs typeface="Times New Roman" panose="02020603050405020304" pitchFamily="18" charset="0"/>
              </a:rPr>
              <a:t>Phân loại trạng thái gắp bằng MLPClassifier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tự</a:t>
            </a:r>
            <a:r>
              <a:rPr lang="vi-VN" sz="2800" dirty="0">
                <a:latin typeface="Times New Roman" panose="02020603050405020304" pitchFamily="18" charset="0"/>
                <a:cs typeface="Times New Roman" panose="02020603050405020304" pitchFamily="18" charset="0"/>
              </a:rPr>
              <a:t> điều chỉnh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lực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gắp</a:t>
            </a:r>
            <a:r>
              <a:rPr lang="vi-VN" sz="2800" dirty="0">
                <a:latin typeface="Times New Roman" panose="02020603050405020304" pitchFamily="18" charset="0"/>
                <a:cs typeface="Times New Roman" panose="02020603050405020304" pitchFamily="18" charset="0"/>
              </a:rPr>
              <a:t> khi phát hiện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thay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đổi</a:t>
            </a:r>
            <a:r>
              <a:rPr lang="en-US" sz="2800" dirty="0">
                <a:latin typeface="Times New Roman" panose="02020603050405020304" pitchFamily="18" charset="0"/>
                <a:cs typeface="Times New Roman" panose="02020603050405020304" pitchFamily="18" charset="0"/>
              </a:rPr>
              <a:t>.</a:t>
            </a:r>
          </a:p>
          <a:p>
            <a:pPr marL="342900" indent="-342900">
              <a:buFontTx/>
              <a:buChar char="-"/>
            </a:pPr>
            <a:r>
              <a:rPr lang="vi-VN" sz="2800" dirty="0">
                <a:latin typeface="Times New Roman" panose="02020603050405020304" pitchFamily="18" charset="0"/>
                <a:cs typeface="Times New Roman" panose="02020603050405020304" pitchFamily="18" charset="0"/>
              </a:rPr>
              <a:t>Không chỉ gắp theo giá trị cố định.</a:t>
            </a:r>
            <a:endParaRPr lang="en-US" sz="2800" dirty="0">
              <a:latin typeface="Times New Roman" panose="02020603050405020304" pitchFamily="18" charset="0"/>
              <a:cs typeface="Times New Roman" panose="02020603050405020304" pitchFamily="18" charset="0"/>
            </a:endParaRPr>
          </a:p>
          <a:p>
            <a:endParaRPr lang="vi-VN" sz="2800"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9F09CA41-EFB1-757E-0368-BB6C3B68F70D}"/>
              </a:ext>
            </a:extLst>
          </p:cNvPr>
          <p:cNvSpPr/>
          <p:nvPr/>
        </p:nvSpPr>
        <p:spPr bwMode="auto">
          <a:xfrm>
            <a:off x="7221857" y="1000695"/>
            <a:ext cx="634764" cy="238558"/>
          </a:xfrm>
          <a:prstGeom prst="rect">
            <a:avLst/>
          </a:prstGeom>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pic>
        <p:nvPicPr>
          <p:cNvPr id="3" name="Picture 2">
            <a:extLst>
              <a:ext uri="{FF2B5EF4-FFF2-40B4-BE49-F238E27FC236}">
                <a16:creationId xmlns:a16="http://schemas.microsoft.com/office/drawing/2014/main" id="{CD447FE0-0937-EEE6-54B0-52F01690B8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10115" y="1672706"/>
            <a:ext cx="4319337" cy="4319337"/>
          </a:xfrm>
          <a:prstGeom prst="rect">
            <a:avLst/>
          </a:prstGeom>
        </p:spPr>
      </p:pic>
    </p:spTree>
    <p:extLst>
      <p:ext uri="{BB962C8B-B14F-4D97-AF65-F5344CB8AC3E}">
        <p14:creationId xmlns:p14="http://schemas.microsoft.com/office/powerpoint/2010/main" val="3211904258"/>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DBE45-6028-ACA2-9F97-4EFC117EC6A9}"/>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041E6581-5E7E-44C1-6739-3859A9BE3523}"/>
              </a:ext>
            </a:extLst>
          </p:cNvPr>
          <p:cNvSpPr/>
          <p:nvPr/>
        </p:nvSpPr>
        <p:spPr bwMode="auto">
          <a:xfrm>
            <a:off x="1239163" y="0"/>
            <a:ext cx="9713675" cy="724286"/>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11" name="TextBox 10">
            <a:extLst>
              <a:ext uri="{FF2B5EF4-FFF2-40B4-BE49-F238E27FC236}">
                <a16:creationId xmlns:a16="http://schemas.microsoft.com/office/drawing/2014/main" id="{66A24F09-601F-8826-DD88-0FBDCDC74AB7}"/>
              </a:ext>
            </a:extLst>
          </p:cNvPr>
          <p:cNvSpPr txBox="1"/>
          <p:nvPr/>
        </p:nvSpPr>
        <p:spPr>
          <a:xfrm>
            <a:off x="812800" y="3431"/>
            <a:ext cx="10566400" cy="707886"/>
          </a:xfrm>
          <a:prstGeom prst="rect">
            <a:avLst/>
          </a:prstGeom>
          <a:noFill/>
        </p:spPr>
        <p:txBody>
          <a:bodyPr wrap="square" rtlCol="0">
            <a:spAutoFit/>
          </a:bodyPr>
          <a:lstStyle/>
          <a:p>
            <a:pPr algn="ctr" defTabSz="1219170" fontAlgn="base">
              <a:spcBef>
                <a:spcPct val="0"/>
              </a:spcBef>
              <a:spcAft>
                <a:spcPct val="0"/>
              </a:spcAft>
            </a:pPr>
            <a:r>
              <a:rPr lang="en-US" sz="40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KẾT LUẬN VÀ HƯỚNG PHÁT TRIỂN</a:t>
            </a:r>
          </a:p>
        </p:txBody>
      </p:sp>
      <p:sp>
        <p:nvSpPr>
          <p:cNvPr id="7" name="Freeform 30">
            <a:extLst>
              <a:ext uri="{FF2B5EF4-FFF2-40B4-BE49-F238E27FC236}">
                <a16:creationId xmlns:a16="http://schemas.microsoft.com/office/drawing/2014/main" id="{C3966D74-5882-20A5-202A-E6E4BCA1D8C5}"/>
              </a:ext>
            </a:extLst>
          </p:cNvPr>
          <p:cNvSpPr/>
          <p:nvPr/>
        </p:nvSpPr>
        <p:spPr>
          <a:xfrm>
            <a:off x="246898" y="7306"/>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3"/>
            <a:stretch>
              <a:fillRect r="-560617"/>
            </a:stretch>
          </a:blipFill>
        </p:spPr>
        <p:txBody>
          <a:bodyPr/>
          <a:lstStyle/>
          <a:p>
            <a:endParaRPr lang="vi-VN"/>
          </a:p>
        </p:txBody>
      </p:sp>
      <p:sp>
        <p:nvSpPr>
          <p:cNvPr id="16" name="Freeform 29">
            <a:extLst>
              <a:ext uri="{FF2B5EF4-FFF2-40B4-BE49-F238E27FC236}">
                <a16:creationId xmlns:a16="http://schemas.microsoft.com/office/drawing/2014/main" id="{F5535A31-9ACC-ECDB-D8B3-FA99AEE7A194}"/>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4"/>
            <a:stretch>
              <a:fillRect l="-3467" r="-3467" b="-45281"/>
            </a:stretch>
          </a:blipFill>
        </p:spPr>
        <p:txBody>
          <a:bodyPr/>
          <a:lstStyle/>
          <a:p>
            <a:endParaRPr lang="vi-VN"/>
          </a:p>
        </p:txBody>
      </p:sp>
      <p:sp>
        <p:nvSpPr>
          <p:cNvPr id="18" name="Rectangle 17">
            <a:extLst>
              <a:ext uri="{FF2B5EF4-FFF2-40B4-BE49-F238E27FC236}">
                <a16:creationId xmlns:a16="http://schemas.microsoft.com/office/drawing/2014/main" id="{6A51E5D5-5609-B3E8-5171-A446D7B1BADB}"/>
              </a:ext>
            </a:extLst>
          </p:cNvPr>
          <p:cNvSpPr/>
          <p:nvPr/>
        </p:nvSpPr>
        <p:spPr bwMode="auto">
          <a:xfrm>
            <a:off x="11379200" y="6268452"/>
            <a:ext cx="700505" cy="469413"/>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dirty="0">
              <a:solidFill>
                <a:srgbClr val="000000"/>
              </a:solidFill>
              <a:latin typeface="Gill Sans" charset="0"/>
              <a:ea typeface="ヒラギノ角ゴ ProN W3" charset="0"/>
              <a:cs typeface="ヒラギノ角ゴ ProN W3" charset="0"/>
              <a:sym typeface="Gill Sans" charset="0"/>
            </a:endParaRPr>
          </a:p>
        </p:txBody>
      </p:sp>
      <p:sp>
        <p:nvSpPr>
          <p:cNvPr id="24" name="TextBox 23">
            <a:extLst>
              <a:ext uri="{FF2B5EF4-FFF2-40B4-BE49-F238E27FC236}">
                <a16:creationId xmlns:a16="http://schemas.microsoft.com/office/drawing/2014/main" id="{CD2544FC-74C7-534B-CEFD-E6D9B733B582}"/>
              </a:ext>
            </a:extLst>
          </p:cNvPr>
          <p:cNvSpPr txBox="1"/>
          <p:nvPr/>
        </p:nvSpPr>
        <p:spPr>
          <a:xfrm>
            <a:off x="11202213" y="6272325"/>
            <a:ext cx="1054478" cy="461665"/>
          </a:xfrm>
          <a:prstGeom prst="rect">
            <a:avLst/>
          </a:prstGeom>
          <a:noFill/>
        </p:spPr>
        <p:txBody>
          <a:bodyPr wrap="square" rtlCol="0">
            <a:spAutoFit/>
          </a:bodyPr>
          <a:lstStyle/>
          <a:p>
            <a:pPr algn="ctr" defTabSz="1219170" fontAlgn="base">
              <a:spcBef>
                <a:spcPct val="0"/>
              </a:spcBef>
              <a:spcAft>
                <a:spcPct val="0"/>
              </a:spcAft>
            </a:pPr>
            <a:r>
              <a:rPr lang="en-US" sz="2400" b="1">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38</a:t>
            </a:r>
            <a:endParaRPr lang="en-US" sz="2400" b="1" dirty="0">
              <a:solidFill>
                <a:srgbClr val="FFFFFF"/>
              </a:solidFill>
              <a:latin typeface="Times New Roman" panose="02020603050405020304" pitchFamily="18" charset="0"/>
              <a:ea typeface="Open Sans" panose="020B0606030504020204" pitchFamily="34" charset="0"/>
              <a:cs typeface="Times New Roman" panose="02020603050405020304" pitchFamily="18" charset="0"/>
              <a:sym typeface="Gill Sans" charset="0"/>
            </a:endParaRPr>
          </a:p>
        </p:txBody>
      </p:sp>
      <p:sp>
        <p:nvSpPr>
          <p:cNvPr id="12" name="Rectangle 11">
            <a:extLst>
              <a:ext uri="{FF2B5EF4-FFF2-40B4-BE49-F238E27FC236}">
                <a16:creationId xmlns:a16="http://schemas.microsoft.com/office/drawing/2014/main" id="{9994D1B5-47E4-2166-35E9-2520C6FE28E3}"/>
              </a:ext>
            </a:extLst>
          </p:cNvPr>
          <p:cNvSpPr/>
          <p:nvPr/>
        </p:nvSpPr>
        <p:spPr bwMode="auto">
          <a:xfrm>
            <a:off x="7221857" y="1000695"/>
            <a:ext cx="634764" cy="238558"/>
          </a:xfrm>
          <a:prstGeom prst="rect">
            <a:avLst/>
          </a:prstGeom>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vi-VN"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4" name="TextBox 3">
            <a:extLst>
              <a:ext uri="{FF2B5EF4-FFF2-40B4-BE49-F238E27FC236}">
                <a16:creationId xmlns:a16="http://schemas.microsoft.com/office/drawing/2014/main" id="{2E80F110-9142-5AB8-C8FE-E82D7B699D38}"/>
              </a:ext>
            </a:extLst>
          </p:cNvPr>
          <p:cNvSpPr txBox="1"/>
          <p:nvPr/>
        </p:nvSpPr>
        <p:spPr>
          <a:xfrm>
            <a:off x="0" y="975315"/>
            <a:ext cx="12192000" cy="2369880"/>
          </a:xfrm>
          <a:prstGeom prst="rect">
            <a:avLst/>
          </a:prstGeom>
          <a:noFill/>
        </p:spPr>
        <p:txBody>
          <a:bodyPr wrap="square" rtlCol="0">
            <a:spAutoFit/>
          </a:bodyPr>
          <a:lstStyle/>
          <a:p>
            <a:pPr algn="l"/>
            <a:r>
              <a:rPr lang="en-US" sz="28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Hạn</a:t>
            </a:r>
            <a:r>
              <a:rPr lang="en-US" sz="28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chế</a:t>
            </a:r>
            <a:r>
              <a:rPr lang="en-US" sz="28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a:t>
            </a:r>
          </a:p>
          <a:p>
            <a:pPr algn="l"/>
            <a:endPar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marL="342900" indent="-342900">
              <a:buFontTx/>
              <a:buChar char="-"/>
            </a:pPr>
            <a:r>
              <a:rPr lang="vi-VN" sz="2400" dirty="0">
                <a:latin typeface="Times New Roman" panose="02020603050405020304" pitchFamily="18" charset="0"/>
                <a:cs typeface="Times New Roman" panose="02020603050405020304" pitchFamily="18" charset="0"/>
              </a:rPr>
              <a:t>Tập dữ liệu huấn luyện còn hạn chế.</a:t>
            </a:r>
            <a:endParaRPr lang="en-US" sz="2400" dirty="0">
              <a:latin typeface="Times New Roman" panose="02020603050405020304" pitchFamily="18" charset="0"/>
              <a:cs typeface="Times New Roman" panose="02020603050405020304" pitchFamily="18" charset="0"/>
            </a:endParaRPr>
          </a:p>
          <a:p>
            <a:pPr marL="342900" indent="-342900">
              <a:buFontTx/>
              <a:buChar char="-"/>
            </a:pPr>
            <a:r>
              <a:rPr lang="vi-VN" sz="2400" dirty="0">
                <a:latin typeface="Times New Roman" panose="02020603050405020304" pitchFamily="18" charset="0"/>
                <a:cs typeface="Times New Roman" panose="02020603050405020304" pitchFamily="18" charset="0"/>
              </a:rPr>
              <a:t>Số lượng vật thể thử nghiệm chưa nhiều.</a:t>
            </a:r>
            <a:endParaRPr lang="en-US" sz="2400" dirty="0">
              <a:latin typeface="Times New Roman" panose="02020603050405020304" pitchFamily="18" charset="0"/>
              <a:cs typeface="Times New Roman" panose="02020603050405020304" pitchFamily="18" charset="0"/>
            </a:endParaRPr>
          </a:p>
          <a:p>
            <a:pPr marL="342900" indent="-342900">
              <a:buFontTx/>
              <a:buChar char="-"/>
            </a:pPr>
            <a:r>
              <a:rPr lang="vi-VN" sz="2400" dirty="0">
                <a:latin typeface="Times New Roman" panose="02020603050405020304" pitchFamily="18" charset="0"/>
                <a:cs typeface="Times New Roman" panose="02020603050405020304" pitchFamily="18" charset="0"/>
              </a:rPr>
              <a:t>Cảm biến xúc giác tự chế chưa thật sự ổn định.</a:t>
            </a:r>
            <a:endParaRPr lang="en-US" sz="2400" dirty="0">
              <a:latin typeface="Times New Roman" panose="02020603050405020304" pitchFamily="18" charset="0"/>
              <a:cs typeface="Times New Roman" panose="02020603050405020304" pitchFamily="18" charset="0"/>
            </a:endParaRPr>
          </a:p>
          <a:p>
            <a:pPr marL="342900" indent="-342900">
              <a:buFontTx/>
              <a:buChar char="-"/>
            </a:pPr>
            <a:r>
              <a:rPr lang="vi-VN" sz="2400" dirty="0">
                <a:latin typeface="Times New Roman" panose="02020603050405020304" pitchFamily="18" charset="0"/>
                <a:cs typeface="Times New Roman" panose="02020603050405020304" pitchFamily="18" charset="0"/>
              </a:rPr>
              <a:t>Nhận diện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vận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hành</a:t>
            </a:r>
            <a:r>
              <a:rPr lang="vi-VN" sz="2400" dirty="0">
                <a:latin typeface="Times New Roman" panose="02020603050405020304" pitchFamily="18" charset="0"/>
                <a:cs typeface="Times New Roman" panose="02020603050405020304" pitchFamily="18" charset="0"/>
              </a:rPr>
              <a:t> còn bị ảnh hưởng bởi ánh sáng, góc đặt vật và môi trường.</a:t>
            </a:r>
          </a:p>
        </p:txBody>
      </p:sp>
      <p:sp>
        <p:nvSpPr>
          <p:cNvPr id="6" name="TextBox 5">
            <a:extLst>
              <a:ext uri="{FF2B5EF4-FFF2-40B4-BE49-F238E27FC236}">
                <a16:creationId xmlns:a16="http://schemas.microsoft.com/office/drawing/2014/main" id="{1C838E73-4A22-187A-F2E8-430C275B06FF}"/>
              </a:ext>
            </a:extLst>
          </p:cNvPr>
          <p:cNvSpPr txBox="1"/>
          <p:nvPr/>
        </p:nvSpPr>
        <p:spPr>
          <a:xfrm>
            <a:off x="0" y="3429000"/>
            <a:ext cx="12192000" cy="2739211"/>
          </a:xfrm>
          <a:prstGeom prst="rect">
            <a:avLst/>
          </a:prstGeom>
          <a:noFill/>
        </p:spPr>
        <p:txBody>
          <a:bodyPr wrap="square" rtlCol="0">
            <a:spAutoFit/>
          </a:bodyPr>
          <a:lstStyle/>
          <a:p>
            <a:pPr algn="l"/>
            <a:r>
              <a:rPr lang="en-US" sz="28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Hướng</a:t>
            </a:r>
            <a:r>
              <a:rPr lang="en-US" sz="28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phát</a:t>
            </a:r>
            <a:r>
              <a:rPr lang="en-US" sz="28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 </a:t>
            </a:r>
            <a:r>
              <a:rPr lang="en-US" sz="2800" b="1" dirty="0" err="1">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triển</a:t>
            </a:r>
            <a:r>
              <a:rPr lang="en-US" sz="28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rPr>
              <a:t>:</a:t>
            </a:r>
          </a:p>
          <a:p>
            <a:pPr algn="l"/>
            <a:endParaRPr lang="en-US" sz="2400" b="1" dirty="0">
              <a:solidFill>
                <a:srgbClr val="007AAA"/>
              </a:solidFill>
              <a:latin typeface="Times New Roman" panose="02020603050405020304" pitchFamily="18" charset="0"/>
              <a:ea typeface="Open Sans" panose="020B0606030504020204" pitchFamily="34" charset="0"/>
              <a:cs typeface="Times New Roman" panose="02020603050405020304" pitchFamily="18" charset="0"/>
            </a:endParaRPr>
          </a:p>
          <a:p>
            <a:pPr marL="342900" indent="-342900">
              <a:buFontTx/>
              <a:buChar char="-"/>
            </a:pPr>
            <a:r>
              <a:rPr lang="vi-VN" sz="2400" dirty="0">
                <a:latin typeface="Times New Roman" panose="02020603050405020304" pitchFamily="18" charset="0"/>
                <a:cs typeface="Times New Roman" panose="02020603050405020304" pitchFamily="18" charset="0"/>
              </a:rPr>
              <a:t>Mở rộng </a:t>
            </a:r>
            <a:r>
              <a:rPr lang="en-US" sz="2400" dirty="0" err="1">
                <a:latin typeface="Times New Roman" panose="02020603050405020304" pitchFamily="18" charset="0"/>
                <a:cs typeface="Times New Roman" panose="02020603050405020304" pitchFamily="18" charset="0"/>
              </a:rPr>
              <a:t>tệp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vi-VN"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342900" indent="-342900">
              <a:buFontTx/>
              <a:buChar char="-"/>
            </a:pPr>
            <a:r>
              <a:rPr lang="vi-VN" sz="2400" dirty="0">
                <a:latin typeface="Times New Roman" panose="02020603050405020304" pitchFamily="18" charset="0"/>
                <a:cs typeface="Times New Roman" panose="02020603050405020304" pitchFamily="18" charset="0"/>
              </a:rPr>
              <a:t>Cải thiện cơ khí tay gắp và động cơ.</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Nâng cấp cảm biến xúc giác hoặc dùng mạch cảm biến dẻo.</a:t>
            </a:r>
            <a:endParaRPr lang="en-US" sz="2400" dirty="0">
              <a:latin typeface="Times New Roman" panose="02020603050405020304" pitchFamily="18" charset="0"/>
              <a:cs typeface="Times New Roman" panose="02020603050405020304" pitchFamily="18" charset="0"/>
            </a:endParaRPr>
          </a:p>
          <a:p>
            <a:pPr marL="342900" indent="-342900">
              <a:buFontTx/>
              <a:buChar char="-"/>
            </a:pPr>
            <a:r>
              <a:rPr lang="vi-VN" sz="2400" dirty="0">
                <a:latin typeface="Times New Roman" panose="02020603050405020304" pitchFamily="18" charset="0"/>
                <a:cs typeface="Times New Roman" panose="02020603050405020304" pitchFamily="18" charset="0"/>
              </a:rPr>
              <a:t>Cải thiện mô hình học máy và thuật toán điều khiển thích nghi.</a:t>
            </a:r>
            <a:endParaRPr lang="en-US" sz="2400" dirty="0">
              <a:latin typeface="Times New Roman" panose="02020603050405020304" pitchFamily="18" charset="0"/>
              <a:cs typeface="Times New Roman" panose="02020603050405020304" pitchFamily="18" charset="0"/>
            </a:endParaRPr>
          </a:p>
          <a:p>
            <a:pPr marL="342900" indent="-342900">
              <a:buFontTx/>
              <a:buChar char="-"/>
            </a:pPr>
            <a:r>
              <a:rPr lang="vi-VN" sz="2400" dirty="0">
                <a:latin typeface="Times New Roman" panose="02020603050405020304" pitchFamily="18" charset="0"/>
                <a:cs typeface="Times New Roman" panose="02020603050405020304" pitchFamily="18" charset="0"/>
              </a:rPr>
              <a:t>Thử nghiệm trong nhiều điều kiện thực tế hơn.</a:t>
            </a:r>
          </a:p>
        </p:txBody>
      </p:sp>
    </p:spTree>
    <p:extLst>
      <p:ext uri="{BB962C8B-B14F-4D97-AF65-F5344CB8AC3E}">
        <p14:creationId xmlns:p14="http://schemas.microsoft.com/office/powerpoint/2010/main" val="1747966156"/>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3F267F7-3832-84EE-9265-98AE37A63BE2}"/>
              </a:ext>
            </a:extLst>
          </p:cNvPr>
          <p:cNvSpPr/>
          <p:nvPr/>
        </p:nvSpPr>
        <p:spPr bwMode="auto">
          <a:xfrm>
            <a:off x="1239163" y="0"/>
            <a:ext cx="9713675" cy="1219200"/>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7" name="TextBox 6">
            <a:extLst>
              <a:ext uri="{FF2B5EF4-FFF2-40B4-BE49-F238E27FC236}">
                <a16:creationId xmlns:a16="http://schemas.microsoft.com/office/drawing/2014/main" id="{4B49D2C2-E7FB-BC16-7B5E-616C7A8F65B5}"/>
              </a:ext>
            </a:extLst>
          </p:cNvPr>
          <p:cNvSpPr txBox="1"/>
          <p:nvPr/>
        </p:nvSpPr>
        <p:spPr>
          <a:xfrm>
            <a:off x="2245182" y="2376165"/>
            <a:ext cx="7701637" cy="2062296"/>
          </a:xfrm>
          <a:prstGeom prst="rect">
            <a:avLst/>
          </a:prstGeom>
          <a:noFill/>
        </p:spPr>
        <p:txBody>
          <a:bodyPr wrap="square" rtlCol="0">
            <a:spAutoFit/>
          </a:bodyPr>
          <a:lstStyle/>
          <a:p>
            <a:pPr algn="ctr" defTabSz="1219170" fontAlgn="base">
              <a:spcBef>
                <a:spcPct val="0"/>
              </a:spcBef>
              <a:spcAft>
                <a:spcPct val="0"/>
              </a:spcAft>
            </a:pPr>
            <a:r>
              <a:rPr lang="en-US" sz="4267" b="1" dirty="0">
                <a:solidFill>
                  <a:srgbClr val="000000"/>
                </a:solidFill>
                <a:latin typeface="Times New Roman" panose="02020603050405020304" pitchFamily="18" charset="0"/>
                <a:ea typeface="Open Sans" panose="020B0606030504020204" pitchFamily="34" charset="0"/>
                <a:cs typeface="Times New Roman" panose="02020603050405020304" pitchFamily="18" charset="0"/>
                <a:sym typeface="Gill Sans" charset="0"/>
              </a:rPr>
              <a:t>XIN CHÂN THÀNH CẢM ƠN QUÝ THẦY CÔ VÀ CÁC BẠN ĐÃ LẮNG NGHE!</a:t>
            </a:r>
          </a:p>
        </p:txBody>
      </p:sp>
      <p:sp>
        <p:nvSpPr>
          <p:cNvPr id="8" name="Rectangle 7">
            <a:extLst>
              <a:ext uri="{FF2B5EF4-FFF2-40B4-BE49-F238E27FC236}">
                <a16:creationId xmlns:a16="http://schemas.microsoft.com/office/drawing/2014/main" id="{120F0E2F-9D21-2023-B251-D36969316869}"/>
              </a:ext>
            </a:extLst>
          </p:cNvPr>
          <p:cNvSpPr/>
          <p:nvPr/>
        </p:nvSpPr>
        <p:spPr bwMode="auto">
          <a:xfrm>
            <a:off x="0" y="5638800"/>
            <a:ext cx="12192000" cy="1219200"/>
          </a:xfrm>
          <a:prstGeom prst="rect">
            <a:avLst/>
          </a:prstGeom>
          <a:solidFill>
            <a:schemeClr val="accent1">
              <a:lumMod val="75000"/>
              <a:lumOff val="25000"/>
            </a:schemeClr>
          </a:solidFill>
          <a:ln w="25400"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algn="ctr" defTabSz="1219170" fontAlgn="base">
              <a:spcBef>
                <a:spcPct val="0"/>
              </a:spcBef>
              <a:spcAft>
                <a:spcPct val="0"/>
              </a:spcAft>
            </a:pPr>
            <a:endParaRPr lang="vi-VN" sz="14400">
              <a:solidFill>
                <a:srgbClr val="000000"/>
              </a:solidFill>
              <a:latin typeface="Gill Sans" charset="0"/>
              <a:ea typeface="ヒラギノ角ゴ ProN W3" charset="0"/>
              <a:cs typeface="ヒラギノ角ゴ ProN W3" charset="0"/>
              <a:sym typeface="Gill Sans" charset="0"/>
            </a:endParaRPr>
          </a:p>
        </p:txBody>
      </p:sp>
      <p:sp>
        <p:nvSpPr>
          <p:cNvPr id="3" name="Freeform 30">
            <a:extLst>
              <a:ext uri="{FF2B5EF4-FFF2-40B4-BE49-F238E27FC236}">
                <a16:creationId xmlns:a16="http://schemas.microsoft.com/office/drawing/2014/main" id="{4B22F941-8554-9D98-EFB5-E0501EB6B5DA}"/>
              </a:ext>
            </a:extLst>
          </p:cNvPr>
          <p:cNvSpPr/>
          <p:nvPr/>
        </p:nvSpPr>
        <p:spPr>
          <a:xfrm>
            <a:off x="246898" y="107569"/>
            <a:ext cx="779084" cy="1111631"/>
          </a:xfrm>
          <a:custGeom>
            <a:avLst/>
            <a:gdLst/>
            <a:ahLst/>
            <a:cxnLst/>
            <a:rect l="l" t="t" r="r" b="b"/>
            <a:pathLst>
              <a:path w="1206286" h="1721181">
                <a:moveTo>
                  <a:pt x="0" y="0"/>
                </a:moveTo>
                <a:lnTo>
                  <a:pt x="1206286" y="0"/>
                </a:lnTo>
                <a:lnTo>
                  <a:pt x="1206286" y="1721181"/>
                </a:lnTo>
                <a:lnTo>
                  <a:pt x="0" y="1721181"/>
                </a:lnTo>
                <a:lnTo>
                  <a:pt x="0" y="0"/>
                </a:lnTo>
                <a:close/>
              </a:path>
            </a:pathLst>
          </a:custGeom>
          <a:blipFill>
            <a:blip r:embed="rId2"/>
            <a:stretch>
              <a:fillRect r="-560617"/>
            </a:stretch>
          </a:blipFill>
        </p:spPr>
        <p:txBody>
          <a:bodyPr/>
          <a:lstStyle/>
          <a:p>
            <a:endParaRPr lang="vi-VN"/>
          </a:p>
        </p:txBody>
      </p:sp>
      <p:sp>
        <p:nvSpPr>
          <p:cNvPr id="5" name="Freeform 29">
            <a:extLst>
              <a:ext uri="{FF2B5EF4-FFF2-40B4-BE49-F238E27FC236}">
                <a16:creationId xmlns:a16="http://schemas.microsoft.com/office/drawing/2014/main" id="{0653C04F-796E-F45E-8EE2-489B8BDAF870}"/>
              </a:ext>
            </a:extLst>
          </p:cNvPr>
          <p:cNvSpPr/>
          <p:nvPr/>
        </p:nvSpPr>
        <p:spPr>
          <a:xfrm>
            <a:off x="11025228" y="53868"/>
            <a:ext cx="1054477" cy="946827"/>
          </a:xfrm>
          <a:custGeom>
            <a:avLst/>
            <a:gdLst/>
            <a:ahLst/>
            <a:cxnLst/>
            <a:rect l="l" t="t" r="r" b="b"/>
            <a:pathLst>
              <a:path w="1755620" h="1576389">
                <a:moveTo>
                  <a:pt x="0" y="0"/>
                </a:moveTo>
                <a:lnTo>
                  <a:pt x="1755620" y="0"/>
                </a:lnTo>
                <a:lnTo>
                  <a:pt x="1755620" y="1576389"/>
                </a:lnTo>
                <a:lnTo>
                  <a:pt x="0" y="1576389"/>
                </a:lnTo>
                <a:lnTo>
                  <a:pt x="0" y="0"/>
                </a:lnTo>
                <a:close/>
              </a:path>
            </a:pathLst>
          </a:custGeom>
          <a:blipFill>
            <a:blip r:embed="rId3"/>
            <a:stretch>
              <a:fillRect l="-3467" r="-3467" b="-45281"/>
            </a:stretch>
          </a:blipFill>
        </p:spPr>
        <p:txBody>
          <a:bodyPr/>
          <a:lstStyle/>
          <a:p>
            <a:endParaRPr lang="vi-VN"/>
          </a:p>
        </p:txBody>
      </p:sp>
    </p:spTree>
    <p:extLst>
      <p:ext uri="{BB962C8B-B14F-4D97-AF65-F5344CB8AC3E}">
        <p14:creationId xmlns:p14="http://schemas.microsoft.com/office/powerpoint/2010/main" val="948808064"/>
      </p:ext>
    </p:extLst>
  </p:cSld>
  <p:clrMapOvr>
    <a:masterClrMapping/>
  </p:clrMapOvr>
  <p:transition/>
</p:sld>
</file>

<file path=ppt/theme/theme1.xml><?xml version="1.0" encoding="utf-8"?>
<a:theme xmlns:a="http://schemas.openxmlformats.org/drawingml/2006/main" name="Default - Title Slide">
  <a:themeElements>
    <a:clrScheme name="">
      <a:dk1>
        <a:srgbClr val="000000"/>
      </a:dk1>
      <a:lt1>
        <a:srgbClr val="FFFFFF"/>
      </a:lt1>
      <a:dk2>
        <a:srgbClr val="000000"/>
      </a:dk2>
      <a:lt2>
        <a:srgbClr val="808080"/>
      </a:lt2>
      <a:accent1>
        <a:srgbClr val="002939"/>
      </a:accent1>
      <a:accent2>
        <a:srgbClr val="333399"/>
      </a:accent2>
      <a:accent3>
        <a:srgbClr val="FFFFFF"/>
      </a:accent3>
      <a:accent4>
        <a:srgbClr val="000000"/>
      </a:accent4>
      <a:accent5>
        <a:srgbClr val="AAACAE"/>
      </a:accent5>
      <a:accent6>
        <a:srgbClr val="2D2D8A"/>
      </a:accent6>
      <a:hlink>
        <a:srgbClr val="009999"/>
      </a:hlink>
      <a:folHlink>
        <a:srgbClr val="99CC00"/>
      </a:folHlink>
    </a:clrScheme>
    <a:fontScheme name="Default - Title Slide">
      <a:majorFont>
        <a:latin typeface="Calibri"/>
        <a:ea typeface="ヒラギノ角ゴ ProN W3"/>
        <a:cs typeface="ヒラギノ角ゴ ProN W3"/>
      </a:majorFont>
      <a:minorFont>
        <a:latin typeface="Calibri"/>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08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08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Default - Title 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1723</TotalTime>
  <Words>3419</Words>
  <Application>Microsoft Office PowerPoint</Application>
  <PresentationFormat>Widescreen</PresentationFormat>
  <Paragraphs>414</Paragraphs>
  <Slides>42</Slides>
  <Notes>41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Aptos</vt:lpstr>
      <vt:lpstr>Arial</vt:lpstr>
      <vt:lpstr>Calibri</vt:lpstr>
      <vt:lpstr>Gill Sans</vt:lpstr>
      <vt:lpstr>Times New Roman</vt:lpstr>
      <vt:lpstr>Default - Title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Minh</dc:creator>
  <cp:lastModifiedBy>Nguyen Minh</cp:lastModifiedBy>
  <cp:revision>2</cp:revision>
  <dcterms:created xsi:type="dcterms:W3CDTF">2026-07-01T13:19:42Z</dcterms:created>
  <dcterms:modified xsi:type="dcterms:W3CDTF">2026-07-06T02:52:49Z</dcterms:modified>
</cp:coreProperties>
</file>